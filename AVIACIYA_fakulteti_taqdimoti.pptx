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8FE"/>
    <a:srgbClr val="F4F9FE"/>
    <a:srgbClr val="025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09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DTU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5b5676b2-8e5b-52be-9fe5-3c985a41a577/scratchpad/assets/ref_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66928"/>
            <a:ext cx="2432304" cy="676656"/>
          </a:xfrm>
          <a:prstGeom prst="rect">
            <a:avLst/>
          </a:prstGeom>
        </p:spPr>
      </p:pic>
      <p:pic>
        <p:nvPicPr>
          <p:cNvPr id="3" name="Image 1" descr="/tmp/claude-0/-home-claude/5b5676b2-8e5b-52be-9fe5-3c985a41a577/scratchpad/assets/ref_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612648"/>
            <a:ext cx="2359152" cy="576072"/>
          </a:xfrm>
          <a:prstGeom prst="rect">
            <a:avLst/>
          </a:prstGeom>
        </p:spPr>
      </p:pic>
      <p:pic>
        <p:nvPicPr>
          <p:cNvPr id="4" name="Image 2" descr="/tmp/claude-0/-home-claude/5b5676b2-8e5b-52be-9fe5-3c985a41a577/scratchpad/assets/ref_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566928"/>
            <a:ext cx="2569464" cy="667512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3" hasCustomPrompt="1"/>
          </p:nvPr>
        </p:nvSpPr>
        <p:spPr>
          <a:xfrm>
            <a:off x="1097280" y="2331720"/>
            <a:ext cx="9994392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1700784" y="5760720"/>
            <a:ext cx="8796528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DTU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5b5676b2-8e5b-52be-9fe5-3c985a41a577/scratchpad/assets/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852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85216"/>
            <a:ext cx="4064508" cy="73152"/>
          </a:xfrm>
          <a:prstGeom prst="rect">
            <a:avLst/>
          </a:prstGeom>
          <a:solidFill>
            <a:srgbClr val="2A7AC2"/>
          </a:solidFill>
          <a:ln w="12700">
            <a:solidFill>
              <a:srgbClr val="2A7AC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63594" y="585216"/>
            <a:ext cx="4064508" cy="73152"/>
          </a:xfrm>
          <a:prstGeom prst="rect">
            <a:avLst/>
          </a:prstGeom>
          <a:solidFill>
            <a:srgbClr val="14A1D6"/>
          </a:solidFill>
          <a:ln w="12700">
            <a:solidFill>
              <a:srgbClr val="14A1D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27187" y="585216"/>
            <a:ext cx="4064508" cy="73152"/>
          </a:xfrm>
          <a:prstGeom prst="rect">
            <a:avLst/>
          </a:prstGeom>
          <a:solidFill>
            <a:srgbClr val="28C8A0"/>
          </a:solidFill>
          <a:ln w="12700">
            <a:solidFill>
              <a:srgbClr val="28C8A0"/>
            </a:solidFill>
            <a:prstDash val="solid"/>
          </a:ln>
        </p:spPr>
      </p:sp>
      <p:pic>
        <p:nvPicPr>
          <p:cNvPr id="6" name="Image 1" descr="/tmp/claude-0/-home-claude/5b5676b2-8e5b-52be-9fe5-3c985a41a577/scratchpad/assets/ref_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54864"/>
            <a:ext cx="1938528" cy="475488"/>
          </a:xfrm>
          <a:prstGeom prst="rect">
            <a:avLst/>
          </a:prstGeom>
        </p:spPr>
      </p:pic>
      <p:sp>
        <p:nvSpPr>
          <p:cNvPr id="7" name="Text 3"/>
          <p:cNvSpPr>
            <a:spLocks noGrp="1"/>
          </p:cNvSpPr>
          <p:nvPr>
            <p:ph type="title" idx="105" hasCustomPrompt="1"/>
          </p:nvPr>
        </p:nvSpPr>
        <p:spPr>
          <a:xfrm>
            <a:off x="320040" y="45720"/>
            <a:ext cx="94183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4BFAAB-86EC-4536-B90D-39E6909B8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C9431B-66A2-4F11-A91E-401942278D59}" type="datetimeFigureOut">
              <a:rPr lang="ru-RU"/>
              <a:pPr>
                <a:defRPr/>
              </a:pPr>
              <a:t>13.10.2026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22140E-A3D5-42B6-AFE1-B02B5DA34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0640DB-0100-4278-BBAE-D393173D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FFEFC1-6AE4-423A-86EA-9EEAA09B087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258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AB0B3A-FB61-1678-569A-89C297D71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6497EE-6864-980B-48D1-C7F8BBF92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FA4012-0BBF-C0B4-760E-12359594C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5FC6F-74F6-2447-B345-0024A991291C}" type="datetimeFigureOut">
              <a:rPr lang="ru-UZ" smtClean="0"/>
              <a:t>10/13/2026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F5C5D8-4E33-9188-94AE-2148F47C4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62D2AC-7B60-F3E9-3ED4-6E8A026BF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58277-3CC2-7F4A-9933-27B099D5A65E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190727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DD89193E-AEE1-8090-BB57-3D8584FD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F47B23-0905-FD46-8BBA-265AB6D4728F}" type="datetimeFigureOut">
              <a:rPr lang="ru-RU"/>
              <a:pPr>
                <a:defRPr/>
              </a:pPr>
              <a:t>13.10.2026</a:t>
            </a:fld>
            <a:endParaRPr lang="ru-RU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379187AD-4C0B-EC3A-4EEA-4EBBDE5EF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FE632641-A7E3-6D95-9248-4F682C53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86E50C-9BC3-6F44-A795-7F0B01A0845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14029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gen_lab01.jpeg"/><Relationship Id="rId3" Type="http://schemas.openxmlformats.org/officeDocument/2006/relationships/image" Target="../media/gen_lab02.jpeg"/><Relationship Id="rId4" Type="http://schemas.openxmlformats.org/officeDocument/2006/relationships/image" Target="../media/gen_lab03.jpeg"/><Relationship Id="rId5" Type="http://schemas.openxmlformats.org/officeDocument/2006/relationships/image" Target="../media/gen_lab04.jpeg"/><Relationship Id="rId6" Type="http://schemas.openxmlformats.org/officeDocument/2006/relationships/image" Target="../media/gen_lab05.png"/><Relationship Id="rId7" Type="http://schemas.openxmlformats.org/officeDocument/2006/relationships/image" Target="../media/gen_lab06.jpeg"/><Relationship Id="rId8" Type="http://schemas.openxmlformats.org/officeDocument/2006/relationships/image" Target="../media/gen_lab07.png"/><Relationship Id="rId9" Type="http://schemas.openxmlformats.org/officeDocument/2006/relationships/image" Target="../media/gen_lab08.png"/><Relationship Id="rId10" Type="http://schemas.openxmlformats.org/officeDocument/2006/relationships/image" Target="../media/gen_lab09.png"/><Relationship Id="rId11" Type="http://schemas.openxmlformats.org/officeDocument/2006/relationships/image" Target="../media/gen_lab10.png"/><Relationship Id="rId12" Type="http://schemas.openxmlformats.org/officeDocument/2006/relationships/image" Target="../media/gen_lab11.png"/><Relationship Id="rId13" Type="http://schemas.openxmlformats.org/officeDocument/2006/relationships/image" Target="../media/gen_lab31.png"/><Relationship Id="rId14" Type="http://schemas.openxmlformats.org/officeDocument/2006/relationships/image" Target="../media/gen_lab32.jpg"/><Relationship Id="rId15" Type="http://schemas.openxmlformats.org/officeDocument/2006/relationships/image" Target="../media/gen_lab15.jpeg"/><Relationship Id="rId16" Type="http://schemas.openxmlformats.org/officeDocument/2006/relationships/image" Target="../media/gen_lab16.jpeg"/><Relationship Id="rId17" Type="http://schemas.openxmlformats.org/officeDocument/2006/relationships/image" Target="../media/gen_lab29.jpeg"/><Relationship Id="rId18" Type="http://schemas.openxmlformats.org/officeDocument/2006/relationships/image" Target="../media/gen_lab27.png"/><Relationship Id="rId19" Type="http://schemas.openxmlformats.org/officeDocument/2006/relationships/image" Target="../media/gen_lab13.jpeg"/><Relationship Id="rId20" Type="http://schemas.openxmlformats.org/officeDocument/2006/relationships/image" Target="../media/gen_lab12.jpeg"/><Relationship Id="rId21" Type="http://schemas.openxmlformats.org/officeDocument/2006/relationships/image" Target="../media/gen_lab18.jpeg"/><Relationship Id="rId22" Type="http://schemas.openxmlformats.org/officeDocument/2006/relationships/image" Target="../media/gen_lab17.jpeg"/><Relationship Id="rId23" Type="http://schemas.openxmlformats.org/officeDocument/2006/relationships/image" Target="../media/gen_lab19.jpeg"/><Relationship Id="rId24" Type="http://schemas.openxmlformats.org/officeDocument/2006/relationships/image" Target="../media/gen_lab14.jpeg"/><Relationship Id="rId25" Type="http://schemas.openxmlformats.org/officeDocument/2006/relationships/image" Target="../media/gen_lab20.jpeg"/><Relationship Id="rId26" Type="http://schemas.openxmlformats.org/officeDocument/2006/relationships/image" Target="../media/gen_lab22.jpeg"/><Relationship Id="rId27" Type="http://schemas.openxmlformats.org/officeDocument/2006/relationships/image" Target="../media/gen_lab23.jpeg"/><Relationship Id="rId28" Type="http://schemas.openxmlformats.org/officeDocument/2006/relationships/image" Target="../media/gen_lab24.jpeg"/><Relationship Id="rId29" Type="http://schemas.openxmlformats.org/officeDocument/2006/relationships/image" Target="../media/gen_lab26.jpeg"/><Relationship Id="rId30" Type="http://schemas.openxmlformats.org/officeDocument/2006/relationships/image" Target="../media/gen_lab28.jpeg"/><Relationship Id="rId31" Type="http://schemas.openxmlformats.org/officeDocument/2006/relationships/image" Target="../media/gen_lab21.jpeg"/><Relationship Id="rId32" Type="http://schemas.openxmlformats.org/officeDocument/2006/relationships/image" Target="../media/gen_lab2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gen_pl05.png"/><Relationship Id="rId3" Type="http://schemas.openxmlformats.org/officeDocument/2006/relationships/image" Target="../media/gen_pl06.jpeg"/><Relationship Id="rId4" Type="http://schemas.openxmlformats.org/officeDocument/2006/relationships/image" Target="../media/gen_pl01.jpeg"/><Relationship Id="rId5" Type="http://schemas.openxmlformats.org/officeDocument/2006/relationships/image" Target="../media/gen_pl03.jpeg"/><Relationship Id="rId6" Type="http://schemas.openxmlformats.org/officeDocument/2006/relationships/image" Target="../media/gen_pl02.jpeg"/><Relationship Id="rId7" Type="http://schemas.openxmlformats.org/officeDocument/2006/relationships/image" Target="../media/gen_pl04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gen_sim01.jpeg"/><Relationship Id="rId3" Type="http://schemas.openxmlformats.org/officeDocument/2006/relationships/image" Target="../media/gen_sim03.jpeg"/><Relationship Id="rId4" Type="http://schemas.openxmlformats.org/officeDocument/2006/relationships/image" Target="../media/gen_sim0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>
            <a:spLocks noGrp="1"/>
          </p:cNvSpPr>
          <p:nvPr>
            <p:ph type="title" idx="103"/>
          </p:nvPr>
        </p:nvSpPr>
        <p:spPr>
          <a:xfrm>
            <a:off x="1097280" y="2331720"/>
            <a:ext cx="9994392" cy="2103120"/>
          </a:xfrm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Times New Roman"/>
                <a:cs typeface="Times New Roman"/>
              </a:rPr>
              <a:t>АВИАЦИЯ ТРАНСПОРТИ МУҲАНДИСЛИГИ ФАКУЛЬТЕТИ</a:t>
            </a:r>
          </a:p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Times New Roman"/>
                <a:cs typeface="Times New Roman"/>
              </a:rPr>
              <a:t>ТАҚДИМОТИ</a:t>
            </a:r>
          </a:p>
        </p:txBody>
      </p:sp>
      <p:sp>
        <p:nvSpPr>
          <p:cNvPr id="102" name="Subtitle"/>
          <p:cNvSpPr>
            <a:spLocks noGrp="1"/>
          </p:cNvSpPr>
          <p:nvPr>
            <p:ph type="body" idx="104"/>
          </p:nvPr>
        </p:nvSpPr>
        <p:spPr>
          <a:xfrm>
            <a:off x="1700784" y="5760720"/>
            <a:ext cx="8796528" cy="502920"/>
          </a:xfrm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Times New Roman"/>
                <a:cs typeface="Times New Roman"/>
              </a:rPr>
              <a:t>ТОШКЕНТ ДАВЛАТ ТРАНСПОРТ УНИВЕРСИТЕТИ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"/>
          <p:cNvSpPr>
            <a:spLocks noGrp="1"/>
          </p:cNvSpPr>
          <p:nvPr>
            <p:ph type="title" idx="105"/>
          </p:nvPr>
        </p:nvSpPr>
        <p:spPr>
          <a:xfrm>
            <a:off x="274320" y="27432"/>
            <a:ext cx="8778240" cy="530352"/>
          </a:xfrm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АВИАЦИЯ ТРАНСПОРТИ МУҲАНДИСЛИГИ ФАКУЛЬТЕТИ</a:t>
            </a:r>
          </a:p>
        </p:txBody>
      </p:sp>
      <p:sp>
        <p:nvSpPr>
          <p:cNvPr id="104" name="Card"/>
          <p:cNvSpPr/>
          <p:nvPr/>
        </p:nvSpPr>
        <p:spPr>
          <a:xfrm>
            <a:off x="274320" y="760000"/>
            <a:ext cx="1864360" cy="685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1B2A6B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05" name="Shape"/>
          <p:cNvSpPr/>
          <p:nvPr/>
        </p:nvSpPr>
        <p:spPr>
          <a:xfrm>
            <a:off x="320040" y="805720"/>
            <a:ext cx="1772920" cy="320040"/>
          </a:xfrm>
          <a:prstGeom prst="roundRect">
            <a:avLst>
              <a:gd name="adj" fmla="val 20000"/>
            </a:avLst>
          </a:prstGeom>
          <a:solidFill>
            <a:srgbClr val="1B2A6B"/>
          </a:solidFill>
          <a:ln>
            <a:noFill/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cs typeface="Times New Roman"/>
              </a:rPr>
              <a:t>22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274320" y="1134048"/>
            <a:ext cx="1864360" cy="311752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850" b="1" i="0">
                <a:solidFill>
                  <a:srgbClr val="1A1F36"/>
                </a:solidFill>
                <a:latin typeface="Times New Roman"/>
                <a:cs typeface="Times New Roman"/>
              </a:rPr>
              <a:t>нафар ПЎ “Авиация инжиниринги” кафедраси</a:t>
            </a:r>
          </a:p>
        </p:txBody>
      </p:sp>
      <p:sp>
        <p:nvSpPr>
          <p:cNvPr id="107" name="Card"/>
          <p:cNvSpPr/>
          <p:nvPr/>
        </p:nvSpPr>
        <p:spPr>
          <a:xfrm>
            <a:off x="2230120" y="760000"/>
            <a:ext cx="1864360" cy="685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08" name="Shape"/>
          <p:cNvSpPr/>
          <p:nvPr/>
        </p:nvSpPr>
        <p:spPr>
          <a:xfrm>
            <a:off x="2275840" y="805720"/>
            <a:ext cx="1772920" cy="320040"/>
          </a:xfrm>
          <a:prstGeom prst="roundRect">
            <a:avLst>
              <a:gd name="adj" fmla="val 20000"/>
            </a:avLst>
          </a:prstGeom>
          <a:solidFill>
            <a:srgbClr val="2A7AC2"/>
          </a:solidFill>
          <a:ln>
            <a:noFill/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109" name="TextBox"/>
          <p:cNvSpPr txBox="1"/>
          <p:nvPr/>
        </p:nvSpPr>
        <p:spPr>
          <a:xfrm>
            <a:off x="2230120" y="1134048"/>
            <a:ext cx="1864360" cy="311752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850" b="1" i="0">
                <a:solidFill>
                  <a:srgbClr val="1A1F36"/>
                </a:solidFill>
                <a:latin typeface="Times New Roman"/>
                <a:cs typeface="Times New Roman"/>
              </a:rPr>
              <a:t>нафар ПЎ “Аэронавигация тизимлари” кафедраси</a:t>
            </a:r>
          </a:p>
        </p:txBody>
      </p:sp>
      <p:sp>
        <p:nvSpPr>
          <p:cNvPr id="110" name="Card"/>
          <p:cNvSpPr/>
          <p:nvPr/>
        </p:nvSpPr>
        <p:spPr>
          <a:xfrm>
            <a:off x="4185920" y="760000"/>
            <a:ext cx="1864360" cy="685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39B45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11" name="Shape"/>
          <p:cNvSpPr/>
          <p:nvPr/>
        </p:nvSpPr>
        <p:spPr>
          <a:xfrm>
            <a:off x="4231640" y="805720"/>
            <a:ext cx="1772920" cy="320040"/>
          </a:xfrm>
          <a:prstGeom prst="roundRect">
            <a:avLst>
              <a:gd name="adj" fmla="val 20000"/>
            </a:avLst>
          </a:prstGeom>
          <a:solidFill>
            <a:srgbClr val="239B45"/>
          </a:solidFill>
          <a:ln>
            <a:noFill/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cs typeface="Times New Roman"/>
              </a:rPr>
              <a:t>1195</a:t>
            </a:r>
          </a:p>
        </p:txBody>
      </p:sp>
      <p:sp>
        <p:nvSpPr>
          <p:cNvPr id="112" name="TextBox"/>
          <p:cNvSpPr txBox="1"/>
          <p:nvPr/>
        </p:nvSpPr>
        <p:spPr>
          <a:xfrm>
            <a:off x="4185920" y="1134048"/>
            <a:ext cx="1864360" cy="311752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850" b="1" i="0">
                <a:solidFill>
                  <a:srgbClr val="1A1F36"/>
                </a:solidFill>
                <a:latin typeface="Times New Roman"/>
                <a:cs typeface="Times New Roman"/>
              </a:rPr>
              <a:t>нафар талаба кундузги таълимда</a:t>
            </a:r>
          </a:p>
        </p:txBody>
      </p:sp>
      <p:sp>
        <p:nvSpPr>
          <p:cNvPr id="113" name="Card"/>
          <p:cNvSpPr/>
          <p:nvPr/>
        </p:nvSpPr>
        <p:spPr>
          <a:xfrm>
            <a:off x="6141720" y="760000"/>
            <a:ext cx="1864360" cy="685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138A7A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14" name="Shape"/>
          <p:cNvSpPr/>
          <p:nvPr/>
        </p:nvSpPr>
        <p:spPr>
          <a:xfrm>
            <a:off x="6187440" y="805720"/>
            <a:ext cx="1772920" cy="320040"/>
          </a:xfrm>
          <a:prstGeom prst="roundRect">
            <a:avLst>
              <a:gd name="adj" fmla="val 20000"/>
            </a:avLst>
          </a:prstGeom>
          <a:solidFill>
            <a:srgbClr val="138A7A"/>
          </a:solidFill>
          <a:ln>
            <a:noFill/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cs typeface="Times New Roman"/>
              </a:rPr>
              <a:t>465</a:t>
            </a:r>
          </a:p>
        </p:txBody>
      </p:sp>
      <p:sp>
        <p:nvSpPr>
          <p:cNvPr id="115" name="TextBox"/>
          <p:cNvSpPr txBox="1"/>
          <p:nvPr/>
        </p:nvSpPr>
        <p:spPr>
          <a:xfrm>
            <a:off x="6141720" y="1134048"/>
            <a:ext cx="1864360" cy="311752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850" b="1" i="0">
                <a:solidFill>
                  <a:srgbClr val="1A1F36"/>
                </a:solidFill>
                <a:latin typeface="Times New Roman"/>
                <a:cs typeface="Times New Roman"/>
              </a:rPr>
              <a:t>сиртқи</a:t>
            </a:r>
          </a:p>
        </p:txBody>
      </p:sp>
      <p:sp>
        <p:nvSpPr>
          <p:cNvPr id="116" name="Card"/>
          <p:cNvSpPr/>
          <p:nvPr/>
        </p:nvSpPr>
        <p:spPr>
          <a:xfrm>
            <a:off x="8097520" y="760000"/>
            <a:ext cx="1864360" cy="685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E8772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17" name="Shape"/>
          <p:cNvSpPr/>
          <p:nvPr/>
        </p:nvSpPr>
        <p:spPr>
          <a:xfrm>
            <a:off x="8143240" y="805720"/>
            <a:ext cx="1772920" cy="320040"/>
          </a:xfrm>
          <a:prstGeom prst="roundRect">
            <a:avLst>
              <a:gd name="adj" fmla="val 20000"/>
            </a:avLst>
          </a:prstGeom>
          <a:solidFill>
            <a:srgbClr val="E87722"/>
          </a:solidFill>
          <a:ln>
            <a:noFill/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cs typeface="Times New Roman"/>
              </a:rPr>
              <a:t>115</a:t>
            </a:r>
          </a:p>
        </p:txBody>
      </p:sp>
      <p:sp>
        <p:nvSpPr>
          <p:cNvPr id="118" name="TextBox"/>
          <p:cNvSpPr txBox="1"/>
          <p:nvPr/>
        </p:nvSpPr>
        <p:spPr>
          <a:xfrm>
            <a:off x="8097520" y="1134048"/>
            <a:ext cx="1864360" cy="311752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850" b="1" i="0">
                <a:solidFill>
                  <a:srgbClr val="1A1F36"/>
                </a:solidFill>
                <a:latin typeface="Times New Roman"/>
                <a:cs typeface="Times New Roman"/>
              </a:rPr>
              <a:t>кечги</a:t>
            </a:r>
          </a:p>
        </p:txBody>
      </p:sp>
      <p:sp>
        <p:nvSpPr>
          <p:cNvPr id="119" name="Card"/>
          <p:cNvSpPr/>
          <p:nvPr/>
        </p:nvSpPr>
        <p:spPr>
          <a:xfrm>
            <a:off x="10053320" y="760000"/>
            <a:ext cx="1864360" cy="685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C00000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20" name="Shape"/>
          <p:cNvSpPr/>
          <p:nvPr/>
        </p:nvSpPr>
        <p:spPr>
          <a:xfrm>
            <a:off x="10099040" y="805720"/>
            <a:ext cx="1772920" cy="320040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cs typeface="Times New Roman"/>
              </a:rPr>
              <a:t>42%</a:t>
            </a:r>
          </a:p>
        </p:txBody>
      </p:sp>
      <p:sp>
        <p:nvSpPr>
          <p:cNvPr id="121" name="TextBox"/>
          <p:cNvSpPr txBox="1"/>
          <p:nvPr/>
        </p:nvSpPr>
        <p:spPr>
          <a:xfrm>
            <a:off x="10053320" y="1134048"/>
            <a:ext cx="1864360" cy="311752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850" b="1" i="0">
                <a:solidFill>
                  <a:srgbClr val="1A1F36"/>
                </a:solidFill>
                <a:latin typeface="Times New Roman"/>
                <a:cs typeface="Times New Roman"/>
              </a:rPr>
              <a:t>ФАКУЛЬТЕТ ИЛМИЙ САЛОҲИЯТИ</a:t>
            </a:r>
          </a:p>
        </p:txBody>
      </p:sp>
      <p:sp>
        <p:nvSpPr>
          <p:cNvPr id="122" name="Card"/>
          <p:cNvSpPr/>
          <p:nvPr/>
        </p:nvSpPr>
        <p:spPr>
          <a:xfrm>
            <a:off x="274320" y="1582960"/>
            <a:ext cx="2807970" cy="34747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23" name="Pill"/>
          <p:cNvSpPr/>
          <p:nvPr/>
        </p:nvSpPr>
        <p:spPr>
          <a:xfrm>
            <a:off x="320040" y="1628680"/>
            <a:ext cx="2716530" cy="411480"/>
          </a:xfrm>
          <a:prstGeom prst="roundRect">
            <a:avLst>
              <a:gd name="adj" fmla="val 18000"/>
            </a:avLst>
          </a:prstGeom>
          <a:solidFill>
            <a:srgbClr val="2A7AC2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cs typeface="Times New Roman"/>
              </a:rPr>
              <a:t>БАКАЛАВР ЙЎНАЛИШЛАРИ</a:t>
            </a:r>
          </a:p>
        </p:txBody>
      </p:sp>
      <p:sp>
        <p:nvSpPr>
          <p:cNvPr id="124" name="Shape"/>
          <p:cNvSpPr/>
          <p:nvPr/>
        </p:nvSpPr>
        <p:spPr>
          <a:xfrm>
            <a:off x="320040" y="2131600"/>
            <a:ext cx="2716530" cy="3722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5" name="TextBox"/>
          <p:cNvSpPr txBox="1"/>
          <p:nvPr/>
        </p:nvSpPr>
        <p:spPr>
          <a:xfrm>
            <a:off x="342900" y="2131600"/>
            <a:ext cx="822960" cy="37229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  <a:cs typeface="Times New Roman"/>
              </a:rPr>
              <a:t>649</a:t>
            </a:r>
          </a:p>
        </p:txBody>
      </p:sp>
      <p:sp>
        <p:nvSpPr>
          <p:cNvPr id="126" name="TextBox"/>
          <p:cNvSpPr txBox="1"/>
          <p:nvPr/>
        </p:nvSpPr>
        <p:spPr>
          <a:xfrm>
            <a:off x="1188720" y="2131600"/>
            <a:ext cx="1802130" cy="372291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050" b="0" i="0">
                <a:solidFill>
                  <a:srgbClr val="1A1F36"/>
                </a:solidFill>
                <a:latin typeface="Times New Roman"/>
                <a:cs typeface="Times New Roman"/>
              </a:rPr>
              <a:t>Авиация муҳандислиги</a:t>
            </a:r>
          </a:p>
        </p:txBody>
      </p:sp>
      <p:sp>
        <p:nvSpPr>
          <p:cNvPr id="127" name="Shape"/>
          <p:cNvSpPr/>
          <p:nvPr/>
        </p:nvSpPr>
        <p:spPr>
          <a:xfrm>
            <a:off x="320040" y="2549611"/>
            <a:ext cx="2716530" cy="3722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8" name="TextBox"/>
          <p:cNvSpPr txBox="1"/>
          <p:nvPr/>
        </p:nvSpPr>
        <p:spPr>
          <a:xfrm>
            <a:off x="342900" y="2549611"/>
            <a:ext cx="822960" cy="37229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  <a:cs typeface="Times New Roman"/>
              </a:rPr>
              <a:t>158</a:t>
            </a:r>
          </a:p>
        </p:txBody>
      </p:sp>
      <p:sp>
        <p:nvSpPr>
          <p:cNvPr id="129" name="TextBox"/>
          <p:cNvSpPr txBox="1"/>
          <p:nvPr/>
        </p:nvSpPr>
        <p:spPr>
          <a:xfrm>
            <a:off x="1188720" y="2549611"/>
            <a:ext cx="1802130" cy="372291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050" b="0" i="0">
                <a:solidFill>
                  <a:srgbClr val="1A1F36"/>
                </a:solidFill>
                <a:latin typeface="Times New Roman"/>
                <a:cs typeface="Times New Roman"/>
              </a:rPr>
              <a:t>Ҳаво кемаларининг техник эксплуатацияси</a:t>
            </a:r>
          </a:p>
        </p:txBody>
      </p:sp>
      <p:sp>
        <p:nvSpPr>
          <p:cNvPr id="130" name="Shape"/>
          <p:cNvSpPr/>
          <p:nvPr/>
        </p:nvSpPr>
        <p:spPr>
          <a:xfrm>
            <a:off x="320040" y="2967622"/>
            <a:ext cx="2716530" cy="3722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1" name="TextBox"/>
          <p:cNvSpPr txBox="1"/>
          <p:nvPr/>
        </p:nvSpPr>
        <p:spPr>
          <a:xfrm>
            <a:off x="342900" y="2967622"/>
            <a:ext cx="822960" cy="37229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  <a:cs typeface="Times New Roman"/>
              </a:rPr>
              <a:t>157</a:t>
            </a:r>
          </a:p>
        </p:txBody>
      </p:sp>
      <p:sp>
        <p:nvSpPr>
          <p:cNvPr id="132" name="TextBox"/>
          <p:cNvSpPr txBox="1"/>
          <p:nvPr/>
        </p:nvSpPr>
        <p:spPr>
          <a:xfrm>
            <a:off x="1188720" y="2967622"/>
            <a:ext cx="1802130" cy="372291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050" b="0" i="0">
                <a:solidFill>
                  <a:srgbClr val="1A1F36"/>
                </a:solidFill>
                <a:latin typeface="Times New Roman"/>
                <a:cs typeface="Times New Roman"/>
              </a:rPr>
              <a:t>Авиация инжиниринги</a:t>
            </a:r>
          </a:p>
        </p:txBody>
      </p:sp>
      <p:sp>
        <p:nvSpPr>
          <p:cNvPr id="133" name="Shape"/>
          <p:cNvSpPr/>
          <p:nvPr/>
        </p:nvSpPr>
        <p:spPr>
          <a:xfrm>
            <a:off x="320040" y="3385633"/>
            <a:ext cx="2716530" cy="3722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4" name="TextBox"/>
          <p:cNvSpPr txBox="1"/>
          <p:nvPr/>
        </p:nvSpPr>
        <p:spPr>
          <a:xfrm>
            <a:off x="342900" y="3385633"/>
            <a:ext cx="822960" cy="37229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  <a:cs typeface="Times New Roman"/>
              </a:rPr>
              <a:t>316</a:t>
            </a:r>
          </a:p>
        </p:txBody>
      </p:sp>
      <p:sp>
        <p:nvSpPr>
          <p:cNvPr id="135" name="TextBox"/>
          <p:cNvSpPr txBox="1"/>
          <p:nvPr/>
        </p:nvSpPr>
        <p:spPr>
          <a:xfrm>
            <a:off x="1188720" y="3385633"/>
            <a:ext cx="1802130" cy="372291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050" b="0" i="0">
                <a:solidFill>
                  <a:srgbClr val="1A1F36"/>
                </a:solidFill>
                <a:latin typeface="Times New Roman"/>
                <a:cs typeface="Times New Roman"/>
              </a:rPr>
              <a:t>Ҳаводаги ҳаракатни бошқариш</a:t>
            </a:r>
          </a:p>
        </p:txBody>
      </p:sp>
      <p:sp>
        <p:nvSpPr>
          <p:cNvPr id="136" name="Shape"/>
          <p:cNvSpPr/>
          <p:nvPr/>
        </p:nvSpPr>
        <p:spPr>
          <a:xfrm>
            <a:off x="320040" y="3803644"/>
            <a:ext cx="2716530" cy="3722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7" name="TextBox"/>
          <p:cNvSpPr txBox="1"/>
          <p:nvPr/>
        </p:nvSpPr>
        <p:spPr>
          <a:xfrm>
            <a:off x="342900" y="3803644"/>
            <a:ext cx="822960" cy="37229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  <a:cs typeface="Times New Roman"/>
              </a:rPr>
              <a:t>185</a:t>
            </a:r>
          </a:p>
        </p:txBody>
      </p:sp>
      <p:sp>
        <p:nvSpPr>
          <p:cNvPr id="138" name="TextBox"/>
          <p:cNvSpPr txBox="1"/>
          <p:nvPr/>
        </p:nvSpPr>
        <p:spPr>
          <a:xfrm>
            <a:off x="1188720" y="3803644"/>
            <a:ext cx="1802130" cy="372291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050" b="0" i="0">
                <a:solidFill>
                  <a:srgbClr val="1A1F36"/>
                </a:solidFill>
                <a:latin typeface="Times New Roman"/>
                <a:cs typeface="Times New Roman"/>
              </a:rPr>
              <a:t>Радиоэлектрон қурилмалар ва тизимлар (авиацияда)</a:t>
            </a:r>
          </a:p>
        </p:txBody>
      </p:sp>
      <p:sp>
        <p:nvSpPr>
          <p:cNvPr id="139" name="Shape"/>
          <p:cNvSpPr/>
          <p:nvPr/>
        </p:nvSpPr>
        <p:spPr>
          <a:xfrm>
            <a:off x="320040" y="4221655"/>
            <a:ext cx="2716530" cy="3722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0" name="TextBox"/>
          <p:cNvSpPr txBox="1"/>
          <p:nvPr/>
        </p:nvSpPr>
        <p:spPr>
          <a:xfrm>
            <a:off x="342900" y="4221655"/>
            <a:ext cx="822960" cy="37229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  <a:cs typeface="Times New Roman"/>
              </a:rPr>
              <a:t>72</a:t>
            </a:r>
          </a:p>
        </p:txBody>
      </p:sp>
      <p:sp>
        <p:nvSpPr>
          <p:cNvPr id="141" name="TextBox"/>
          <p:cNvSpPr txBox="1"/>
          <p:nvPr/>
        </p:nvSpPr>
        <p:spPr>
          <a:xfrm>
            <a:off x="1188720" y="4221655"/>
            <a:ext cx="1802130" cy="372291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050" b="0" i="0">
                <a:solidFill>
                  <a:srgbClr val="1A1F36"/>
                </a:solidFill>
                <a:latin typeface="Times New Roman"/>
                <a:cs typeface="Times New Roman"/>
              </a:rPr>
              <a:t>Амалий космик технологиялари</a:t>
            </a:r>
          </a:p>
        </p:txBody>
      </p:sp>
      <p:sp>
        <p:nvSpPr>
          <p:cNvPr id="142" name="Shape"/>
          <p:cNvSpPr/>
          <p:nvPr/>
        </p:nvSpPr>
        <p:spPr>
          <a:xfrm>
            <a:off x="320040" y="4639666"/>
            <a:ext cx="2716530" cy="3722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3" name="TextBox"/>
          <p:cNvSpPr txBox="1"/>
          <p:nvPr/>
        </p:nvSpPr>
        <p:spPr>
          <a:xfrm>
            <a:off x="342900" y="4639666"/>
            <a:ext cx="822960" cy="37229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  <a:cs typeface="Times New Roman"/>
              </a:rPr>
              <a:t>175</a:t>
            </a:r>
          </a:p>
        </p:txBody>
      </p:sp>
      <p:sp>
        <p:nvSpPr>
          <p:cNvPr id="144" name="TextBox"/>
          <p:cNvSpPr txBox="1"/>
          <p:nvPr/>
        </p:nvSpPr>
        <p:spPr>
          <a:xfrm>
            <a:off x="1188720" y="4639666"/>
            <a:ext cx="1802130" cy="372291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050" b="0" i="0">
                <a:solidFill>
                  <a:srgbClr val="1A1F36"/>
                </a:solidFill>
                <a:latin typeface="Times New Roman"/>
                <a:cs typeface="Times New Roman"/>
              </a:rPr>
              <a:t>Ҳаво кемаларининг парвоз эксплуатацияси</a:t>
            </a:r>
          </a:p>
        </p:txBody>
      </p:sp>
      <p:sp>
        <p:nvSpPr>
          <p:cNvPr id="145" name="Card"/>
          <p:cNvSpPr/>
          <p:nvPr/>
        </p:nvSpPr>
        <p:spPr>
          <a:xfrm>
            <a:off x="3219450" y="1582960"/>
            <a:ext cx="2807970" cy="34747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39B45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46" name="Pill"/>
          <p:cNvSpPr/>
          <p:nvPr/>
        </p:nvSpPr>
        <p:spPr>
          <a:xfrm>
            <a:off x="3265170" y="1628680"/>
            <a:ext cx="2716530" cy="411480"/>
          </a:xfrm>
          <a:prstGeom prst="roundRect">
            <a:avLst>
              <a:gd name="adj" fmla="val 18000"/>
            </a:avLst>
          </a:prstGeom>
          <a:solidFill>
            <a:srgbClr val="239B45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cs typeface="Times New Roman"/>
              </a:rPr>
              <a:t>МАГИСТРАТУРА ЙЎНАЛИШЛАРИ</a:t>
            </a:r>
          </a:p>
        </p:txBody>
      </p:sp>
      <p:sp>
        <p:nvSpPr>
          <p:cNvPr id="147" name="Shape"/>
          <p:cNvSpPr/>
          <p:nvPr/>
        </p:nvSpPr>
        <p:spPr>
          <a:xfrm>
            <a:off x="3265170" y="2131600"/>
            <a:ext cx="2716530" cy="5394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8" name="TextBox"/>
          <p:cNvSpPr txBox="1"/>
          <p:nvPr/>
        </p:nvSpPr>
        <p:spPr>
          <a:xfrm>
            <a:off x="3288030" y="2131600"/>
            <a:ext cx="822960" cy="5394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  <a:cs typeface="Times New Roman"/>
              </a:rPr>
              <a:t>10</a:t>
            </a:r>
          </a:p>
        </p:txBody>
      </p:sp>
      <p:sp>
        <p:nvSpPr>
          <p:cNvPr id="149" name="TextBox"/>
          <p:cNvSpPr txBox="1"/>
          <p:nvPr/>
        </p:nvSpPr>
        <p:spPr>
          <a:xfrm>
            <a:off x="4133850" y="2131600"/>
            <a:ext cx="1802130" cy="539496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050" b="0" i="0">
                <a:solidFill>
                  <a:srgbClr val="1A1F36"/>
                </a:solidFill>
                <a:latin typeface="Times New Roman"/>
                <a:cs typeface="Times New Roman"/>
              </a:rPr>
              <a:t>Парвоз хавфсизлиги</a:t>
            </a:r>
          </a:p>
        </p:txBody>
      </p:sp>
      <p:sp>
        <p:nvSpPr>
          <p:cNvPr id="150" name="Shape"/>
          <p:cNvSpPr/>
          <p:nvPr/>
        </p:nvSpPr>
        <p:spPr>
          <a:xfrm>
            <a:off x="3265170" y="2716816"/>
            <a:ext cx="2716530" cy="5394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1" name="TextBox"/>
          <p:cNvSpPr txBox="1"/>
          <p:nvPr/>
        </p:nvSpPr>
        <p:spPr>
          <a:xfrm>
            <a:off x="3288030" y="2716816"/>
            <a:ext cx="822960" cy="5394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  <a:cs typeface="Times New Roman"/>
              </a:rPr>
              <a:t>15</a:t>
            </a:r>
          </a:p>
        </p:txBody>
      </p:sp>
      <p:sp>
        <p:nvSpPr>
          <p:cNvPr id="152" name="TextBox"/>
          <p:cNvSpPr txBox="1"/>
          <p:nvPr/>
        </p:nvSpPr>
        <p:spPr>
          <a:xfrm>
            <a:off x="4133850" y="2716816"/>
            <a:ext cx="1802130" cy="539496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050" b="0" i="0">
                <a:solidFill>
                  <a:srgbClr val="1A1F36"/>
                </a:solidFill>
                <a:latin typeface="Times New Roman"/>
                <a:cs typeface="Times New Roman"/>
              </a:rPr>
              <a:t>Авиация муҳандислиги</a:t>
            </a:r>
          </a:p>
        </p:txBody>
      </p:sp>
      <p:sp>
        <p:nvSpPr>
          <p:cNvPr id="153" name="Shape"/>
          <p:cNvSpPr/>
          <p:nvPr/>
        </p:nvSpPr>
        <p:spPr>
          <a:xfrm>
            <a:off x="3265170" y="3302032"/>
            <a:ext cx="2716530" cy="5394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4" name="TextBox"/>
          <p:cNvSpPr txBox="1"/>
          <p:nvPr/>
        </p:nvSpPr>
        <p:spPr>
          <a:xfrm>
            <a:off x="3288030" y="3302032"/>
            <a:ext cx="822960" cy="5394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  <a:cs typeface="Times New Roman"/>
              </a:rPr>
              <a:t>20</a:t>
            </a:r>
          </a:p>
        </p:txBody>
      </p:sp>
      <p:sp>
        <p:nvSpPr>
          <p:cNvPr id="155" name="TextBox"/>
          <p:cNvSpPr txBox="1"/>
          <p:nvPr/>
        </p:nvSpPr>
        <p:spPr>
          <a:xfrm>
            <a:off x="4133850" y="3302032"/>
            <a:ext cx="1802130" cy="539496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050" b="0" i="0">
                <a:solidFill>
                  <a:srgbClr val="1A1F36"/>
                </a:solidFill>
                <a:latin typeface="Times New Roman"/>
                <a:cs typeface="Times New Roman"/>
              </a:rPr>
              <a:t>Учиш аппаратлари двигателлари ва энергетик қурилмалари</a:t>
            </a:r>
          </a:p>
        </p:txBody>
      </p:sp>
      <p:sp>
        <p:nvSpPr>
          <p:cNvPr id="156" name="Shape"/>
          <p:cNvSpPr/>
          <p:nvPr/>
        </p:nvSpPr>
        <p:spPr>
          <a:xfrm>
            <a:off x="3265170" y="3887248"/>
            <a:ext cx="2716530" cy="5394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7" name="TextBox"/>
          <p:cNvSpPr txBox="1"/>
          <p:nvPr/>
        </p:nvSpPr>
        <p:spPr>
          <a:xfrm>
            <a:off x="3288030" y="3887248"/>
            <a:ext cx="822960" cy="5394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  <a:cs typeface="Times New Roman"/>
              </a:rPr>
              <a:t>9</a:t>
            </a:r>
          </a:p>
        </p:txBody>
      </p:sp>
      <p:sp>
        <p:nvSpPr>
          <p:cNvPr id="158" name="TextBox"/>
          <p:cNvSpPr txBox="1"/>
          <p:nvPr/>
        </p:nvSpPr>
        <p:spPr>
          <a:xfrm>
            <a:off x="4133850" y="3887248"/>
            <a:ext cx="1802130" cy="539496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050" b="0" i="0">
                <a:solidFill>
                  <a:srgbClr val="1A1F36"/>
                </a:solidFill>
                <a:latin typeface="Times New Roman"/>
                <a:cs typeface="Times New Roman"/>
              </a:rPr>
              <a:t>Ҳаводаги ҳаракатни бошқариш ва аэронавигация</a:t>
            </a:r>
          </a:p>
        </p:txBody>
      </p:sp>
      <p:sp>
        <p:nvSpPr>
          <p:cNvPr id="159" name="Shape"/>
          <p:cNvSpPr/>
          <p:nvPr/>
        </p:nvSpPr>
        <p:spPr>
          <a:xfrm>
            <a:off x="3265170" y="4472464"/>
            <a:ext cx="2716530" cy="5394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0" name="TextBox"/>
          <p:cNvSpPr txBox="1"/>
          <p:nvPr/>
        </p:nvSpPr>
        <p:spPr>
          <a:xfrm>
            <a:off x="3288030" y="4472464"/>
            <a:ext cx="822960" cy="5394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  <a:cs typeface="Times New Roman"/>
              </a:rPr>
              <a:t>9</a:t>
            </a:r>
          </a:p>
        </p:txBody>
      </p:sp>
      <p:sp>
        <p:nvSpPr>
          <p:cNvPr id="161" name="TextBox"/>
          <p:cNvSpPr txBox="1"/>
          <p:nvPr/>
        </p:nvSpPr>
        <p:spPr>
          <a:xfrm>
            <a:off x="4133850" y="4472464"/>
            <a:ext cx="1802130" cy="539496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050" b="0" i="0">
                <a:solidFill>
                  <a:srgbClr val="1A1F36"/>
                </a:solidFill>
                <a:latin typeface="Times New Roman"/>
                <a:cs typeface="Times New Roman"/>
              </a:rPr>
              <a:t>Амалий космик технологиялари</a:t>
            </a:r>
          </a:p>
        </p:txBody>
      </p:sp>
      <p:sp>
        <p:nvSpPr>
          <p:cNvPr id="162" name="Card"/>
          <p:cNvSpPr/>
          <p:nvPr/>
        </p:nvSpPr>
        <p:spPr>
          <a:xfrm>
            <a:off x="6164580" y="1582960"/>
            <a:ext cx="2807970" cy="34747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138A7A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63" name="Pill"/>
          <p:cNvSpPr/>
          <p:nvPr/>
        </p:nvSpPr>
        <p:spPr>
          <a:xfrm>
            <a:off x="6210300" y="1628680"/>
            <a:ext cx="2716530" cy="411480"/>
          </a:xfrm>
          <a:prstGeom prst="roundRect">
            <a:avLst>
              <a:gd name="adj" fmla="val 18000"/>
            </a:avLst>
          </a:prstGeom>
          <a:solidFill>
            <a:srgbClr val="138A7A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  <a:cs typeface="Times New Roman"/>
              </a:rPr>
              <a:t>ФАКУЛЬТЕТ ИЛМИЙ САЛОҲИЯТИ – 42%</a:t>
            </a:r>
          </a:p>
        </p:txBody>
      </p:sp>
      <p:sp>
        <p:nvSpPr>
          <p:cNvPr id="164" name="Shape"/>
          <p:cNvSpPr/>
          <p:nvPr/>
        </p:nvSpPr>
        <p:spPr>
          <a:xfrm>
            <a:off x="6210300" y="2131600"/>
            <a:ext cx="271653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38A7A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5" name="TextBox"/>
          <p:cNvSpPr txBox="1"/>
          <p:nvPr/>
        </p:nvSpPr>
        <p:spPr>
          <a:xfrm>
            <a:off x="6233160" y="21316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166" name="TextBox"/>
          <p:cNvSpPr txBox="1"/>
          <p:nvPr/>
        </p:nvSpPr>
        <p:spPr>
          <a:xfrm>
            <a:off x="6896100" y="2131600"/>
            <a:ext cx="1985010" cy="36576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A1F36"/>
                </a:solidFill>
                <a:latin typeface="Times New Roman"/>
                <a:cs typeface="Times New Roman"/>
              </a:rPr>
              <a:t>DSc</a:t>
            </a:r>
          </a:p>
        </p:txBody>
      </p:sp>
      <p:sp>
        <p:nvSpPr>
          <p:cNvPr id="167" name="Shape"/>
          <p:cNvSpPr/>
          <p:nvPr/>
        </p:nvSpPr>
        <p:spPr>
          <a:xfrm>
            <a:off x="6210300" y="2543080"/>
            <a:ext cx="271653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38A7A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8" name="TextBox"/>
          <p:cNvSpPr txBox="1"/>
          <p:nvPr/>
        </p:nvSpPr>
        <p:spPr>
          <a:xfrm>
            <a:off x="6233160" y="25430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Times New Roman"/>
                <a:cs typeface="Times New Roman"/>
              </a:rPr>
              <a:t>9</a:t>
            </a:r>
          </a:p>
        </p:txBody>
      </p:sp>
      <p:sp>
        <p:nvSpPr>
          <p:cNvPr id="169" name="TextBox"/>
          <p:cNvSpPr txBox="1"/>
          <p:nvPr/>
        </p:nvSpPr>
        <p:spPr>
          <a:xfrm>
            <a:off x="6896100" y="2543080"/>
            <a:ext cx="1985010" cy="36576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A1F36"/>
                </a:solidFill>
                <a:latin typeface="Times New Roman"/>
                <a:cs typeface="Times New Roman"/>
              </a:rPr>
              <a:t>PhD</a:t>
            </a:r>
          </a:p>
        </p:txBody>
      </p:sp>
      <p:sp>
        <p:nvSpPr>
          <p:cNvPr id="170" name="Shape"/>
          <p:cNvSpPr/>
          <p:nvPr/>
        </p:nvSpPr>
        <p:spPr>
          <a:xfrm>
            <a:off x="6210300" y="2954560"/>
            <a:ext cx="271653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38A7A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1" name="TextBox"/>
          <p:cNvSpPr txBox="1"/>
          <p:nvPr/>
        </p:nvSpPr>
        <p:spPr>
          <a:xfrm>
            <a:off x="6233160" y="29545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Times New Roman"/>
                <a:cs typeface="Times New Roman"/>
              </a:rPr>
              <a:t>10</a:t>
            </a:r>
          </a:p>
        </p:txBody>
      </p:sp>
      <p:sp>
        <p:nvSpPr>
          <p:cNvPr id="172" name="TextBox"/>
          <p:cNvSpPr txBox="1"/>
          <p:nvPr/>
        </p:nvSpPr>
        <p:spPr>
          <a:xfrm>
            <a:off x="6896100" y="2954560"/>
            <a:ext cx="1985010" cy="36576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A1F36"/>
                </a:solidFill>
                <a:latin typeface="Times New Roman"/>
                <a:cs typeface="Times New Roman"/>
              </a:rPr>
              <a:t>Докторант</a:t>
            </a:r>
          </a:p>
        </p:txBody>
      </p:sp>
      <p:sp>
        <p:nvSpPr>
          <p:cNvPr id="173" name="Shape"/>
          <p:cNvSpPr/>
          <p:nvPr/>
        </p:nvSpPr>
        <p:spPr>
          <a:xfrm>
            <a:off x="6210300" y="3366040"/>
            <a:ext cx="271653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38A7A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4" name="TextBox"/>
          <p:cNvSpPr txBox="1"/>
          <p:nvPr/>
        </p:nvSpPr>
        <p:spPr>
          <a:xfrm>
            <a:off x="6233160" y="33660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Times New Roman"/>
                <a:cs typeface="Times New Roman"/>
              </a:rPr>
              <a:t>15</a:t>
            </a:r>
          </a:p>
        </p:txBody>
      </p:sp>
      <p:sp>
        <p:nvSpPr>
          <p:cNvPr id="175" name="TextBox"/>
          <p:cNvSpPr txBox="1"/>
          <p:nvPr/>
        </p:nvSpPr>
        <p:spPr>
          <a:xfrm>
            <a:off x="6896100" y="3366040"/>
            <a:ext cx="1985010" cy="36576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A1F36"/>
                </a:solidFill>
                <a:latin typeface="Times New Roman"/>
                <a:cs typeface="Times New Roman"/>
              </a:rPr>
              <a:t>Мустақил тадқиқотчи</a:t>
            </a:r>
          </a:p>
        </p:txBody>
      </p:sp>
      <p:sp>
        <p:nvSpPr>
          <p:cNvPr id="176" name="Pill"/>
          <p:cNvSpPr/>
          <p:nvPr/>
        </p:nvSpPr>
        <p:spPr>
          <a:xfrm>
            <a:off x="6210300" y="3846100"/>
            <a:ext cx="2716530" cy="365760"/>
          </a:xfrm>
          <a:prstGeom prst="roundRect">
            <a:avLst>
              <a:gd name="adj" fmla="val 18000"/>
            </a:avLst>
          </a:prstGeom>
          <a:solidFill>
            <a:srgbClr val="1B2A6B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  <a:cs typeface="Times New Roman"/>
              </a:rPr>
              <a:t>ФАКУЛЬТЕТ ИЛМИЙ ФАОЛИЯТИ</a:t>
            </a:r>
          </a:p>
        </p:txBody>
      </p:sp>
      <p:sp>
        <p:nvSpPr>
          <p:cNvPr id="177" name="Shape"/>
          <p:cNvSpPr/>
          <p:nvPr/>
        </p:nvSpPr>
        <p:spPr>
          <a:xfrm>
            <a:off x="6210300" y="4280440"/>
            <a:ext cx="271653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2A6B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8" name="TextBox"/>
          <p:cNvSpPr txBox="1"/>
          <p:nvPr/>
        </p:nvSpPr>
        <p:spPr>
          <a:xfrm>
            <a:off x="6233160" y="42804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79" name="TextBox"/>
          <p:cNvSpPr txBox="1"/>
          <p:nvPr/>
        </p:nvSpPr>
        <p:spPr>
          <a:xfrm>
            <a:off x="6896100" y="4280440"/>
            <a:ext cx="1985010" cy="36576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1150" b="1" i="0">
                <a:solidFill>
                  <a:srgbClr val="1A1F36"/>
                </a:solidFill>
                <a:latin typeface="Times New Roman"/>
                <a:cs typeface="Times New Roman"/>
              </a:rPr>
              <a:t>Илмий тадқиқот маркази</a:t>
            </a:r>
          </a:p>
        </p:txBody>
      </p:sp>
      <p:sp>
        <p:nvSpPr>
          <p:cNvPr id="180" name="Shape"/>
          <p:cNvSpPr/>
          <p:nvPr/>
        </p:nvSpPr>
        <p:spPr>
          <a:xfrm>
            <a:off x="6210300" y="4691920"/>
            <a:ext cx="271653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2A6B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1" name="TextBox"/>
          <p:cNvSpPr txBox="1"/>
          <p:nvPr/>
        </p:nvSpPr>
        <p:spPr>
          <a:xfrm>
            <a:off x="6233160" y="46919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82" name="TextBox"/>
          <p:cNvSpPr txBox="1"/>
          <p:nvPr/>
        </p:nvSpPr>
        <p:spPr>
          <a:xfrm>
            <a:off x="6896100" y="4691920"/>
            <a:ext cx="1985010" cy="36576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1150" b="1" i="0">
                <a:solidFill>
                  <a:srgbClr val="1A1F36"/>
                </a:solidFill>
                <a:latin typeface="Times New Roman"/>
                <a:cs typeface="Times New Roman"/>
              </a:rPr>
              <a:t>Давлат гранти</a:t>
            </a:r>
          </a:p>
        </p:txBody>
      </p:sp>
      <p:sp>
        <p:nvSpPr>
          <p:cNvPr id="183" name="Card"/>
          <p:cNvSpPr/>
          <p:nvPr/>
        </p:nvSpPr>
        <p:spPr>
          <a:xfrm>
            <a:off x="9109710" y="1582960"/>
            <a:ext cx="2807970" cy="34747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E8772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84" name="Pill"/>
          <p:cNvSpPr/>
          <p:nvPr/>
        </p:nvSpPr>
        <p:spPr>
          <a:xfrm>
            <a:off x="9155430" y="1628680"/>
            <a:ext cx="2716530" cy="411480"/>
          </a:xfrm>
          <a:prstGeom prst="roundRect">
            <a:avLst>
              <a:gd name="adj" fmla="val 18000"/>
            </a:avLst>
          </a:prstGeom>
          <a:solidFill>
            <a:srgbClr val="E87722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cs typeface="Times New Roman"/>
              </a:rPr>
              <a:t>ҲАМКОР ОТМЛАР</a:t>
            </a:r>
          </a:p>
        </p:txBody>
      </p:sp>
      <p:sp>
        <p:nvSpPr>
          <p:cNvPr id="185" name="TextBox"/>
          <p:cNvSpPr txBox="1"/>
          <p:nvPr/>
        </p:nvSpPr>
        <p:spPr>
          <a:xfrm>
            <a:off x="9146286" y="2131600"/>
            <a:ext cx="2734818" cy="28437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Aft>
                <a:spcPts val="240"/>
              </a:spcAft>
            </a:pPr>
            <a:r>
              <a:rPr sz="115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1150" b="0" i="0">
                <a:solidFill>
                  <a:srgbClr val="1A1F36"/>
                </a:solidFill>
                <a:latin typeface="Times New Roman"/>
                <a:cs typeface="Times New Roman"/>
              </a:rPr>
              <a:t>Корея аэрокосмик университети</a:t>
            </a:r>
          </a:p>
          <a:p>
            <a:pPr algn="l">
              <a:spcAft>
                <a:spcPts val="240"/>
              </a:spcAft>
            </a:pPr>
            <a:r>
              <a:rPr sz="115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1150" b="0" i="0">
                <a:solidFill>
                  <a:srgbClr val="1A1F36"/>
                </a:solidFill>
                <a:latin typeface="Times New Roman"/>
                <a:cs typeface="Times New Roman"/>
              </a:rPr>
              <a:t>Москва давлат фуқаро авиацияси университети</a:t>
            </a:r>
          </a:p>
          <a:p>
            <a:pPr algn="l">
              <a:spcAft>
                <a:spcPts val="240"/>
              </a:spcAft>
            </a:pPr>
            <a:r>
              <a:rPr sz="115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1150" b="0" i="0">
                <a:solidFill>
                  <a:srgbClr val="1A1F36"/>
                </a:solidFill>
                <a:latin typeface="Times New Roman"/>
                <a:cs typeface="Times New Roman"/>
              </a:rPr>
              <a:t>Франция фуқаро авиацияси миллий мактаби</a:t>
            </a:r>
          </a:p>
          <a:p>
            <a:pPr algn="l">
              <a:spcAft>
                <a:spcPts val="240"/>
              </a:spcAft>
            </a:pPr>
            <a:r>
              <a:rPr sz="115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1150" b="0" i="0">
                <a:solidFill>
                  <a:srgbClr val="1A1F36"/>
                </a:solidFill>
                <a:latin typeface="Times New Roman"/>
                <a:cs typeface="Times New Roman"/>
              </a:rPr>
              <a:t>Москва авиация институти (миллий тадқиқотлар университети)</a:t>
            </a:r>
          </a:p>
          <a:p>
            <a:pPr algn="l">
              <a:spcAft>
                <a:spcPts val="240"/>
              </a:spcAft>
            </a:pPr>
            <a:r>
              <a:rPr sz="115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1150" b="0" i="0">
                <a:solidFill>
                  <a:srgbClr val="1A1F36"/>
                </a:solidFill>
                <a:latin typeface="Times New Roman"/>
                <a:cs typeface="Times New Roman"/>
              </a:rPr>
              <a:t>Фуқаро авиацияси университети</a:t>
            </a:r>
          </a:p>
          <a:p>
            <a:pPr algn="l">
              <a:spcAft>
                <a:spcPts val="240"/>
              </a:spcAft>
            </a:pPr>
            <a:r>
              <a:rPr sz="115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1150" b="0" i="0">
                <a:solidFill>
                  <a:srgbClr val="1A1F36"/>
                </a:solidFill>
                <a:latin typeface="Times New Roman"/>
                <a:cs typeface="Times New Roman"/>
              </a:rPr>
              <a:t>Беларус давлат авиация академияси</a:t>
            </a:r>
          </a:p>
        </p:txBody>
      </p:sp>
      <p:sp>
        <p:nvSpPr>
          <p:cNvPr id="186" name="Card"/>
          <p:cNvSpPr/>
          <p:nvPr/>
        </p:nvSpPr>
        <p:spPr>
          <a:xfrm>
            <a:off x="274320" y="5240560"/>
            <a:ext cx="11643360" cy="14494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7A4FA3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87" name="Pill"/>
          <p:cNvSpPr/>
          <p:nvPr/>
        </p:nvSpPr>
        <p:spPr>
          <a:xfrm>
            <a:off x="342900" y="5309140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7A4FA3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  <a:cs typeface="Times New Roman"/>
              </a:rPr>
              <a:t>ҲАМКОР ТАШКИЛОТЛАР</a:t>
            </a:r>
          </a:p>
        </p:txBody>
      </p:sp>
      <p:sp>
        <p:nvSpPr>
          <p:cNvPr id="188" name="Shape"/>
          <p:cNvSpPr/>
          <p:nvPr/>
        </p:nvSpPr>
        <p:spPr>
          <a:xfrm>
            <a:off x="342900" y="5834920"/>
            <a:ext cx="2228088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A4FA3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Uzbekistan Airways</a:t>
            </a:r>
          </a:p>
        </p:txBody>
      </p:sp>
      <p:sp>
        <p:nvSpPr>
          <p:cNvPr id="189" name="Shape"/>
          <p:cNvSpPr/>
          <p:nvPr/>
        </p:nvSpPr>
        <p:spPr>
          <a:xfrm>
            <a:off x="2662428" y="5834920"/>
            <a:ext cx="2228088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A4FA3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Uzbekistan Airports</a:t>
            </a:r>
          </a:p>
        </p:txBody>
      </p:sp>
      <p:sp>
        <p:nvSpPr>
          <p:cNvPr id="190" name="Shape"/>
          <p:cNvSpPr/>
          <p:nvPr/>
        </p:nvSpPr>
        <p:spPr>
          <a:xfrm>
            <a:off x="4981956" y="5834920"/>
            <a:ext cx="2228088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A4FA3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Uzaeronavigation</a:t>
            </a:r>
          </a:p>
        </p:txBody>
      </p:sp>
      <p:sp>
        <p:nvSpPr>
          <p:cNvPr id="191" name="Shape"/>
          <p:cNvSpPr/>
          <p:nvPr/>
        </p:nvSpPr>
        <p:spPr>
          <a:xfrm>
            <a:off x="7301484" y="5834920"/>
            <a:ext cx="2228088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A4FA3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Training Center</a:t>
            </a:r>
          </a:p>
        </p:txBody>
      </p:sp>
      <p:sp>
        <p:nvSpPr>
          <p:cNvPr id="192" name="Shape"/>
          <p:cNvSpPr/>
          <p:nvPr/>
        </p:nvSpPr>
        <p:spPr>
          <a:xfrm>
            <a:off x="9621012" y="5834920"/>
            <a:ext cx="2228088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A4FA3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UAT</a:t>
            </a:r>
          </a:p>
        </p:txBody>
      </p:sp>
      <p:sp>
        <p:nvSpPr>
          <p:cNvPr id="193" name="Shape"/>
          <p:cNvSpPr/>
          <p:nvPr/>
        </p:nvSpPr>
        <p:spPr>
          <a:xfrm>
            <a:off x="342900" y="6337840"/>
            <a:ext cx="2228088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A4FA3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Centrum Air</a:t>
            </a:r>
          </a:p>
        </p:txBody>
      </p:sp>
      <p:sp>
        <p:nvSpPr>
          <p:cNvPr id="194" name="Shape"/>
          <p:cNvSpPr/>
          <p:nvPr/>
        </p:nvSpPr>
        <p:spPr>
          <a:xfrm>
            <a:off x="2662428" y="6337840"/>
            <a:ext cx="2228088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A4FA3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My Freighter</a:t>
            </a:r>
          </a:p>
        </p:txBody>
      </p:sp>
      <p:sp>
        <p:nvSpPr>
          <p:cNvPr id="195" name="Shape"/>
          <p:cNvSpPr/>
          <p:nvPr/>
        </p:nvSpPr>
        <p:spPr>
          <a:xfrm>
            <a:off x="4981956" y="6337840"/>
            <a:ext cx="2228088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A4FA3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TMZ</a:t>
            </a:r>
          </a:p>
        </p:txBody>
      </p:sp>
      <p:sp>
        <p:nvSpPr>
          <p:cNvPr id="196" name="Shape"/>
          <p:cNvSpPr/>
          <p:nvPr/>
        </p:nvSpPr>
        <p:spPr>
          <a:xfrm>
            <a:off x="7301484" y="6337840"/>
            <a:ext cx="2228088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A4FA3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Uzbekkosmos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itle"/>
          <p:cNvSpPr>
            <a:spLocks noGrp="1"/>
          </p:cNvSpPr>
          <p:nvPr>
            <p:ph type="title" idx="105"/>
          </p:nvPr>
        </p:nvSpPr>
        <p:spPr>
          <a:xfrm>
            <a:off x="274320" y="27432"/>
            <a:ext cx="8778240" cy="530352"/>
          </a:xfrm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ФАКУЛЬТЕТНИНГ ЮТУҚЛАРИ</a:t>
            </a:r>
          </a:p>
        </p:txBody>
      </p:sp>
      <p:sp>
        <p:nvSpPr>
          <p:cNvPr id="198" name="Card"/>
          <p:cNvSpPr/>
          <p:nvPr/>
        </p:nvSpPr>
        <p:spPr>
          <a:xfrm>
            <a:off x="274320" y="760000"/>
            <a:ext cx="5684520" cy="137963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39B45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99" name="Badge"/>
          <p:cNvSpPr/>
          <p:nvPr/>
        </p:nvSpPr>
        <p:spPr>
          <a:xfrm>
            <a:off x="342900" y="1221215"/>
            <a:ext cx="457200" cy="457200"/>
          </a:xfrm>
          <a:prstGeom prst="ellipse">
            <a:avLst/>
          </a:prstGeom>
          <a:solidFill>
            <a:srgbClr val="239B45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200" name="TextBox"/>
          <p:cNvSpPr txBox="1"/>
          <p:nvPr/>
        </p:nvSpPr>
        <p:spPr>
          <a:xfrm>
            <a:off x="868680" y="760000"/>
            <a:ext cx="5021580" cy="137963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50" b="0" i="0">
                <a:solidFill>
                  <a:srgbClr val="1A1F36"/>
                </a:solidFill>
                <a:latin typeface="Times New Roman"/>
                <a:cs typeface="Times New Roman"/>
              </a:rPr>
              <a:t>“O‘zaeronavigatsiya” маркази ДУК кўмагида факультетга ўқув ва лаборатория жиҳозлари, жумладан диспетчерлик тренажёри беғараз етказиб берилди.</a:t>
            </a:r>
          </a:p>
        </p:txBody>
      </p:sp>
      <p:sp>
        <p:nvSpPr>
          <p:cNvPr id="201" name="Card"/>
          <p:cNvSpPr/>
          <p:nvPr/>
        </p:nvSpPr>
        <p:spPr>
          <a:xfrm>
            <a:off x="6233160" y="760000"/>
            <a:ext cx="5684520" cy="137963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02" name="Badge"/>
          <p:cNvSpPr/>
          <p:nvPr/>
        </p:nvSpPr>
        <p:spPr>
          <a:xfrm>
            <a:off x="6301740" y="1221215"/>
            <a:ext cx="457200" cy="457200"/>
          </a:xfrm>
          <a:prstGeom prst="ellipse">
            <a:avLst/>
          </a:prstGeom>
          <a:solidFill>
            <a:srgbClr val="2A7AC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203" name="TextBox"/>
          <p:cNvSpPr txBox="1"/>
          <p:nvPr/>
        </p:nvSpPr>
        <p:spPr>
          <a:xfrm>
            <a:off x="6827520" y="760000"/>
            <a:ext cx="5021580" cy="137963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50" b="0" i="0">
                <a:solidFill>
                  <a:srgbClr val="1A1F36"/>
                </a:solidFill>
                <a:latin typeface="Times New Roman"/>
                <a:cs typeface="Times New Roman"/>
              </a:rPr>
              <a:t>“Uzbekistan Airways” АЖ «Ўқув-машқ маркази» МЧЖ билан ҳамкорликда «Ҳаво кемаларининг парвоз эксплуатацияси» таълим йўналиши (2+2) билан ҳамкорликда фуқаро авиация учувчиларини тайёрлаш йўлга қўйилган.</a:t>
            </a:r>
          </a:p>
        </p:txBody>
      </p:sp>
      <p:sp>
        <p:nvSpPr>
          <p:cNvPr id="204" name="Card"/>
          <p:cNvSpPr/>
          <p:nvPr/>
        </p:nvSpPr>
        <p:spPr>
          <a:xfrm>
            <a:off x="274320" y="2276790"/>
            <a:ext cx="5684520" cy="137963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E8772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05" name="Badge"/>
          <p:cNvSpPr/>
          <p:nvPr/>
        </p:nvSpPr>
        <p:spPr>
          <a:xfrm>
            <a:off x="342900" y="2738005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206" name="TextBox"/>
          <p:cNvSpPr txBox="1"/>
          <p:nvPr/>
        </p:nvSpPr>
        <p:spPr>
          <a:xfrm>
            <a:off x="868680" y="2276790"/>
            <a:ext cx="5021580" cy="137963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50" b="0" i="0">
                <a:solidFill>
                  <a:srgbClr val="1A1F36"/>
                </a:solidFill>
                <a:latin typeface="Times New Roman"/>
                <a:cs typeface="Times New Roman"/>
              </a:rPr>
              <a:t>“Uzbekistan Airways” АЖ кўмагида факультетга ўқув ва лаборатория жиҳозлари, жумладан Ил-114-100 ҳаво кемасини беғараз етказиб бериш ишлари олиб борилмоқда.</a:t>
            </a:r>
          </a:p>
        </p:txBody>
      </p:sp>
      <p:sp>
        <p:nvSpPr>
          <p:cNvPr id="207" name="Card"/>
          <p:cNvSpPr/>
          <p:nvPr/>
        </p:nvSpPr>
        <p:spPr>
          <a:xfrm>
            <a:off x="6233160" y="2276790"/>
            <a:ext cx="5684520" cy="137963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C00000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08" name="Badge"/>
          <p:cNvSpPr/>
          <p:nvPr/>
        </p:nvSpPr>
        <p:spPr>
          <a:xfrm>
            <a:off x="6301740" y="2738005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209" name="TextBox"/>
          <p:cNvSpPr txBox="1"/>
          <p:nvPr/>
        </p:nvSpPr>
        <p:spPr>
          <a:xfrm>
            <a:off x="6827520" y="2276790"/>
            <a:ext cx="5021580" cy="137963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50" b="0" i="0">
                <a:solidFill>
                  <a:srgbClr val="1A1F36"/>
                </a:solidFill>
                <a:latin typeface="Times New Roman"/>
                <a:cs typeface="Times New Roman"/>
              </a:rPr>
              <a:t>Корея аэрокосмик университети билан ҳамкорликда 1+2+1, 2+2 тизимлари асосида қўшма дастурлар орқали фуқаро авиация учувчиларни ва авиция менежменти ҳамда авиация логистикаси мутахассисларини тайёрлаш йўлга қўйилди.</a:t>
            </a:r>
          </a:p>
        </p:txBody>
      </p:sp>
      <p:sp>
        <p:nvSpPr>
          <p:cNvPr id="210" name="Card"/>
          <p:cNvSpPr/>
          <p:nvPr/>
        </p:nvSpPr>
        <p:spPr>
          <a:xfrm>
            <a:off x="274320" y="3793580"/>
            <a:ext cx="5684520" cy="137963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7A4FA3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11" name="Badge"/>
          <p:cNvSpPr/>
          <p:nvPr/>
        </p:nvSpPr>
        <p:spPr>
          <a:xfrm>
            <a:off x="342900" y="4254795"/>
            <a:ext cx="457200" cy="457200"/>
          </a:xfrm>
          <a:prstGeom prst="ellipse">
            <a:avLst/>
          </a:prstGeom>
          <a:solidFill>
            <a:srgbClr val="7A4FA3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212" name="TextBox"/>
          <p:cNvSpPr txBox="1"/>
          <p:nvPr/>
        </p:nvSpPr>
        <p:spPr>
          <a:xfrm>
            <a:off x="868680" y="3793580"/>
            <a:ext cx="5021580" cy="137963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50" b="0" i="0">
                <a:solidFill>
                  <a:srgbClr val="1A1F36"/>
                </a:solidFill>
                <a:latin typeface="Times New Roman"/>
                <a:cs typeface="Times New Roman"/>
              </a:rPr>
              <a:t>Москва авиация институти билан “Авиация инжиниринги (Авиасозлик)” йўналишида 2+2 қўшма дастури доирасида ҳамкорлик йўлга қўйилган.</a:t>
            </a:r>
          </a:p>
        </p:txBody>
      </p:sp>
      <p:sp>
        <p:nvSpPr>
          <p:cNvPr id="213" name="Card"/>
          <p:cNvSpPr/>
          <p:nvPr/>
        </p:nvSpPr>
        <p:spPr>
          <a:xfrm>
            <a:off x="6233160" y="3793580"/>
            <a:ext cx="5684520" cy="137963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138A7A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14" name="Badge"/>
          <p:cNvSpPr/>
          <p:nvPr/>
        </p:nvSpPr>
        <p:spPr>
          <a:xfrm>
            <a:off x="6301740" y="4254795"/>
            <a:ext cx="457200" cy="457200"/>
          </a:xfrm>
          <a:prstGeom prst="ellipse">
            <a:avLst/>
          </a:prstGeom>
          <a:solidFill>
            <a:srgbClr val="138A7A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215" name="TextBox"/>
          <p:cNvSpPr txBox="1"/>
          <p:nvPr/>
        </p:nvSpPr>
        <p:spPr>
          <a:xfrm>
            <a:off x="6827520" y="3793580"/>
            <a:ext cx="5021580" cy="137963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50" b="0" i="0">
                <a:solidFill>
                  <a:srgbClr val="1A1F36"/>
                </a:solidFill>
                <a:latin typeface="Times New Roman"/>
                <a:cs typeface="Times New Roman"/>
              </a:rPr>
              <a:t>Беларус давлат авиация академияси билан “Авиация инжиниринги (УУА авиация мажмуалари)” ва “Ҳаводаги ҳаракатни бошқариш” йўналишларида 2+2 қўшма дастури доирасида ҳамкорлик йўлга қўйилган.</a:t>
            </a:r>
          </a:p>
        </p:txBody>
      </p:sp>
      <p:sp>
        <p:nvSpPr>
          <p:cNvPr id="216" name="Card"/>
          <p:cNvSpPr/>
          <p:nvPr/>
        </p:nvSpPr>
        <p:spPr>
          <a:xfrm>
            <a:off x="274320" y="5310370"/>
            <a:ext cx="5684520" cy="137963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1B2A6B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17" name="Badge"/>
          <p:cNvSpPr/>
          <p:nvPr/>
        </p:nvSpPr>
        <p:spPr>
          <a:xfrm>
            <a:off x="342900" y="5771585"/>
            <a:ext cx="457200" cy="45720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218" name="TextBox"/>
          <p:cNvSpPr txBox="1"/>
          <p:nvPr/>
        </p:nvSpPr>
        <p:spPr>
          <a:xfrm>
            <a:off x="868680" y="5310370"/>
            <a:ext cx="5021580" cy="137963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50" b="0" i="0">
                <a:solidFill>
                  <a:srgbClr val="1A1F36"/>
                </a:solidFill>
                <a:latin typeface="Times New Roman"/>
                <a:cs typeface="Times New Roman"/>
              </a:rPr>
              <a:t>Корея аэрокосмик университети билан иқтидорли талабаларнинг Ёзги ва Қишки мактаблари йўлга қўйилди.</a:t>
            </a:r>
          </a:p>
        </p:txBody>
      </p:sp>
      <p:sp>
        <p:nvSpPr>
          <p:cNvPr id="219" name="Card"/>
          <p:cNvSpPr/>
          <p:nvPr/>
        </p:nvSpPr>
        <p:spPr>
          <a:xfrm>
            <a:off x="6233160" y="5310370"/>
            <a:ext cx="5684520" cy="137963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20" name="Badge"/>
          <p:cNvSpPr/>
          <p:nvPr/>
        </p:nvSpPr>
        <p:spPr>
          <a:xfrm>
            <a:off x="6301740" y="5771585"/>
            <a:ext cx="457200" cy="457200"/>
          </a:xfrm>
          <a:prstGeom prst="ellipse">
            <a:avLst/>
          </a:prstGeom>
          <a:solidFill>
            <a:srgbClr val="2A7AC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</a:p>
        </p:txBody>
      </p:sp>
      <p:sp>
        <p:nvSpPr>
          <p:cNvPr id="221" name="TextBox"/>
          <p:cNvSpPr txBox="1"/>
          <p:nvPr/>
        </p:nvSpPr>
        <p:spPr>
          <a:xfrm>
            <a:off x="6827520" y="5310370"/>
            <a:ext cx="5021580" cy="137963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50" b="0" i="0">
                <a:solidFill>
                  <a:srgbClr val="1A1F36"/>
                </a:solidFill>
                <a:latin typeface="Times New Roman"/>
                <a:cs typeface="Times New Roman"/>
              </a:rPr>
              <a:t>Факультетнинг илмий салоҳиятини ошириш мақсадида авиация соҳаси бўйича PhD.15/08.05.2025.T.73.10 ракамли илмий Кенгаш фаолияти йўлга қўйилди.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itle"/>
          <p:cNvSpPr>
            <a:spLocks noGrp="1"/>
          </p:cNvSpPr>
          <p:nvPr>
            <p:ph type="title" idx="105"/>
          </p:nvPr>
        </p:nvSpPr>
        <p:spPr>
          <a:xfrm>
            <a:off x="274320" y="27432"/>
            <a:ext cx="8778240" cy="530352"/>
          </a:xfrm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Times New Roman"/>
                <a:cs typeface="Times New Roman"/>
              </a:rPr>
              <a:t>ФАКУЛЬТЕТНИНГ МАВЖУД ЛАБОРАТОРИЯ БАЗАСИ ВА ХАРИД ҚИЛИНАДИГАН ЖИҲОЗЛАР</a:t>
            </a:r>
          </a:p>
        </p:txBody>
      </p:sp>
      <p:sp>
        <p:nvSpPr>
          <p:cNvPr id="223" name="Card"/>
          <p:cNvSpPr/>
          <p:nvPr/>
        </p:nvSpPr>
        <p:spPr>
          <a:xfrm>
            <a:off x="274320" y="760000"/>
            <a:ext cx="5577840" cy="5930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39B45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24" name="Pill"/>
          <p:cNvSpPr/>
          <p:nvPr/>
        </p:nvSpPr>
        <p:spPr>
          <a:xfrm>
            <a:off x="320040" y="805720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239B45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  <a:cs typeface="Times New Roman"/>
              </a:rPr>
              <a:t>АМАЛДАГИ ЛАБОРАТОРИЯ</a:t>
            </a:r>
          </a:p>
        </p:txBody>
      </p:sp>
      <p:pic>
        <p:nvPicPr>
          <p:cNvPr id="225" name="Photo"/>
          <p:cNvPicPr>
            <a:picLocks noChangeAspect="1"/>
          </p:cNvPicPr>
          <p:nvPr/>
        </p:nvPicPr>
        <p:blipFill>
          <a:blip r:embed="rId2"/>
          <a:srcRect l="11378" t="0" r="11378" b="0"/>
          <a:stretch>
            <a:fillRect/>
          </a:stretch>
        </p:blipFill>
        <p:spPr>
          <a:xfrm>
            <a:off x="365760" y="1354360"/>
            <a:ext cx="1297305" cy="1259615"/>
          </a:xfrm>
          <a:prstGeom prst="roundRect">
            <a:avLst>
              <a:gd name="adj" fmla="val 6000"/>
            </a:avLst>
          </a:prstGeom>
        </p:spPr>
      </p:pic>
      <p:pic>
        <p:nvPicPr>
          <p:cNvPr id="226" name="Photo"/>
          <p:cNvPicPr>
            <a:picLocks noChangeAspect="1"/>
          </p:cNvPicPr>
          <p:nvPr/>
        </p:nvPicPr>
        <p:blipFill>
          <a:blip r:embed="rId3"/>
          <a:srcRect l="11378" t="0" r="11378" b="0"/>
          <a:stretch>
            <a:fillRect/>
          </a:stretch>
        </p:blipFill>
        <p:spPr>
          <a:xfrm>
            <a:off x="1731645" y="1354360"/>
            <a:ext cx="1297305" cy="1259615"/>
          </a:xfrm>
          <a:prstGeom prst="roundRect">
            <a:avLst>
              <a:gd name="adj" fmla="val 6000"/>
            </a:avLst>
          </a:prstGeom>
        </p:spPr>
      </p:pic>
      <p:pic>
        <p:nvPicPr>
          <p:cNvPr id="227" name="Photo"/>
          <p:cNvPicPr>
            <a:picLocks noChangeAspect="1"/>
          </p:cNvPicPr>
          <p:nvPr/>
        </p:nvPicPr>
        <p:blipFill>
          <a:blip r:embed="rId4"/>
          <a:srcRect l="11378" t="0" r="11378" b="0"/>
          <a:stretch>
            <a:fillRect/>
          </a:stretch>
        </p:blipFill>
        <p:spPr>
          <a:xfrm>
            <a:off x="3097530" y="1354360"/>
            <a:ext cx="1297305" cy="1259615"/>
          </a:xfrm>
          <a:prstGeom prst="roundRect">
            <a:avLst>
              <a:gd name="adj" fmla="val 6000"/>
            </a:avLst>
          </a:prstGeom>
        </p:spPr>
      </p:pic>
      <p:pic>
        <p:nvPicPr>
          <p:cNvPr id="228" name="Photo"/>
          <p:cNvPicPr>
            <a:picLocks noChangeAspect="1"/>
          </p:cNvPicPr>
          <p:nvPr/>
        </p:nvPicPr>
        <p:blipFill>
          <a:blip r:embed="rId5"/>
          <a:srcRect l="11378" t="0" r="11378" b="0"/>
          <a:stretch>
            <a:fillRect/>
          </a:stretch>
        </p:blipFill>
        <p:spPr>
          <a:xfrm>
            <a:off x="4463415" y="1354360"/>
            <a:ext cx="1297305" cy="1259615"/>
          </a:xfrm>
          <a:prstGeom prst="roundRect">
            <a:avLst>
              <a:gd name="adj" fmla="val 6000"/>
            </a:avLst>
          </a:prstGeom>
        </p:spPr>
      </p:pic>
      <p:pic>
        <p:nvPicPr>
          <p:cNvPr id="229" name="Photo"/>
          <p:cNvPicPr>
            <a:picLocks noChangeAspect="1"/>
          </p:cNvPicPr>
          <p:nvPr/>
        </p:nvPicPr>
        <p:blipFill>
          <a:blip r:embed="rId6"/>
          <a:srcRect l="11378" t="0" r="11378" b="0"/>
          <a:stretch>
            <a:fillRect/>
          </a:stretch>
        </p:blipFill>
        <p:spPr>
          <a:xfrm>
            <a:off x="365760" y="2682555"/>
            <a:ext cx="1297305" cy="1259615"/>
          </a:xfrm>
          <a:prstGeom prst="roundRect">
            <a:avLst>
              <a:gd name="adj" fmla="val 6000"/>
            </a:avLst>
          </a:prstGeom>
        </p:spPr>
      </p:pic>
      <p:pic>
        <p:nvPicPr>
          <p:cNvPr id="230" name="Photo"/>
          <p:cNvPicPr>
            <a:picLocks noChangeAspect="1"/>
          </p:cNvPicPr>
          <p:nvPr/>
        </p:nvPicPr>
        <p:blipFill>
          <a:blip r:embed="rId7"/>
          <a:srcRect l="11378" t="0" r="11378" b="0"/>
          <a:stretch>
            <a:fillRect/>
          </a:stretch>
        </p:blipFill>
        <p:spPr>
          <a:xfrm>
            <a:off x="1731645" y="2682555"/>
            <a:ext cx="1297305" cy="1259615"/>
          </a:xfrm>
          <a:prstGeom prst="roundRect">
            <a:avLst>
              <a:gd name="adj" fmla="val 6000"/>
            </a:avLst>
          </a:prstGeom>
        </p:spPr>
      </p:pic>
      <p:pic>
        <p:nvPicPr>
          <p:cNvPr id="231" name="Photo"/>
          <p:cNvPicPr>
            <a:picLocks noChangeAspect="1"/>
          </p:cNvPicPr>
          <p:nvPr/>
        </p:nvPicPr>
        <p:blipFill>
          <a:blip r:embed="rId8"/>
          <a:srcRect l="7360" t="0" r="7360" b="0"/>
          <a:stretch>
            <a:fillRect/>
          </a:stretch>
        </p:blipFill>
        <p:spPr>
          <a:xfrm>
            <a:off x="3097530" y="2682555"/>
            <a:ext cx="1297305" cy="1259615"/>
          </a:xfrm>
          <a:prstGeom prst="roundRect">
            <a:avLst>
              <a:gd name="adj" fmla="val 6000"/>
            </a:avLst>
          </a:prstGeom>
        </p:spPr>
      </p:pic>
      <p:pic>
        <p:nvPicPr>
          <p:cNvPr id="232" name="Photo"/>
          <p:cNvPicPr>
            <a:picLocks noChangeAspect="1"/>
          </p:cNvPicPr>
          <p:nvPr/>
        </p:nvPicPr>
        <p:blipFill>
          <a:blip r:embed="rId9"/>
          <a:srcRect l="11378" t="0" r="11378" b="0"/>
          <a:stretch>
            <a:fillRect/>
          </a:stretch>
        </p:blipFill>
        <p:spPr>
          <a:xfrm>
            <a:off x="4463415" y="2682555"/>
            <a:ext cx="1297305" cy="1259615"/>
          </a:xfrm>
          <a:prstGeom prst="roundRect">
            <a:avLst>
              <a:gd name="adj" fmla="val 6000"/>
            </a:avLst>
          </a:prstGeom>
        </p:spPr>
      </p:pic>
      <p:pic>
        <p:nvPicPr>
          <p:cNvPr id="233" name="Photo"/>
          <p:cNvPicPr>
            <a:picLocks noChangeAspect="1"/>
          </p:cNvPicPr>
          <p:nvPr/>
        </p:nvPicPr>
        <p:blipFill>
          <a:blip r:embed="rId10"/>
          <a:srcRect l="21033" t="0" r="21033" b="0"/>
          <a:stretch>
            <a:fillRect/>
          </a:stretch>
        </p:blipFill>
        <p:spPr>
          <a:xfrm>
            <a:off x="365760" y="4010750"/>
            <a:ext cx="1297305" cy="1259615"/>
          </a:xfrm>
          <a:prstGeom prst="roundRect">
            <a:avLst>
              <a:gd name="adj" fmla="val 6000"/>
            </a:avLst>
          </a:prstGeom>
        </p:spPr>
      </p:pic>
      <p:pic>
        <p:nvPicPr>
          <p:cNvPr id="234" name="Photo"/>
          <p:cNvPicPr>
            <a:picLocks noChangeAspect="1"/>
          </p:cNvPicPr>
          <p:nvPr/>
        </p:nvPicPr>
        <p:blipFill>
          <a:blip r:embed="rId11"/>
          <a:srcRect l="17457" t="0" r="17457" b="0"/>
          <a:stretch>
            <a:fillRect/>
          </a:stretch>
        </p:blipFill>
        <p:spPr>
          <a:xfrm>
            <a:off x="1731645" y="4010750"/>
            <a:ext cx="1297305" cy="1259615"/>
          </a:xfrm>
          <a:prstGeom prst="roundRect">
            <a:avLst>
              <a:gd name="adj" fmla="val 6000"/>
            </a:avLst>
          </a:prstGeom>
        </p:spPr>
      </p:pic>
      <p:pic>
        <p:nvPicPr>
          <p:cNvPr id="235" name="Photo"/>
          <p:cNvPicPr>
            <a:picLocks noChangeAspect="1"/>
          </p:cNvPicPr>
          <p:nvPr/>
        </p:nvPicPr>
        <p:blipFill>
          <a:blip r:embed="rId12"/>
          <a:srcRect l="15691" t="0" r="15691" b="0"/>
          <a:stretch>
            <a:fillRect/>
          </a:stretch>
        </p:blipFill>
        <p:spPr>
          <a:xfrm>
            <a:off x="3097530" y="4010750"/>
            <a:ext cx="1297305" cy="1259615"/>
          </a:xfrm>
          <a:prstGeom prst="roundRect">
            <a:avLst>
              <a:gd name="adj" fmla="val 6000"/>
            </a:avLst>
          </a:prstGeom>
        </p:spPr>
      </p:pic>
      <p:pic>
        <p:nvPicPr>
          <p:cNvPr id="236" name="Photo"/>
          <p:cNvPicPr>
            <a:picLocks noChangeAspect="1"/>
          </p:cNvPicPr>
          <p:nvPr/>
        </p:nvPicPr>
        <p:blipFill>
          <a:blip r:embed="rId13"/>
          <a:srcRect l="0" t="13589" r="0" b="13589"/>
          <a:stretch>
            <a:fillRect/>
          </a:stretch>
        </p:blipFill>
        <p:spPr>
          <a:xfrm>
            <a:off x="4463415" y="4010750"/>
            <a:ext cx="1297305" cy="1259615"/>
          </a:xfrm>
          <a:prstGeom prst="roundRect">
            <a:avLst>
              <a:gd name="adj" fmla="val 6000"/>
            </a:avLst>
          </a:prstGeom>
        </p:spPr>
      </p:pic>
      <p:pic>
        <p:nvPicPr>
          <p:cNvPr id="237" name="Photo"/>
          <p:cNvPicPr>
            <a:picLocks noChangeAspect="1"/>
          </p:cNvPicPr>
          <p:nvPr/>
        </p:nvPicPr>
        <p:blipFill>
          <a:blip r:embed="rId14"/>
          <a:srcRect l="21033" t="0" r="21033" b="0"/>
          <a:stretch>
            <a:fillRect/>
          </a:stretch>
        </p:blipFill>
        <p:spPr>
          <a:xfrm>
            <a:off x="365760" y="5338945"/>
            <a:ext cx="1297305" cy="1259615"/>
          </a:xfrm>
          <a:prstGeom prst="roundRect">
            <a:avLst>
              <a:gd name="adj" fmla="val 6000"/>
            </a:avLst>
          </a:prstGeom>
        </p:spPr>
      </p:pic>
      <p:sp>
        <p:nvSpPr>
          <p:cNvPr id="238" name="Card"/>
          <p:cNvSpPr/>
          <p:nvPr/>
        </p:nvSpPr>
        <p:spPr>
          <a:xfrm>
            <a:off x="6340856" y="760000"/>
            <a:ext cx="5576824" cy="5930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39" name="Pill"/>
          <p:cNvSpPr/>
          <p:nvPr/>
        </p:nvSpPr>
        <p:spPr>
          <a:xfrm>
            <a:off x="6386576" y="805720"/>
            <a:ext cx="5485384" cy="457200"/>
          </a:xfrm>
          <a:prstGeom prst="roundRect">
            <a:avLst>
              <a:gd name="adj" fmla="val 18000"/>
            </a:avLst>
          </a:prstGeom>
          <a:solidFill>
            <a:srgbClr val="2A7AC2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  <a:cs typeface="Times New Roman"/>
              </a:rPr>
              <a:t>ХАРИД ҚИЛИНИШИ КЕРАК БЎЛГАН ЛАБОРАТОРИЯ ЖИҲОЗЛАРИ</a:t>
            </a:r>
          </a:p>
        </p:txBody>
      </p:sp>
      <p:pic>
        <p:nvPicPr>
          <p:cNvPr id="240" name="Photo"/>
          <p:cNvPicPr>
            <a:picLocks noChangeAspect="1"/>
          </p:cNvPicPr>
          <p:nvPr/>
        </p:nvPicPr>
        <p:blipFill>
          <a:blip r:embed="rId15"/>
          <a:srcRect l="10329" t="0" r="10329" b="0"/>
          <a:stretch>
            <a:fillRect/>
          </a:stretch>
        </p:blipFill>
        <p:spPr>
          <a:xfrm>
            <a:off x="6432296" y="1354360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41" name="Photo"/>
          <p:cNvPicPr>
            <a:picLocks noChangeAspect="1"/>
          </p:cNvPicPr>
          <p:nvPr/>
        </p:nvPicPr>
        <p:blipFill>
          <a:blip r:embed="rId16"/>
          <a:srcRect l="10329" t="0" r="10329" b="0"/>
          <a:stretch>
            <a:fillRect/>
          </a:stretch>
        </p:blipFill>
        <p:spPr>
          <a:xfrm>
            <a:off x="7797927" y="1354360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42" name="Photo"/>
          <p:cNvPicPr>
            <a:picLocks noChangeAspect="1"/>
          </p:cNvPicPr>
          <p:nvPr/>
        </p:nvPicPr>
        <p:blipFill>
          <a:blip r:embed="rId17"/>
          <a:srcRect l="13340" t="0" r="13340" b="0"/>
          <a:stretch>
            <a:fillRect/>
          </a:stretch>
        </p:blipFill>
        <p:spPr>
          <a:xfrm>
            <a:off x="9163558" y="1354360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43" name="Photo"/>
          <p:cNvPicPr>
            <a:picLocks noChangeAspect="1"/>
          </p:cNvPicPr>
          <p:nvPr/>
        </p:nvPicPr>
        <p:blipFill>
          <a:blip r:embed="rId18"/>
          <a:srcRect l="1129" t="0" r="1129" b="0"/>
          <a:stretch>
            <a:fillRect/>
          </a:stretch>
        </p:blipFill>
        <p:spPr>
          <a:xfrm>
            <a:off x="10529189" y="1354360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44" name="Photo"/>
          <p:cNvPicPr>
            <a:picLocks noChangeAspect="1"/>
          </p:cNvPicPr>
          <p:nvPr/>
        </p:nvPicPr>
        <p:blipFill>
          <a:blip r:embed="rId19"/>
          <a:srcRect l="10329" t="0" r="10329" b="0"/>
          <a:stretch>
            <a:fillRect/>
          </a:stretch>
        </p:blipFill>
        <p:spPr>
          <a:xfrm>
            <a:off x="6432296" y="2416916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45" name="Photo"/>
          <p:cNvPicPr>
            <a:picLocks noChangeAspect="1"/>
          </p:cNvPicPr>
          <p:nvPr/>
        </p:nvPicPr>
        <p:blipFill>
          <a:blip r:embed="rId20"/>
          <a:srcRect l="10329" t="0" r="10329" b="0"/>
          <a:stretch>
            <a:fillRect/>
          </a:stretch>
        </p:blipFill>
        <p:spPr>
          <a:xfrm>
            <a:off x="7797927" y="2416916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46" name="Photo"/>
          <p:cNvPicPr>
            <a:picLocks noChangeAspect="1"/>
          </p:cNvPicPr>
          <p:nvPr/>
        </p:nvPicPr>
        <p:blipFill>
          <a:blip r:embed="rId21"/>
          <a:srcRect l="0" t="11683" r="0" b="11683"/>
          <a:stretch>
            <a:fillRect/>
          </a:stretch>
        </p:blipFill>
        <p:spPr>
          <a:xfrm>
            <a:off x="9163558" y="2416916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47" name="Photo"/>
          <p:cNvPicPr>
            <a:picLocks noChangeAspect="1"/>
          </p:cNvPicPr>
          <p:nvPr/>
        </p:nvPicPr>
        <p:blipFill>
          <a:blip r:embed="rId22"/>
          <a:srcRect l="1469" t="0" r="1469" b="0"/>
          <a:stretch>
            <a:fillRect/>
          </a:stretch>
        </p:blipFill>
        <p:spPr>
          <a:xfrm>
            <a:off x="10529189" y="2416916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48" name="Photo"/>
          <p:cNvPicPr>
            <a:picLocks noChangeAspect="1"/>
          </p:cNvPicPr>
          <p:nvPr/>
        </p:nvPicPr>
        <p:blipFill>
          <a:blip r:embed="rId23"/>
          <a:srcRect l="1253" t="0" r="1253" b="0"/>
          <a:stretch>
            <a:fillRect/>
          </a:stretch>
        </p:blipFill>
        <p:spPr>
          <a:xfrm>
            <a:off x="6432296" y="3479472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49" name="Photo"/>
          <p:cNvPicPr>
            <a:picLocks noChangeAspect="1"/>
          </p:cNvPicPr>
          <p:nvPr/>
        </p:nvPicPr>
        <p:blipFill>
          <a:blip r:embed="rId24"/>
          <a:srcRect l="2878" t="0" r="2878" b="0"/>
          <a:stretch>
            <a:fillRect/>
          </a:stretch>
        </p:blipFill>
        <p:spPr>
          <a:xfrm>
            <a:off x="7797927" y="3479472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50" name="Photo"/>
          <p:cNvPicPr>
            <a:picLocks noChangeAspect="1"/>
          </p:cNvPicPr>
          <p:nvPr/>
        </p:nvPicPr>
        <p:blipFill>
          <a:blip r:embed="rId25"/>
          <a:srcRect l="0" t="22973" r="0" b="22973"/>
          <a:stretch>
            <a:fillRect/>
          </a:stretch>
        </p:blipFill>
        <p:spPr>
          <a:xfrm>
            <a:off x="9163558" y="3479472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51" name="Photo"/>
          <p:cNvPicPr>
            <a:picLocks noChangeAspect="1"/>
          </p:cNvPicPr>
          <p:nvPr/>
        </p:nvPicPr>
        <p:blipFill>
          <a:blip r:embed="rId26"/>
          <a:srcRect l="6503" t="0" r="6503" b="0"/>
          <a:stretch>
            <a:fillRect/>
          </a:stretch>
        </p:blipFill>
        <p:spPr>
          <a:xfrm>
            <a:off x="10529189" y="3479472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52" name="Photo"/>
          <p:cNvPicPr>
            <a:picLocks noChangeAspect="1"/>
          </p:cNvPicPr>
          <p:nvPr/>
        </p:nvPicPr>
        <p:blipFill>
          <a:blip r:embed="rId27"/>
          <a:srcRect l="6838" t="0" r="6838" b="0"/>
          <a:stretch>
            <a:fillRect/>
          </a:stretch>
        </p:blipFill>
        <p:spPr>
          <a:xfrm>
            <a:off x="6432296" y="4542028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53" name="Photo"/>
          <p:cNvPicPr>
            <a:picLocks noChangeAspect="1"/>
          </p:cNvPicPr>
          <p:nvPr/>
        </p:nvPicPr>
        <p:blipFill>
          <a:blip r:embed="rId28"/>
          <a:srcRect l="0" t="3228" r="0" b="3228"/>
          <a:stretch>
            <a:fillRect/>
          </a:stretch>
        </p:blipFill>
        <p:spPr>
          <a:xfrm>
            <a:off x="7797927" y="4542028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54" name="Photo"/>
          <p:cNvPicPr>
            <a:picLocks noChangeAspect="1"/>
          </p:cNvPicPr>
          <p:nvPr/>
        </p:nvPicPr>
        <p:blipFill>
          <a:blip r:embed="rId29"/>
          <a:srcRect l="0" t="955" r="0" b="955"/>
          <a:stretch>
            <a:fillRect/>
          </a:stretch>
        </p:blipFill>
        <p:spPr>
          <a:xfrm>
            <a:off x="9163558" y="4542028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55" name="Photo"/>
          <p:cNvPicPr>
            <a:picLocks noChangeAspect="1"/>
          </p:cNvPicPr>
          <p:nvPr/>
        </p:nvPicPr>
        <p:blipFill>
          <a:blip r:embed="rId30"/>
          <a:srcRect l="0" t="1721" r="0" b="1721"/>
          <a:stretch>
            <a:fillRect/>
          </a:stretch>
        </p:blipFill>
        <p:spPr>
          <a:xfrm>
            <a:off x="10529189" y="4542028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56" name="Photo"/>
          <p:cNvPicPr>
            <a:picLocks noChangeAspect="1"/>
          </p:cNvPicPr>
          <p:nvPr/>
        </p:nvPicPr>
        <p:blipFill>
          <a:blip r:embed="rId31"/>
          <a:srcRect l="0" t="8008" r="0" b="8008"/>
          <a:stretch>
            <a:fillRect/>
          </a:stretch>
        </p:blipFill>
        <p:spPr>
          <a:xfrm>
            <a:off x="6432296" y="5604584"/>
            <a:ext cx="1297051" cy="993976"/>
          </a:xfrm>
          <a:prstGeom prst="roundRect">
            <a:avLst>
              <a:gd name="adj" fmla="val 6000"/>
            </a:avLst>
          </a:prstGeom>
        </p:spPr>
      </p:pic>
      <p:pic>
        <p:nvPicPr>
          <p:cNvPr id="257" name="Photo"/>
          <p:cNvPicPr>
            <a:picLocks noChangeAspect="1"/>
          </p:cNvPicPr>
          <p:nvPr/>
        </p:nvPicPr>
        <p:blipFill>
          <a:blip r:embed="rId32"/>
          <a:srcRect l="8438" t="0" r="8438" b="0"/>
          <a:stretch>
            <a:fillRect/>
          </a:stretch>
        </p:blipFill>
        <p:spPr>
          <a:xfrm>
            <a:off x="7797927" y="5604584"/>
            <a:ext cx="1297051" cy="993976"/>
          </a:xfrm>
          <a:prstGeom prst="roundRect">
            <a:avLst>
              <a:gd name="adj" fmla="val 6000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"/>
          <p:cNvSpPr>
            <a:spLocks noGrp="1"/>
          </p:cNvSpPr>
          <p:nvPr>
            <p:ph type="title" idx="105"/>
          </p:nvPr>
        </p:nvSpPr>
        <p:spPr>
          <a:xfrm>
            <a:off x="274320" y="27432"/>
            <a:ext cx="8778240" cy="530352"/>
          </a:xfrm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Times New Roman"/>
                <a:cs typeface="Times New Roman"/>
              </a:rPr>
              <a:t>ФАКУЛЬТЕТНИНГ ЛАБОРАТОРИЯ БАЗАСИГА ХАРИД ҚИЛИНАДИГАН ЖИҲОЗЛАР</a:t>
            </a:r>
          </a:p>
        </p:txBody>
      </p:sp>
      <p:sp>
        <p:nvSpPr>
          <p:cNvPr id="259" name="Pill"/>
          <p:cNvSpPr/>
          <p:nvPr/>
        </p:nvSpPr>
        <p:spPr>
          <a:xfrm>
            <a:off x="274320" y="760000"/>
            <a:ext cx="11643360" cy="457200"/>
          </a:xfrm>
          <a:prstGeom prst="roundRect">
            <a:avLst>
              <a:gd name="adj" fmla="val 18000"/>
            </a:avLst>
          </a:prstGeom>
          <a:solidFill>
            <a:srgbClr val="1B2A6B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“АВИАЦИЯ ИНЖИНИРИНГИ” лаборатория базасини ривожлантириш</a:t>
            </a:r>
          </a:p>
        </p:txBody>
      </p:sp>
      <p:sp>
        <p:nvSpPr>
          <p:cNvPr id="260" name="Card"/>
          <p:cNvSpPr/>
          <p:nvPr/>
        </p:nvSpPr>
        <p:spPr>
          <a:xfrm>
            <a:off x="274320" y="1354360"/>
            <a:ext cx="3789680" cy="53356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61" name="Pill"/>
          <p:cNvSpPr/>
          <p:nvPr/>
        </p:nvSpPr>
        <p:spPr>
          <a:xfrm>
            <a:off x="310896" y="1400080"/>
            <a:ext cx="3716528" cy="594360"/>
          </a:xfrm>
          <a:prstGeom prst="roundRect">
            <a:avLst>
              <a:gd name="adj" fmla="val 12000"/>
            </a:avLst>
          </a:prstGeom>
          <a:solidFill>
            <a:srgbClr val="2A7AC2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  <a:cs typeface="Times New Roman"/>
              </a:rPr>
              <a:t>“Ҳаво кемалари жиҳозлари ва диагностикаси” лабораторияси</a:t>
            </a:r>
          </a:p>
        </p:txBody>
      </p:sp>
      <p:sp>
        <p:nvSpPr>
          <p:cNvPr id="262" name="Shape"/>
          <p:cNvSpPr/>
          <p:nvPr/>
        </p:nvSpPr>
        <p:spPr>
          <a:xfrm>
            <a:off x="1221740" y="2049304"/>
            <a:ext cx="1894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AC2"/>
                </a:solidFill>
                <a:latin typeface="Times New Roman"/>
                <a:cs typeface="Times New Roman"/>
              </a:rPr>
              <a:t>$21 650</a:t>
            </a:r>
          </a:p>
        </p:txBody>
      </p:sp>
      <p:sp>
        <p:nvSpPr>
          <p:cNvPr id="263" name="TextBox"/>
          <p:cNvSpPr txBox="1"/>
          <p:nvPr/>
        </p:nvSpPr>
        <p:spPr>
          <a:xfrm>
            <a:off x="301752" y="2588800"/>
            <a:ext cx="3734816" cy="4046336"/>
          </a:xfrm>
          <a:prstGeom prst="rect">
            <a:avLst/>
          </a:prstGeom>
          <a:noFill/>
        </p:spPr>
        <p:txBody>
          <a:bodyPr wrap="square" lIns="27432" tIns="18288" rIns="27432" bIns="18288" anchor="ctr"/>
          <a:lstStyle/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Видео эндоскоп PCE-VE-1034N-F ($ 4 800)</a:t>
            </a:r>
          </a:p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Бороскоп PCE-IVE-320 ($ 1 800)</a:t>
            </a:r>
          </a:p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Вихретоковый дефектоскоп ВД-70 ($ 2 500)</a:t>
            </a:r>
          </a:p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Ультразвуковой дефектоскоп А1212 МАСТЕР ($ 3 750)</a:t>
            </a:r>
          </a:p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Универсальная высокоскоростная испытательная машина AG-X PLUS мощностью 5кН, с удлинением колонн на 250 мм ($ 8 800)</a:t>
            </a:r>
          </a:p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Муфельная печь модели SNOL 8,2/1100 LSM01 ($ 1 150)</a:t>
            </a:r>
          </a:p>
        </p:txBody>
      </p:sp>
      <p:sp>
        <p:nvSpPr>
          <p:cNvPr id="264" name="Card"/>
          <p:cNvSpPr/>
          <p:nvPr/>
        </p:nvSpPr>
        <p:spPr>
          <a:xfrm>
            <a:off x="4201160" y="1354360"/>
            <a:ext cx="3789680" cy="53356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39B45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65" name="Pill"/>
          <p:cNvSpPr/>
          <p:nvPr/>
        </p:nvSpPr>
        <p:spPr>
          <a:xfrm>
            <a:off x="4237736" y="1400080"/>
            <a:ext cx="3716528" cy="594360"/>
          </a:xfrm>
          <a:prstGeom prst="roundRect">
            <a:avLst>
              <a:gd name="adj" fmla="val 12000"/>
            </a:avLst>
          </a:prstGeom>
          <a:solidFill>
            <a:srgbClr val="239B45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  <a:cs typeface="Times New Roman"/>
              </a:rPr>
              <a:t>“Учувчисиз учиш аппаратлари” лабораторияси</a:t>
            </a:r>
          </a:p>
        </p:txBody>
      </p:sp>
      <p:sp>
        <p:nvSpPr>
          <p:cNvPr id="266" name="Shape"/>
          <p:cNvSpPr/>
          <p:nvPr/>
        </p:nvSpPr>
        <p:spPr>
          <a:xfrm>
            <a:off x="5148580" y="2049304"/>
            <a:ext cx="1894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39B45"/>
                </a:solidFill>
                <a:latin typeface="Times New Roman"/>
                <a:cs typeface="Times New Roman"/>
              </a:rPr>
              <a:t>$18 830</a:t>
            </a:r>
          </a:p>
        </p:txBody>
      </p:sp>
      <p:sp>
        <p:nvSpPr>
          <p:cNvPr id="267" name="TextBox"/>
          <p:cNvSpPr txBox="1"/>
          <p:nvPr/>
        </p:nvSpPr>
        <p:spPr>
          <a:xfrm>
            <a:off x="4228592" y="2588800"/>
            <a:ext cx="3734816" cy="4046336"/>
          </a:xfrm>
          <a:prstGeom prst="rect">
            <a:avLst/>
          </a:prstGeom>
          <a:noFill/>
        </p:spPr>
        <p:txBody>
          <a:bodyPr wrap="square" lIns="27432" tIns="18288" rIns="27432" bIns="18288" anchor="ctr"/>
          <a:lstStyle/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Тренажер "Оператор БПЛА мультироторного типа» ($ 700)</a:t>
            </a:r>
          </a:p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Комплектация 3 ($ 4 300)</a:t>
            </a:r>
          </a:p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Учебно-лабораторный комплекс "Сборка и программирование БПЛА»  ($ 4 900)</a:t>
            </a:r>
          </a:p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Тренажер "Оператор БПЛА самолётного типа» ($ 2 400)</a:t>
            </a:r>
          </a:p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Стенд-планшет "Электроника, автоматика и оборудование БПЛА самолетного типа» ($ 2 400)</a:t>
            </a:r>
          </a:p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Стенд-планшет "Электроника, автоматика и оборудование БПЛА мультироторного типа» ($ 2 000)</a:t>
            </a:r>
          </a:p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Учебно-лабораторный комплекс «Беспилотный летательный аппарат мультироторного типа»  ($ 980)</a:t>
            </a:r>
          </a:p>
        </p:txBody>
      </p:sp>
      <p:sp>
        <p:nvSpPr>
          <p:cNvPr id="268" name="Card"/>
          <p:cNvSpPr/>
          <p:nvPr/>
        </p:nvSpPr>
        <p:spPr>
          <a:xfrm>
            <a:off x="8128000" y="1354360"/>
            <a:ext cx="3789680" cy="53356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E8772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69" name="Pill"/>
          <p:cNvSpPr/>
          <p:nvPr/>
        </p:nvSpPr>
        <p:spPr>
          <a:xfrm>
            <a:off x="8164576" y="1400080"/>
            <a:ext cx="3716528" cy="594360"/>
          </a:xfrm>
          <a:prstGeom prst="roundRect">
            <a:avLst>
              <a:gd name="adj" fmla="val 12000"/>
            </a:avLst>
          </a:prstGeom>
          <a:solidFill>
            <a:srgbClr val="E87722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  <a:cs typeface="Times New Roman"/>
              </a:rPr>
              <a:t>“Учиш аппаратлари куч қурилмалари” лабораторияси</a:t>
            </a:r>
          </a:p>
        </p:txBody>
      </p:sp>
      <p:sp>
        <p:nvSpPr>
          <p:cNvPr id="270" name="Shape"/>
          <p:cNvSpPr/>
          <p:nvPr/>
        </p:nvSpPr>
        <p:spPr>
          <a:xfrm>
            <a:off x="9075420" y="2049304"/>
            <a:ext cx="1894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7722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E87722"/>
                </a:solidFill>
                <a:latin typeface="Times New Roman"/>
                <a:cs typeface="Times New Roman"/>
              </a:rPr>
              <a:t>$14 400</a:t>
            </a:r>
          </a:p>
        </p:txBody>
      </p:sp>
      <p:sp>
        <p:nvSpPr>
          <p:cNvPr id="271" name="TextBox"/>
          <p:cNvSpPr txBox="1"/>
          <p:nvPr/>
        </p:nvSpPr>
        <p:spPr>
          <a:xfrm>
            <a:off x="8155432" y="2588800"/>
            <a:ext cx="3734816" cy="4046336"/>
          </a:xfrm>
          <a:prstGeom prst="rect">
            <a:avLst/>
          </a:prstGeom>
          <a:noFill/>
        </p:spPr>
        <p:txBody>
          <a:bodyPr wrap="square" lIns="27432" tIns="18288" rIns="27432" bIns="18288" anchor="ctr"/>
          <a:lstStyle/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Виртуальный программный комплекс "Устройство, принцип работы и рабочие процессы турбореактивного двигателя ПС-90-А"  ($  4 800)</a:t>
            </a:r>
          </a:p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Виртуальный учебный комплекс «Устройство, конструкция и принцип работы турбореактивного двигателя с физическим макетом»  ($ 6 300)</a:t>
            </a:r>
          </a:p>
          <a:p>
            <a:pPr algn="l">
              <a:spcAft>
                <a:spcPts val="240"/>
              </a:spcAft>
            </a:pPr>
            <a:r>
              <a:rPr sz="110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1100" b="0" i="0">
                <a:solidFill>
                  <a:srgbClr val="1A1F36"/>
                </a:solidFill>
                <a:latin typeface="Times New Roman"/>
                <a:cs typeface="Times New Roman"/>
              </a:rPr>
              <a:t>Виртуальный программный комплекс "Конструкция, оборудование и компоновка легкомоторного самолета"  ($ 3 300)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itle"/>
          <p:cNvSpPr>
            <a:spLocks noGrp="1"/>
          </p:cNvSpPr>
          <p:nvPr>
            <p:ph type="title" idx="105"/>
          </p:nvPr>
        </p:nvSpPr>
        <p:spPr>
          <a:xfrm>
            <a:off x="274320" y="27432"/>
            <a:ext cx="8778240" cy="530352"/>
          </a:xfrm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Times New Roman"/>
                <a:cs typeface="Times New Roman"/>
              </a:rPr>
              <a:t>ФАКУЛЬТЕТНИНГ ЛАБОРАТОРИЯ БАЗАСИГА ХАРИД ҚИЛИНАДИГАН ЖИҲОЗЛАР</a:t>
            </a:r>
          </a:p>
        </p:txBody>
      </p:sp>
      <p:sp>
        <p:nvSpPr>
          <p:cNvPr id="273" name="Pill"/>
          <p:cNvSpPr/>
          <p:nvPr/>
        </p:nvSpPr>
        <p:spPr>
          <a:xfrm>
            <a:off x="274320" y="760000"/>
            <a:ext cx="11643360" cy="457200"/>
          </a:xfrm>
          <a:prstGeom prst="roundRect">
            <a:avLst>
              <a:gd name="adj" fmla="val 18000"/>
            </a:avLst>
          </a:prstGeom>
          <a:solidFill>
            <a:srgbClr val="1B2A6B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“АВИАЦИЯ ИНЖИНИРИНГИ” лаборатория базасини ривожлантириш   ·   “Авиация инжиниринги (авиасозлик)” йўналиши — $192 360</a:t>
            </a:r>
          </a:p>
        </p:txBody>
      </p:sp>
      <p:sp>
        <p:nvSpPr>
          <p:cNvPr id="274" name="Card"/>
          <p:cNvSpPr/>
          <p:nvPr/>
        </p:nvSpPr>
        <p:spPr>
          <a:xfrm>
            <a:off x="274320" y="1354360"/>
            <a:ext cx="2248204" cy="53356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75" name="Pill"/>
          <p:cNvSpPr/>
          <p:nvPr/>
        </p:nvSpPr>
        <p:spPr>
          <a:xfrm>
            <a:off x="310896" y="1400080"/>
            <a:ext cx="2175052" cy="731520"/>
          </a:xfrm>
          <a:prstGeom prst="roundRect">
            <a:avLst>
              <a:gd name="adj" fmla="val 12000"/>
            </a:avLst>
          </a:prstGeom>
          <a:solidFill>
            <a:srgbClr val="2A7AC2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  <a:cs typeface="Times New Roman"/>
              </a:rPr>
              <a:t>“Учиш аппаратлари аэродинамикаси ва парвоз динамикаси” лабораторияси</a:t>
            </a:r>
          </a:p>
        </p:txBody>
      </p:sp>
      <p:sp>
        <p:nvSpPr>
          <p:cNvPr id="276" name="Shape"/>
          <p:cNvSpPr/>
          <p:nvPr/>
        </p:nvSpPr>
        <p:spPr>
          <a:xfrm>
            <a:off x="836371" y="2186464"/>
            <a:ext cx="112410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AC2"/>
                </a:solidFill>
                <a:latin typeface="Times New Roman"/>
                <a:cs typeface="Times New Roman"/>
              </a:rPr>
              <a:t>$23 400</a:t>
            </a:r>
          </a:p>
        </p:txBody>
      </p:sp>
      <p:sp>
        <p:nvSpPr>
          <p:cNvPr id="277" name="TextBox"/>
          <p:cNvSpPr txBox="1"/>
          <p:nvPr/>
        </p:nvSpPr>
        <p:spPr>
          <a:xfrm>
            <a:off x="301752" y="2725960"/>
            <a:ext cx="2193340" cy="3909176"/>
          </a:xfrm>
          <a:prstGeom prst="rect">
            <a:avLst/>
          </a:prstGeom>
          <a:noFill/>
        </p:spPr>
        <p:txBody>
          <a:bodyPr wrap="square" lIns="27432" tIns="18288" rIns="27432" bIns="18288" anchor="ctr"/>
          <a:lstStyle/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Лаборатория "Аэродинамика и аэромеханика ЛА"($ 6 200)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Учебно-исследовательский лабораторный комплекс «Труба аэродинамическая  прямоточная»   ЛК-ТАП-017-25-Р ($ 5 800)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Стенд «Измерение подъемной силы» ($ 1 000)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Стенд "Обтекание тел - дымовой аэродинамический канал"  ГД-ОТ-ДАЭК-014-Р ($ 6 400)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Стенд-планшет светодинамический "Аэродинамические характеристики самолета“ ($ 1 500)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Виртуальный программный комплекс "Аэродинамика самолета, механизация и аэродинамические силы, действующие на самолет“ ($ 2 500)</a:t>
            </a:r>
          </a:p>
        </p:txBody>
      </p:sp>
      <p:sp>
        <p:nvSpPr>
          <p:cNvPr id="278" name="Card"/>
          <p:cNvSpPr/>
          <p:nvPr/>
        </p:nvSpPr>
        <p:spPr>
          <a:xfrm>
            <a:off x="2623108" y="1354360"/>
            <a:ext cx="2248204" cy="53356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7A4FA3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79" name="Pill"/>
          <p:cNvSpPr/>
          <p:nvPr/>
        </p:nvSpPr>
        <p:spPr>
          <a:xfrm>
            <a:off x="2659684" y="1400080"/>
            <a:ext cx="2175052" cy="731520"/>
          </a:xfrm>
          <a:prstGeom prst="roundRect">
            <a:avLst>
              <a:gd name="adj" fmla="val 12000"/>
            </a:avLst>
          </a:prstGeom>
          <a:solidFill>
            <a:srgbClr val="7A4FA3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  <a:cs typeface="Times New Roman"/>
              </a:rPr>
              <a:t>“Газогидравлик аналогия” лабораторияси</a:t>
            </a:r>
          </a:p>
        </p:txBody>
      </p:sp>
      <p:sp>
        <p:nvSpPr>
          <p:cNvPr id="280" name="Shape"/>
          <p:cNvSpPr/>
          <p:nvPr/>
        </p:nvSpPr>
        <p:spPr>
          <a:xfrm>
            <a:off x="3185159" y="2186464"/>
            <a:ext cx="112410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A4FA3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7A4FA3"/>
                </a:solidFill>
                <a:latin typeface="Times New Roman"/>
                <a:cs typeface="Times New Roman"/>
              </a:rPr>
              <a:t>$11 200</a:t>
            </a:r>
          </a:p>
        </p:txBody>
      </p:sp>
      <p:sp>
        <p:nvSpPr>
          <p:cNvPr id="281" name="TextBox"/>
          <p:cNvSpPr txBox="1"/>
          <p:nvPr/>
        </p:nvSpPr>
        <p:spPr>
          <a:xfrm>
            <a:off x="2650540" y="2725960"/>
            <a:ext cx="2193340" cy="3909176"/>
          </a:xfrm>
          <a:prstGeom prst="rect">
            <a:avLst/>
          </a:prstGeom>
          <a:noFill/>
        </p:spPr>
        <p:txBody>
          <a:bodyPr wrap="square" lIns="27432" tIns="18288" rIns="27432" bIns="18288" anchor="ctr"/>
          <a:lstStyle/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7A4FA3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Цифровая камера ($  1 000)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7A4FA3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Цифровая камера Evercam 1000-4-М Макс ($ 4 200)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7A4FA3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Компьютер ($ 4 200)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7A4FA3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Телевизор ($ 1 800)</a:t>
            </a:r>
          </a:p>
        </p:txBody>
      </p:sp>
      <p:sp>
        <p:nvSpPr>
          <p:cNvPr id="282" name="Card"/>
          <p:cNvSpPr/>
          <p:nvPr/>
        </p:nvSpPr>
        <p:spPr>
          <a:xfrm>
            <a:off x="4971896" y="1354360"/>
            <a:ext cx="2248204" cy="53356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1B2A6B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83" name="Pill"/>
          <p:cNvSpPr/>
          <p:nvPr/>
        </p:nvSpPr>
        <p:spPr>
          <a:xfrm>
            <a:off x="5008472" y="1400080"/>
            <a:ext cx="2175052" cy="731520"/>
          </a:xfrm>
          <a:prstGeom prst="roundRect">
            <a:avLst>
              <a:gd name="adj" fmla="val 12000"/>
            </a:avLst>
          </a:prstGeom>
          <a:solidFill>
            <a:srgbClr val="1B2A6B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  <a:cs typeface="Times New Roman"/>
              </a:rPr>
              <a:t>“Авиасозлик” лабораторияси</a:t>
            </a:r>
          </a:p>
        </p:txBody>
      </p:sp>
      <p:sp>
        <p:nvSpPr>
          <p:cNvPr id="284" name="Shape"/>
          <p:cNvSpPr/>
          <p:nvPr/>
        </p:nvSpPr>
        <p:spPr>
          <a:xfrm>
            <a:off x="5533947" y="2186464"/>
            <a:ext cx="112410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2A6B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B2A6B"/>
                </a:solidFill>
                <a:latin typeface="Times New Roman"/>
                <a:cs typeface="Times New Roman"/>
              </a:rPr>
              <a:t>$59 400</a:t>
            </a:r>
          </a:p>
        </p:txBody>
      </p:sp>
      <p:sp>
        <p:nvSpPr>
          <p:cNvPr id="285" name="TextBox"/>
          <p:cNvSpPr txBox="1"/>
          <p:nvPr/>
        </p:nvSpPr>
        <p:spPr>
          <a:xfrm>
            <a:off x="4999328" y="2725960"/>
            <a:ext cx="2193340" cy="3909176"/>
          </a:xfrm>
          <a:prstGeom prst="rect">
            <a:avLst/>
          </a:prstGeom>
          <a:noFill/>
        </p:spPr>
        <p:txBody>
          <a:bodyPr wrap="square" lIns="27432" tIns="18288" rIns="27432" bIns="18288" anchor="ctr"/>
          <a:lstStyle/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1B2A6B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Токарно-винторезный станок JET GHB-1330A DRO ($ 18 000)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1B2A6B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Радиально-сверлильный станок  JET JRD-460 ($ 4 000)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1B2A6B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Настольный универсально-фрезерный станок JET JUM-X2  ($ 4 000)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1B2A6B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Комбинированный станок JET JKM-300 ($ 1 000)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1B2A6B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Настольный учебный токарный станок с компьютерной системой ЧПУ  (класса PCNC) ($ 6 200)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1B2A6B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Учебный фрезерный 5-осевой станок с ЧПУ (класса PCNC) и компьютерными 3D имитаторами токарного и фрезерного станков, марка «Микрон 5х-ЧПУ»($ 10 300)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1B2A6B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Твердомер Роквелла ТР 5008А  ($ 7 500)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1B2A6B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Микроскоп ММН-120A Girmax ($ 8 400)</a:t>
            </a:r>
          </a:p>
        </p:txBody>
      </p:sp>
      <p:sp>
        <p:nvSpPr>
          <p:cNvPr id="286" name="Card"/>
          <p:cNvSpPr/>
          <p:nvPr/>
        </p:nvSpPr>
        <p:spPr>
          <a:xfrm>
            <a:off x="7320684" y="1354360"/>
            <a:ext cx="2248204" cy="53356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39B45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87" name="Pill"/>
          <p:cNvSpPr/>
          <p:nvPr/>
        </p:nvSpPr>
        <p:spPr>
          <a:xfrm>
            <a:off x="7357260" y="1400080"/>
            <a:ext cx="2175052" cy="731520"/>
          </a:xfrm>
          <a:prstGeom prst="roundRect">
            <a:avLst>
              <a:gd name="adj" fmla="val 12000"/>
            </a:avLst>
          </a:prstGeom>
          <a:solidFill>
            <a:srgbClr val="239B45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  <a:cs typeface="Times New Roman"/>
              </a:rPr>
              <a:t>“Учиш аппаратлари конструкцияси” лабораторияси</a:t>
            </a:r>
          </a:p>
        </p:txBody>
      </p:sp>
      <p:sp>
        <p:nvSpPr>
          <p:cNvPr id="288" name="Shape"/>
          <p:cNvSpPr/>
          <p:nvPr/>
        </p:nvSpPr>
        <p:spPr>
          <a:xfrm>
            <a:off x="7882735" y="2186464"/>
            <a:ext cx="112410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39B45"/>
                </a:solidFill>
                <a:latin typeface="Times New Roman"/>
                <a:cs typeface="Times New Roman"/>
              </a:rPr>
              <a:t>$37 760</a:t>
            </a:r>
          </a:p>
        </p:txBody>
      </p:sp>
      <p:sp>
        <p:nvSpPr>
          <p:cNvPr id="289" name="TextBox"/>
          <p:cNvSpPr txBox="1"/>
          <p:nvPr/>
        </p:nvSpPr>
        <p:spPr>
          <a:xfrm>
            <a:off x="7348116" y="2725960"/>
            <a:ext cx="2193340" cy="3909176"/>
          </a:xfrm>
          <a:prstGeom prst="rect">
            <a:avLst/>
          </a:prstGeom>
          <a:noFill/>
        </p:spPr>
        <p:txBody>
          <a:bodyPr wrap="square" lIns="27432" tIns="18288" rIns="27432" bIns="18288" anchor="ctr"/>
          <a:lstStyle/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Стенд-тренажер авиационной гидравлической системы «Шасси самолета» Модель СТ-ГС-ШС-016-6ЛР-ПК ($ 3 800)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Виртуальный программный комплекс "Конструкция, оборудование и компоновка легкомоторного самолета"($ 3 200)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Виртуальный учебный комплекс «Конструкция, устройство и системы вертолетов Ми-8 и Ми-24» ($ 8 100)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Стенд-тренажер авиационной гидравлической системы «Закрылок самолета" СТ-ГС-ЗС-016-6ЛР-ПК» ($ 20 300)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Стенд-планшет светодинамический "Система управления створками реверса турбореактивного двигателя" ($ 1 500)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Комплект плакатов (16 шт) и Электронные плакаты на CD (188 шт.)по курсу «Гидравлика и гидропривод» 560х800 мм ($ 860)</a:t>
            </a:r>
          </a:p>
        </p:txBody>
      </p:sp>
      <p:sp>
        <p:nvSpPr>
          <p:cNvPr id="290" name="Card"/>
          <p:cNvSpPr/>
          <p:nvPr/>
        </p:nvSpPr>
        <p:spPr>
          <a:xfrm>
            <a:off x="9669472" y="1354360"/>
            <a:ext cx="2248204" cy="53356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E8772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91" name="Pill"/>
          <p:cNvSpPr/>
          <p:nvPr/>
        </p:nvSpPr>
        <p:spPr>
          <a:xfrm>
            <a:off x="9706048" y="1400080"/>
            <a:ext cx="2175052" cy="731520"/>
          </a:xfrm>
          <a:prstGeom prst="roundRect">
            <a:avLst>
              <a:gd name="adj" fmla="val 12000"/>
            </a:avLst>
          </a:prstGeom>
          <a:solidFill>
            <a:srgbClr val="E87722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  <a:cs typeface="Times New Roman"/>
              </a:rPr>
              <a:t>“Компьютерли лойиҳалаш” лабораторияси</a:t>
            </a:r>
          </a:p>
        </p:txBody>
      </p:sp>
      <p:sp>
        <p:nvSpPr>
          <p:cNvPr id="292" name="Shape"/>
          <p:cNvSpPr/>
          <p:nvPr/>
        </p:nvSpPr>
        <p:spPr>
          <a:xfrm>
            <a:off x="10231523" y="2186464"/>
            <a:ext cx="112410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7722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E87722"/>
                </a:solidFill>
                <a:latin typeface="Times New Roman"/>
                <a:cs typeface="Times New Roman"/>
              </a:rPr>
              <a:t>$60 600</a:t>
            </a:r>
          </a:p>
        </p:txBody>
      </p:sp>
      <p:sp>
        <p:nvSpPr>
          <p:cNvPr id="293" name="TextBox"/>
          <p:cNvSpPr txBox="1"/>
          <p:nvPr/>
        </p:nvSpPr>
        <p:spPr>
          <a:xfrm>
            <a:off x="9696904" y="2725960"/>
            <a:ext cx="2193340" cy="3909176"/>
          </a:xfrm>
          <a:prstGeom prst="rect">
            <a:avLst/>
          </a:prstGeom>
          <a:noFill/>
        </p:spPr>
        <p:txBody>
          <a:bodyPr wrap="square" lIns="27432" tIns="18288" rIns="27432" bIns="18288" anchor="ctr"/>
          <a:lstStyle/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Компьютер для учебного класса (15 комплект) ($ 30 000)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Монитор ($ 2 400)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Плоттер Canon imagePROGRAF TM-300 ($ 2 500)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Проектор ($ 800)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3D принтер ($ 4 500)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3D сканер ($ 18 000)</a:t>
            </a:r>
          </a:p>
          <a:p>
            <a:pPr algn="l">
              <a:spcAft>
                <a:spcPts val="160"/>
              </a:spcAft>
            </a:pPr>
            <a:r>
              <a:rPr sz="90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▪ </a:t>
            </a:r>
            <a:r>
              <a:rPr sz="900" b="0" i="0">
                <a:solidFill>
                  <a:srgbClr val="1A1F36"/>
                </a:solidFill>
                <a:latin typeface="Times New Roman"/>
                <a:cs typeface="Times New Roman"/>
              </a:rPr>
              <a:t>Моноблок ($ 2 400)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itle"/>
          <p:cNvSpPr>
            <a:spLocks noGrp="1"/>
          </p:cNvSpPr>
          <p:nvPr>
            <p:ph type="title" idx="105"/>
          </p:nvPr>
        </p:nvSpPr>
        <p:spPr>
          <a:xfrm>
            <a:off x="274320" y="27432"/>
            <a:ext cx="8778240" cy="530352"/>
          </a:xfrm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Times New Roman"/>
                <a:cs typeface="Times New Roman"/>
              </a:rPr>
              <a:t>ФАКУЛЬТЕТНИНГ ЛАБОРАТОРИЯ БАЗАСИГА ХАРИД ҚИЛИНАДИГАН ЖИҲОЗЛАР</a:t>
            </a:r>
          </a:p>
        </p:txBody>
      </p:sp>
      <p:sp>
        <p:nvSpPr>
          <p:cNvPr id="295" name="Pill"/>
          <p:cNvSpPr/>
          <p:nvPr/>
        </p:nvSpPr>
        <p:spPr>
          <a:xfrm>
            <a:off x="274320" y="760000"/>
            <a:ext cx="11643360" cy="457200"/>
          </a:xfrm>
          <a:prstGeom prst="roundRect">
            <a:avLst>
              <a:gd name="adj" fmla="val 18000"/>
            </a:avLst>
          </a:prstGeom>
          <a:solidFill>
            <a:srgbClr val="1B2A6B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“АЭРОНАВИГАЦИЯ ТИЗИМЛАРИ” лаборатория базасини ривожлантириш   ·   “Радиоэлектрон қурилмалар ва тизимлар (авиация соҳаси) — $ 32.012</a:t>
            </a:r>
          </a:p>
        </p:txBody>
      </p:sp>
      <p:sp>
        <p:nvSpPr>
          <p:cNvPr id="296" name="Card"/>
          <p:cNvSpPr/>
          <p:nvPr/>
        </p:nvSpPr>
        <p:spPr>
          <a:xfrm>
            <a:off x="274320" y="1354360"/>
            <a:ext cx="5753100" cy="53356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97" name="Pill"/>
          <p:cNvSpPr/>
          <p:nvPr/>
        </p:nvSpPr>
        <p:spPr>
          <a:xfrm>
            <a:off x="310896" y="1400080"/>
            <a:ext cx="5679948" cy="594360"/>
          </a:xfrm>
          <a:prstGeom prst="roundRect">
            <a:avLst>
              <a:gd name="adj" fmla="val 12000"/>
            </a:avLst>
          </a:prstGeom>
          <a:solidFill>
            <a:srgbClr val="2A7AC2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  <a:cs typeface="Times New Roman"/>
              </a:rPr>
              <a:t>“Радиоэлектрон қурилмалар” лабораторияси</a:t>
            </a:r>
          </a:p>
        </p:txBody>
      </p:sp>
      <p:sp>
        <p:nvSpPr>
          <p:cNvPr id="298" name="Shape"/>
          <p:cNvSpPr/>
          <p:nvPr/>
        </p:nvSpPr>
        <p:spPr>
          <a:xfrm>
            <a:off x="1712595" y="2049304"/>
            <a:ext cx="287655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7AC2"/>
                </a:solidFill>
                <a:latin typeface="Times New Roman"/>
                <a:cs typeface="Times New Roman"/>
              </a:rPr>
              <a:t>$10 550</a:t>
            </a:r>
          </a:p>
        </p:txBody>
      </p:sp>
      <p:sp>
        <p:nvSpPr>
          <p:cNvPr id="299" name="TextBox"/>
          <p:cNvSpPr txBox="1"/>
          <p:nvPr/>
        </p:nvSpPr>
        <p:spPr>
          <a:xfrm>
            <a:off x="301752" y="2588800"/>
            <a:ext cx="5698236" cy="4046336"/>
          </a:xfrm>
          <a:prstGeom prst="rect">
            <a:avLst/>
          </a:prstGeom>
          <a:noFill/>
        </p:spPr>
        <p:txBody>
          <a:bodyPr wrap="square" lIns="27432" tIns="18288" rIns="27432" bIns="18288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ЭЦ-ПТ-МР типли қўлда бошқариладиган,  «Ўзгармас ток электр занжири" ўқув жиҳозлари тўплами» ($ 672)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РА-Л-МРЦ  типли қўлда бошқариладиган «Радиоавтоматика - чизиқли узлуксиз ва импулсли тизимлар» ўқув жиҳозлари тўплами ($ 2 593)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Типовой комплект учебного оборудования "Основы цифровой и микропроцессорной техники", исполнение моноблочное ручное с цифровым осциллографом, ОЦиМПТ-МРЦ ($ 1 428)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«Радиотехниканинг назарий асослари» ўқув жиҳозларининг  тўплами ($ 4 700)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АНТ-ПАР  "Параболик антенна" лаборатория стенди ($ 1 157)</a:t>
            </a:r>
          </a:p>
        </p:txBody>
      </p:sp>
      <p:sp>
        <p:nvSpPr>
          <p:cNvPr id="300" name="Card"/>
          <p:cNvSpPr/>
          <p:nvPr/>
        </p:nvSpPr>
        <p:spPr>
          <a:xfrm>
            <a:off x="6164580" y="1354360"/>
            <a:ext cx="5753100" cy="53356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39B45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01" name="Pill"/>
          <p:cNvSpPr/>
          <p:nvPr/>
        </p:nvSpPr>
        <p:spPr>
          <a:xfrm>
            <a:off x="6201156" y="1400080"/>
            <a:ext cx="5679948" cy="594360"/>
          </a:xfrm>
          <a:prstGeom prst="roundRect">
            <a:avLst>
              <a:gd name="adj" fmla="val 12000"/>
            </a:avLst>
          </a:prstGeom>
          <a:solidFill>
            <a:srgbClr val="239B45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  <a:cs typeface="Times New Roman"/>
              </a:rPr>
              <a:t>“Электроника ва схематехника” лабораторияси</a:t>
            </a:r>
          </a:p>
        </p:txBody>
      </p:sp>
      <p:sp>
        <p:nvSpPr>
          <p:cNvPr id="302" name="Shape"/>
          <p:cNvSpPr/>
          <p:nvPr/>
        </p:nvSpPr>
        <p:spPr>
          <a:xfrm>
            <a:off x="7602855" y="2049304"/>
            <a:ext cx="287655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39B45"/>
                </a:solidFill>
                <a:latin typeface="Times New Roman"/>
                <a:cs typeface="Times New Roman"/>
              </a:rPr>
              <a:t>$21 462</a:t>
            </a:r>
          </a:p>
        </p:txBody>
      </p:sp>
      <p:sp>
        <p:nvSpPr>
          <p:cNvPr id="303" name="TextBox"/>
          <p:cNvSpPr txBox="1"/>
          <p:nvPr/>
        </p:nvSpPr>
        <p:spPr>
          <a:xfrm>
            <a:off x="6192012" y="2588800"/>
            <a:ext cx="5698236" cy="4046336"/>
          </a:xfrm>
          <a:prstGeom prst="rect">
            <a:avLst/>
          </a:prstGeom>
          <a:noFill/>
        </p:spPr>
        <p:txBody>
          <a:bodyPr wrap="square" lIns="27432" tIns="18288" rIns="27432" bIns="18288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Набор инструментов для электрического паяльника с регулируемой температурой «БУЛЕ» х20 шт ($ 150)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Паяльная станция 1000w 861DW х4 шт ($ 1 555)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Плата Arduino для реализации проектов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Набор радиодеталей EPOT ELECTRONICS ($ 1 157)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DVB-T/T2 учун ИТ-15Т2 сигнал анализатори ($ 600)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Учебный лабораторный стенд «Основы электроники и схемотехники» ($ 11 000)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«Комплект лабораторного оборудования «Радиотехнические цепи и сигналы» ($ 7 000)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itle"/>
          <p:cNvSpPr>
            <a:spLocks noGrp="1"/>
          </p:cNvSpPr>
          <p:nvPr>
            <p:ph type="title" idx="105"/>
          </p:nvPr>
        </p:nvSpPr>
        <p:spPr>
          <a:xfrm>
            <a:off x="274320" y="27432"/>
            <a:ext cx="8778240" cy="530352"/>
          </a:xfrm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Times New Roman"/>
                <a:cs typeface="Times New Roman"/>
              </a:rPr>
              <a:t>ФАКУЛЬТЕТНИНГ ЛАБОРАТОРИЯ БАЗАСИГА ХАРИД ҚИЛИНАДИГАН ЖИҲОЗЛАР</a:t>
            </a:r>
          </a:p>
        </p:txBody>
      </p:sp>
      <p:sp>
        <p:nvSpPr>
          <p:cNvPr id="305" name="Pill"/>
          <p:cNvSpPr/>
          <p:nvPr/>
        </p:nvSpPr>
        <p:spPr>
          <a:xfrm>
            <a:off x="274320" y="760000"/>
            <a:ext cx="11643360" cy="457200"/>
          </a:xfrm>
          <a:prstGeom prst="roundRect">
            <a:avLst>
              <a:gd name="adj" fmla="val 18000"/>
            </a:avLst>
          </a:prstGeom>
          <a:solidFill>
            <a:srgbClr val="1B2A6B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“АЭРОНАВИГАЦИЯ ТИЗИМЛАРИ” лаборатория базасини ривожлантириш</a:t>
            </a:r>
          </a:p>
        </p:txBody>
      </p:sp>
      <p:sp>
        <p:nvSpPr>
          <p:cNvPr id="306" name="Pill"/>
          <p:cNvSpPr/>
          <p:nvPr/>
        </p:nvSpPr>
        <p:spPr>
          <a:xfrm>
            <a:off x="274320" y="1354360"/>
            <a:ext cx="11643360" cy="502920"/>
          </a:xfrm>
          <a:prstGeom prst="roundRect">
            <a:avLst>
              <a:gd name="adj" fmla="val 18000"/>
            </a:avLst>
          </a:prstGeom>
          <a:solidFill>
            <a:srgbClr val="2A7AC2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</a:rPr>
              <a:t>“Компьютерли лойиҳалаш ва дастурлаш” (космик технологиялар соҳаси)   —   $52 500</a:t>
            </a:r>
          </a:p>
        </p:txBody>
      </p:sp>
      <p:sp>
        <p:nvSpPr>
          <p:cNvPr id="307" name="Card"/>
          <p:cNvSpPr/>
          <p:nvPr/>
        </p:nvSpPr>
        <p:spPr>
          <a:xfrm>
            <a:off x="274320" y="1994440"/>
            <a:ext cx="11643360" cy="50750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08" name="Badge"/>
          <p:cNvSpPr/>
          <p:nvPr/>
        </p:nvSpPr>
        <p:spPr>
          <a:xfrm>
            <a:off x="342900" y="2065314"/>
            <a:ext cx="365760" cy="365760"/>
          </a:xfrm>
          <a:prstGeom prst="ellipse">
            <a:avLst/>
          </a:prstGeom>
          <a:solidFill>
            <a:srgbClr val="2A7AC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309" name="TextBox"/>
          <p:cNvSpPr txBox="1"/>
          <p:nvPr/>
        </p:nvSpPr>
        <p:spPr>
          <a:xfrm>
            <a:off x="822960" y="1994440"/>
            <a:ext cx="11003280" cy="507508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Ўқув аудиторияга компьютерлар(Талаб этиладиган маблағ 48 шт. –  $ 48 000)</a:t>
            </a:r>
          </a:p>
        </p:txBody>
      </p:sp>
      <p:sp>
        <p:nvSpPr>
          <p:cNvPr id="310" name="Card"/>
          <p:cNvSpPr/>
          <p:nvPr/>
        </p:nvSpPr>
        <p:spPr>
          <a:xfrm>
            <a:off x="274320" y="2570528"/>
            <a:ext cx="11643360" cy="50750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11" name="Badge"/>
          <p:cNvSpPr/>
          <p:nvPr/>
        </p:nvSpPr>
        <p:spPr>
          <a:xfrm>
            <a:off x="342900" y="2641402"/>
            <a:ext cx="365760" cy="365760"/>
          </a:xfrm>
          <a:prstGeom prst="ellipse">
            <a:avLst/>
          </a:prstGeom>
          <a:solidFill>
            <a:srgbClr val="2A7AC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312" name="TextBox"/>
          <p:cNvSpPr txBox="1"/>
          <p:nvPr/>
        </p:nvSpPr>
        <p:spPr>
          <a:xfrm>
            <a:off x="822960" y="2570528"/>
            <a:ext cx="11003280" cy="507508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Лазер принтер (Талаб этиладиган маблағ 2шт. –  $ 2 000)</a:t>
            </a:r>
          </a:p>
        </p:txBody>
      </p:sp>
      <p:sp>
        <p:nvSpPr>
          <p:cNvPr id="313" name="Card"/>
          <p:cNvSpPr/>
          <p:nvPr/>
        </p:nvSpPr>
        <p:spPr>
          <a:xfrm>
            <a:off x="274320" y="3146616"/>
            <a:ext cx="11643360" cy="50750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14" name="Badge"/>
          <p:cNvSpPr/>
          <p:nvPr/>
        </p:nvSpPr>
        <p:spPr>
          <a:xfrm>
            <a:off x="342900" y="3217490"/>
            <a:ext cx="365760" cy="365760"/>
          </a:xfrm>
          <a:prstGeom prst="ellipse">
            <a:avLst/>
          </a:prstGeom>
          <a:solidFill>
            <a:srgbClr val="2A7AC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315" name="TextBox"/>
          <p:cNvSpPr txBox="1"/>
          <p:nvPr/>
        </p:nvSpPr>
        <p:spPr>
          <a:xfrm>
            <a:off x="822960" y="3146616"/>
            <a:ext cx="11003280" cy="507508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Проектор   (Талаб этиладиган маблағ 2шт. –  $ 2 000)</a:t>
            </a:r>
          </a:p>
        </p:txBody>
      </p:sp>
      <p:sp>
        <p:nvSpPr>
          <p:cNvPr id="316" name="Card"/>
          <p:cNvSpPr/>
          <p:nvPr/>
        </p:nvSpPr>
        <p:spPr>
          <a:xfrm>
            <a:off x="274320" y="3722704"/>
            <a:ext cx="11643360" cy="50750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17" name="Badge"/>
          <p:cNvSpPr/>
          <p:nvPr/>
        </p:nvSpPr>
        <p:spPr>
          <a:xfrm>
            <a:off x="342900" y="3793578"/>
            <a:ext cx="365760" cy="365760"/>
          </a:xfrm>
          <a:prstGeom prst="ellipse">
            <a:avLst/>
          </a:prstGeom>
          <a:solidFill>
            <a:srgbClr val="2A7AC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318" name="TextBox"/>
          <p:cNvSpPr txBox="1"/>
          <p:nvPr/>
        </p:nvSpPr>
        <p:spPr>
          <a:xfrm>
            <a:off x="822960" y="3722704"/>
            <a:ext cx="11003280" cy="507508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3D сканер (Талаб этиладиган маблағ 1шт. –  $ 6 000)</a:t>
            </a:r>
          </a:p>
        </p:txBody>
      </p:sp>
      <p:sp>
        <p:nvSpPr>
          <p:cNvPr id="319" name="Card"/>
          <p:cNvSpPr/>
          <p:nvPr/>
        </p:nvSpPr>
        <p:spPr>
          <a:xfrm>
            <a:off x="274320" y="4298792"/>
            <a:ext cx="11643360" cy="50750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20" name="Badge"/>
          <p:cNvSpPr/>
          <p:nvPr/>
        </p:nvSpPr>
        <p:spPr>
          <a:xfrm>
            <a:off x="342900" y="4369666"/>
            <a:ext cx="365760" cy="365760"/>
          </a:xfrm>
          <a:prstGeom prst="ellipse">
            <a:avLst/>
          </a:prstGeom>
          <a:solidFill>
            <a:srgbClr val="2A7AC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321" name="TextBox"/>
          <p:cNvSpPr txBox="1"/>
          <p:nvPr/>
        </p:nvSpPr>
        <p:spPr>
          <a:xfrm>
            <a:off x="822960" y="4298792"/>
            <a:ext cx="11003280" cy="507508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3D принтер (Талаб этиладиган маблағ 1шт. –  $ 6 000)</a:t>
            </a:r>
          </a:p>
        </p:txBody>
      </p:sp>
      <p:sp>
        <p:nvSpPr>
          <p:cNvPr id="322" name="Card"/>
          <p:cNvSpPr/>
          <p:nvPr/>
        </p:nvSpPr>
        <p:spPr>
          <a:xfrm>
            <a:off x="274320" y="4874880"/>
            <a:ext cx="11643360" cy="50750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23" name="Badge"/>
          <p:cNvSpPr/>
          <p:nvPr/>
        </p:nvSpPr>
        <p:spPr>
          <a:xfrm>
            <a:off x="342900" y="4945754"/>
            <a:ext cx="365760" cy="365760"/>
          </a:xfrm>
          <a:prstGeom prst="ellipse">
            <a:avLst/>
          </a:prstGeom>
          <a:solidFill>
            <a:srgbClr val="2A7AC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324" name="TextBox"/>
          <p:cNvSpPr txBox="1"/>
          <p:nvPr/>
        </p:nvSpPr>
        <p:spPr>
          <a:xfrm>
            <a:off x="822960" y="4874880"/>
            <a:ext cx="11003280" cy="507508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Колонкалар аудиторияга(Талаб этиладиган маблағ 1 комп. –  $ 1 500)</a:t>
            </a:r>
          </a:p>
        </p:txBody>
      </p:sp>
      <p:sp>
        <p:nvSpPr>
          <p:cNvPr id="325" name="Card"/>
          <p:cNvSpPr/>
          <p:nvPr/>
        </p:nvSpPr>
        <p:spPr>
          <a:xfrm>
            <a:off x="274320" y="5450968"/>
            <a:ext cx="11643360" cy="50750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26" name="Badge"/>
          <p:cNvSpPr/>
          <p:nvPr/>
        </p:nvSpPr>
        <p:spPr>
          <a:xfrm>
            <a:off x="342900" y="5521842"/>
            <a:ext cx="365760" cy="365760"/>
          </a:xfrm>
          <a:prstGeom prst="ellipse">
            <a:avLst/>
          </a:prstGeom>
          <a:solidFill>
            <a:srgbClr val="2A7AC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327" name="TextBox"/>
          <p:cNvSpPr txBox="1"/>
          <p:nvPr/>
        </p:nvSpPr>
        <p:spPr>
          <a:xfrm>
            <a:off x="822960" y="5450968"/>
            <a:ext cx="11003280" cy="507508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Роутер(Талаб этиладиган маблағ 2 шт. –  $ 1 000)</a:t>
            </a:r>
          </a:p>
        </p:txBody>
      </p:sp>
      <p:sp>
        <p:nvSpPr>
          <p:cNvPr id="328" name="Shape"/>
          <p:cNvSpPr/>
          <p:nvPr/>
        </p:nvSpPr>
        <p:spPr>
          <a:xfrm>
            <a:off x="274320" y="6095640"/>
            <a:ext cx="11643360" cy="548640"/>
          </a:xfrm>
          <a:prstGeom prst="roundRect">
            <a:avLst>
              <a:gd name="adj" fmla="val 12000"/>
            </a:avLst>
          </a:prstGeom>
          <a:solidFill>
            <a:srgbClr val="2A7AC2"/>
          </a:solidFill>
          <a:ln>
            <a:noFill/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Жами талаб этиладиган маблағ –  $ 52 500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itle"/>
          <p:cNvSpPr>
            <a:spLocks noGrp="1"/>
          </p:cNvSpPr>
          <p:nvPr>
            <p:ph type="title" idx="105"/>
          </p:nvPr>
        </p:nvSpPr>
        <p:spPr>
          <a:xfrm>
            <a:off x="274320" y="27432"/>
            <a:ext cx="8778240" cy="530352"/>
          </a:xfrm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Times New Roman"/>
                <a:cs typeface="Times New Roman"/>
              </a:rPr>
              <a:t>ФАКУЛЬТЕТНИНГ ЛАБОРАТОРИЯ БАЗАСИГА ХАРИД ҚИЛИНАДИГАН ЖИҲОЗЛАР</a:t>
            </a:r>
          </a:p>
        </p:txBody>
      </p:sp>
      <p:sp>
        <p:nvSpPr>
          <p:cNvPr id="330" name="Pill"/>
          <p:cNvSpPr/>
          <p:nvPr/>
        </p:nvSpPr>
        <p:spPr>
          <a:xfrm>
            <a:off x="274320" y="760000"/>
            <a:ext cx="11643360" cy="457200"/>
          </a:xfrm>
          <a:prstGeom prst="roundRect">
            <a:avLst>
              <a:gd name="adj" fmla="val 18000"/>
            </a:avLst>
          </a:prstGeom>
          <a:solidFill>
            <a:srgbClr val="1B2A6B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“АЭРОНАВИГАЦИЯ ТИЗИМЛАРИ” лаборатория базасини ривожлантириш</a:t>
            </a:r>
          </a:p>
        </p:txBody>
      </p:sp>
      <p:sp>
        <p:nvSpPr>
          <p:cNvPr id="331" name="Pill"/>
          <p:cNvSpPr/>
          <p:nvPr/>
        </p:nvSpPr>
        <p:spPr>
          <a:xfrm>
            <a:off x="274320" y="1354360"/>
            <a:ext cx="11643360" cy="502920"/>
          </a:xfrm>
          <a:prstGeom prst="roundRect">
            <a:avLst>
              <a:gd name="adj" fmla="val 18000"/>
            </a:avLst>
          </a:prstGeom>
          <a:solidFill>
            <a:srgbClr val="7A4FA3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</a:rPr>
              <a:t>“Кичик сунъий йўлдошлар конструкцияси” (космик технологиялар  соҳаси)   —   $60 000</a:t>
            </a:r>
          </a:p>
        </p:txBody>
      </p:sp>
      <p:sp>
        <p:nvSpPr>
          <p:cNvPr id="332" name="Card"/>
          <p:cNvSpPr/>
          <p:nvPr/>
        </p:nvSpPr>
        <p:spPr>
          <a:xfrm>
            <a:off x="274320" y="1994440"/>
            <a:ext cx="11643360" cy="939575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7A4FA3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33" name="Badge"/>
          <p:cNvSpPr/>
          <p:nvPr/>
        </p:nvSpPr>
        <p:spPr>
          <a:xfrm>
            <a:off x="342900" y="2281347"/>
            <a:ext cx="365760" cy="365760"/>
          </a:xfrm>
          <a:prstGeom prst="ellipse">
            <a:avLst/>
          </a:prstGeom>
          <a:solidFill>
            <a:srgbClr val="7A4FA3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334" name="TextBox"/>
          <p:cNvSpPr txBox="1"/>
          <p:nvPr/>
        </p:nvSpPr>
        <p:spPr>
          <a:xfrm>
            <a:off x="822960" y="1994440"/>
            <a:ext cx="11003280" cy="939575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Кичик спутник CubeSat(Талаб этиладиган маблағ 1 шт. –  $ 30 000)</a:t>
            </a:r>
          </a:p>
        </p:txBody>
      </p:sp>
      <p:sp>
        <p:nvSpPr>
          <p:cNvPr id="335" name="Card"/>
          <p:cNvSpPr/>
          <p:nvPr/>
        </p:nvSpPr>
        <p:spPr>
          <a:xfrm>
            <a:off x="274320" y="3002595"/>
            <a:ext cx="11643360" cy="939575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7A4FA3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36" name="Badge"/>
          <p:cNvSpPr/>
          <p:nvPr/>
        </p:nvSpPr>
        <p:spPr>
          <a:xfrm>
            <a:off x="342900" y="3289502"/>
            <a:ext cx="365760" cy="365760"/>
          </a:xfrm>
          <a:prstGeom prst="ellipse">
            <a:avLst/>
          </a:prstGeom>
          <a:solidFill>
            <a:srgbClr val="7A4FA3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337" name="TextBox"/>
          <p:cNvSpPr txBox="1"/>
          <p:nvPr/>
        </p:nvSpPr>
        <p:spPr>
          <a:xfrm>
            <a:off x="822960" y="3002595"/>
            <a:ext cx="11003280" cy="939575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Йўналиш, барқарорлаш ва навигация тизимларини синаш учун ярим табиий моделлаштириш стенди(Талаб этиладиган маблағ 2шт. –  $ 12 000)</a:t>
            </a:r>
          </a:p>
        </p:txBody>
      </p:sp>
      <p:sp>
        <p:nvSpPr>
          <p:cNvPr id="338" name="Card"/>
          <p:cNvSpPr/>
          <p:nvPr/>
        </p:nvSpPr>
        <p:spPr>
          <a:xfrm>
            <a:off x="274320" y="4010750"/>
            <a:ext cx="11643360" cy="939575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7A4FA3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39" name="Badge"/>
          <p:cNvSpPr/>
          <p:nvPr/>
        </p:nvSpPr>
        <p:spPr>
          <a:xfrm>
            <a:off x="342900" y="4297657"/>
            <a:ext cx="365760" cy="365760"/>
          </a:xfrm>
          <a:prstGeom prst="ellipse">
            <a:avLst/>
          </a:prstGeom>
          <a:solidFill>
            <a:srgbClr val="7A4FA3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340" name="TextBox"/>
          <p:cNvSpPr txBox="1"/>
          <p:nvPr/>
        </p:nvSpPr>
        <p:spPr>
          <a:xfrm>
            <a:off x="822960" y="4010750"/>
            <a:ext cx="11003280" cy="939575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Плазма двигатели VERA МИФИ(Талаб этиладиган маблағ 1шт. –  $ 8 000)</a:t>
            </a:r>
          </a:p>
        </p:txBody>
      </p:sp>
      <p:sp>
        <p:nvSpPr>
          <p:cNvPr id="341" name="Card"/>
          <p:cNvSpPr/>
          <p:nvPr/>
        </p:nvSpPr>
        <p:spPr>
          <a:xfrm>
            <a:off x="274320" y="5018905"/>
            <a:ext cx="11643360" cy="939575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7A4FA3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42" name="Badge"/>
          <p:cNvSpPr/>
          <p:nvPr/>
        </p:nvSpPr>
        <p:spPr>
          <a:xfrm>
            <a:off x="342900" y="5305812"/>
            <a:ext cx="365760" cy="365760"/>
          </a:xfrm>
          <a:prstGeom prst="ellipse">
            <a:avLst/>
          </a:prstGeom>
          <a:solidFill>
            <a:srgbClr val="7A4FA3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343" name="TextBox"/>
          <p:cNvSpPr txBox="1"/>
          <p:nvPr/>
        </p:nvSpPr>
        <p:spPr>
          <a:xfrm>
            <a:off x="822960" y="5018905"/>
            <a:ext cx="11003280" cy="939575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Қуёш датчикларини калибрлаш стенди.(Талаб этиладиган маблағ 1шт. –  $ 10 000)</a:t>
            </a:r>
          </a:p>
        </p:txBody>
      </p:sp>
      <p:sp>
        <p:nvSpPr>
          <p:cNvPr id="344" name="Shape"/>
          <p:cNvSpPr/>
          <p:nvPr/>
        </p:nvSpPr>
        <p:spPr>
          <a:xfrm>
            <a:off x="274320" y="6095640"/>
            <a:ext cx="11643360" cy="548640"/>
          </a:xfrm>
          <a:prstGeom prst="roundRect">
            <a:avLst>
              <a:gd name="adj" fmla="val 12000"/>
            </a:avLst>
          </a:prstGeom>
          <a:solidFill>
            <a:srgbClr val="7A4FA3"/>
          </a:solidFill>
          <a:ln>
            <a:noFill/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Жами талаб этиладиган маблағ –  $ 60 000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itle"/>
          <p:cNvSpPr>
            <a:spLocks noGrp="1"/>
          </p:cNvSpPr>
          <p:nvPr>
            <p:ph type="title" idx="105"/>
          </p:nvPr>
        </p:nvSpPr>
        <p:spPr>
          <a:xfrm>
            <a:off x="274320" y="27432"/>
            <a:ext cx="8778240" cy="530352"/>
          </a:xfrm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ФУҚАРО АВИАЦИЯСИ УЧУВЧИЛАРИНИ ТАЙЁРЛАШ</a:t>
            </a:r>
          </a:p>
        </p:txBody>
      </p:sp>
      <p:sp>
        <p:nvSpPr>
          <p:cNvPr id="346" name="Pill"/>
          <p:cNvSpPr/>
          <p:nvPr/>
        </p:nvSpPr>
        <p:spPr>
          <a:xfrm>
            <a:off x="274320" y="760000"/>
            <a:ext cx="11643360" cy="457200"/>
          </a:xfrm>
          <a:prstGeom prst="roundRect">
            <a:avLst>
              <a:gd name="adj" fmla="val 18000"/>
            </a:avLst>
          </a:prstGeom>
          <a:solidFill>
            <a:srgbClr val="1B2A6B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  <a:cs typeface="Times New Roman"/>
              </a:rPr>
              <a:t>ЕТАКЧИ ХОРИЖИЙ АВИАЦИЯ ОЛИЙГОХЛАРИДА ФУҚАРО АВИАЦИЯСИ УЧУВЧИЛАРИНИ ТАЙЁРЛАШ ТИЗИМИ</a:t>
            </a:r>
          </a:p>
        </p:txBody>
      </p:sp>
      <p:sp>
        <p:nvSpPr>
          <p:cNvPr id="347" name="Card"/>
          <p:cNvSpPr/>
          <p:nvPr/>
        </p:nvSpPr>
        <p:spPr>
          <a:xfrm>
            <a:off x="274320" y="1354360"/>
            <a:ext cx="3759200" cy="19202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48" name="Pill"/>
          <p:cNvSpPr/>
          <p:nvPr/>
        </p:nvSpPr>
        <p:spPr>
          <a:xfrm>
            <a:off x="320040" y="1400080"/>
            <a:ext cx="3667760" cy="457200"/>
          </a:xfrm>
          <a:prstGeom prst="roundRect">
            <a:avLst>
              <a:gd name="adj" fmla="val 16000"/>
            </a:avLst>
          </a:prstGeom>
          <a:solidFill>
            <a:srgbClr val="2A7AC2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КОРЕЯ АЭРОКОСМИК УНИВЕРСИТЕТИ</a:t>
            </a:r>
          </a:p>
        </p:txBody>
      </p:sp>
      <p:sp>
        <p:nvSpPr>
          <p:cNvPr id="349" name="Shape"/>
          <p:cNvSpPr/>
          <p:nvPr/>
        </p:nvSpPr>
        <p:spPr>
          <a:xfrm>
            <a:off x="320040" y="1903000"/>
            <a:ext cx="3667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2 ЙИЛ НАЗАРИЙ ТАЪЛИМ</a:t>
            </a:r>
          </a:p>
        </p:txBody>
      </p:sp>
      <p:sp>
        <p:nvSpPr>
          <p:cNvPr id="350" name="Shape"/>
          <p:cNvSpPr/>
          <p:nvPr/>
        </p:nvSpPr>
        <p:spPr>
          <a:xfrm>
            <a:off x="320040" y="2314480"/>
            <a:ext cx="3667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2 ЙИЛ АМАЛИЁТ</a:t>
            </a:r>
          </a:p>
        </p:txBody>
      </p:sp>
      <p:sp>
        <p:nvSpPr>
          <p:cNvPr id="351" name="Shape"/>
          <p:cNvSpPr/>
          <p:nvPr/>
        </p:nvSpPr>
        <p:spPr>
          <a:xfrm>
            <a:off x="320040" y="2725960"/>
            <a:ext cx="3667760" cy="457200"/>
          </a:xfrm>
          <a:prstGeom prst="roundRect">
            <a:avLst>
              <a:gd name="adj" fmla="val 12000"/>
            </a:avLst>
          </a:prstGeom>
          <a:solidFill>
            <a:srgbClr val="2A7AC2"/>
          </a:solidFill>
          <a:ln>
            <a:noFill/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cs typeface="Times New Roman"/>
              </a:rPr>
              <a:t>4 ЙИЛ ДАВОМИДА 120 КРЕДИТ</a:t>
            </a:r>
          </a:p>
        </p:txBody>
      </p:sp>
      <p:sp>
        <p:nvSpPr>
          <p:cNvPr id="352" name="Card"/>
          <p:cNvSpPr/>
          <p:nvPr/>
        </p:nvSpPr>
        <p:spPr>
          <a:xfrm>
            <a:off x="4216400" y="1354360"/>
            <a:ext cx="3759200" cy="19202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39B45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53" name="Pill"/>
          <p:cNvSpPr/>
          <p:nvPr/>
        </p:nvSpPr>
        <p:spPr>
          <a:xfrm>
            <a:off x="4262120" y="1400080"/>
            <a:ext cx="3667760" cy="457200"/>
          </a:xfrm>
          <a:prstGeom prst="roundRect">
            <a:avLst>
              <a:gd name="adj" fmla="val 16000"/>
            </a:avLst>
          </a:prstGeom>
          <a:solidFill>
            <a:srgbClr val="239B45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ФУҚАРО АВИАЦИЯСИ УНИВЕРСИТЕТИ</a:t>
            </a:r>
          </a:p>
        </p:txBody>
      </p:sp>
      <p:sp>
        <p:nvSpPr>
          <p:cNvPr id="354" name="Shape"/>
          <p:cNvSpPr/>
          <p:nvPr/>
        </p:nvSpPr>
        <p:spPr>
          <a:xfrm>
            <a:off x="4262120" y="1903000"/>
            <a:ext cx="3667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2 ЙИЛ НАЗАРИЙ ТАЪЛИМ</a:t>
            </a:r>
          </a:p>
        </p:txBody>
      </p:sp>
      <p:sp>
        <p:nvSpPr>
          <p:cNvPr id="355" name="Shape"/>
          <p:cNvSpPr/>
          <p:nvPr/>
        </p:nvSpPr>
        <p:spPr>
          <a:xfrm>
            <a:off x="4262120" y="2314480"/>
            <a:ext cx="3667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2 ЙИЛ АМАЛИЁТ</a:t>
            </a:r>
          </a:p>
        </p:txBody>
      </p:sp>
      <p:sp>
        <p:nvSpPr>
          <p:cNvPr id="356" name="Shape"/>
          <p:cNvSpPr/>
          <p:nvPr/>
        </p:nvSpPr>
        <p:spPr>
          <a:xfrm>
            <a:off x="4262120" y="2725960"/>
            <a:ext cx="3667760" cy="457200"/>
          </a:xfrm>
          <a:prstGeom prst="roundRect">
            <a:avLst>
              <a:gd name="adj" fmla="val 12000"/>
            </a:avLst>
          </a:prstGeom>
          <a:solidFill>
            <a:srgbClr val="239B45"/>
          </a:solidFill>
          <a:ln>
            <a:noFill/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cs typeface="Times New Roman"/>
              </a:rPr>
              <a:t>4 ЙИЛ ДАВОМИДА 240 КРЕДИТ</a:t>
            </a:r>
          </a:p>
        </p:txBody>
      </p:sp>
      <p:sp>
        <p:nvSpPr>
          <p:cNvPr id="357" name="Card"/>
          <p:cNvSpPr/>
          <p:nvPr/>
        </p:nvSpPr>
        <p:spPr>
          <a:xfrm>
            <a:off x="8158480" y="1354360"/>
            <a:ext cx="3759200" cy="19202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E8772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58" name="Pill"/>
          <p:cNvSpPr/>
          <p:nvPr/>
        </p:nvSpPr>
        <p:spPr>
          <a:xfrm>
            <a:off x="8204200" y="1400080"/>
            <a:ext cx="3667760" cy="457200"/>
          </a:xfrm>
          <a:prstGeom prst="roundRect">
            <a:avLst>
              <a:gd name="adj" fmla="val 16000"/>
            </a:avLst>
          </a:prstGeom>
          <a:solidFill>
            <a:srgbClr val="E87722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EMBRY-RIDDLE AERONAUTICAL UNIVERSITY</a:t>
            </a:r>
          </a:p>
        </p:txBody>
      </p:sp>
      <p:sp>
        <p:nvSpPr>
          <p:cNvPr id="359" name="Shape"/>
          <p:cNvSpPr/>
          <p:nvPr/>
        </p:nvSpPr>
        <p:spPr>
          <a:xfrm>
            <a:off x="8204200" y="1903000"/>
            <a:ext cx="3667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7722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2 ЙИЛ НАЗАРИЙ ТАЪЛИМ</a:t>
            </a:r>
          </a:p>
        </p:txBody>
      </p:sp>
      <p:sp>
        <p:nvSpPr>
          <p:cNvPr id="360" name="Shape"/>
          <p:cNvSpPr/>
          <p:nvPr/>
        </p:nvSpPr>
        <p:spPr>
          <a:xfrm>
            <a:off x="8204200" y="2314480"/>
            <a:ext cx="3667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7722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2 ЙИЛ АМАЛИЁТ</a:t>
            </a:r>
          </a:p>
        </p:txBody>
      </p:sp>
      <p:sp>
        <p:nvSpPr>
          <p:cNvPr id="361" name="Shape"/>
          <p:cNvSpPr/>
          <p:nvPr/>
        </p:nvSpPr>
        <p:spPr>
          <a:xfrm>
            <a:off x="8204200" y="2725960"/>
            <a:ext cx="3667760" cy="457200"/>
          </a:xfrm>
          <a:prstGeom prst="roundRect">
            <a:avLst>
              <a:gd name="adj" fmla="val 12000"/>
            </a:avLst>
          </a:prstGeom>
          <a:solidFill>
            <a:srgbClr val="E87722"/>
          </a:solidFill>
          <a:ln>
            <a:noFill/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cs typeface="Times New Roman"/>
              </a:rPr>
              <a:t>4 ЙИЛ ДАВОМИДА 120 КРЕДИТ</a:t>
            </a:r>
          </a:p>
        </p:txBody>
      </p:sp>
      <p:sp>
        <p:nvSpPr>
          <p:cNvPr id="362" name="Card"/>
          <p:cNvSpPr/>
          <p:nvPr/>
        </p:nvSpPr>
        <p:spPr>
          <a:xfrm>
            <a:off x="274320" y="3411760"/>
            <a:ext cx="3759200" cy="19202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C00000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63" name="Pill"/>
          <p:cNvSpPr/>
          <p:nvPr/>
        </p:nvSpPr>
        <p:spPr>
          <a:xfrm>
            <a:off x="320040" y="3457480"/>
            <a:ext cx="3667760" cy="457200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МОСКВА AВИАЦИЯ ИНСТИТУТИ</a:t>
            </a:r>
          </a:p>
        </p:txBody>
      </p:sp>
      <p:sp>
        <p:nvSpPr>
          <p:cNvPr id="364" name="Shape"/>
          <p:cNvSpPr/>
          <p:nvPr/>
        </p:nvSpPr>
        <p:spPr>
          <a:xfrm>
            <a:off x="320040" y="4783360"/>
            <a:ext cx="3667760" cy="4572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cs typeface="Times New Roman"/>
              </a:rPr>
              <a:t>2 ЙИЛ ДАВОМИДА 120 КРЕДИТ</a:t>
            </a:r>
          </a:p>
        </p:txBody>
      </p:sp>
      <p:sp>
        <p:nvSpPr>
          <p:cNvPr id="365" name="Card"/>
          <p:cNvSpPr/>
          <p:nvPr/>
        </p:nvSpPr>
        <p:spPr>
          <a:xfrm>
            <a:off x="4216400" y="3411760"/>
            <a:ext cx="3759200" cy="19202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7A4FA3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66" name="Pill"/>
          <p:cNvSpPr/>
          <p:nvPr/>
        </p:nvSpPr>
        <p:spPr>
          <a:xfrm>
            <a:off x="4262120" y="3457480"/>
            <a:ext cx="3667760" cy="457200"/>
          </a:xfrm>
          <a:prstGeom prst="roundRect">
            <a:avLst>
              <a:gd name="adj" fmla="val 16000"/>
            </a:avLst>
          </a:prstGeom>
          <a:solidFill>
            <a:srgbClr val="7A4FA3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ФУҚАРО АВИАЦИЯСИ МИЛЛИЙ МАКТАБИ</a:t>
            </a:r>
          </a:p>
        </p:txBody>
      </p:sp>
      <p:sp>
        <p:nvSpPr>
          <p:cNvPr id="367" name="Shape"/>
          <p:cNvSpPr/>
          <p:nvPr/>
        </p:nvSpPr>
        <p:spPr>
          <a:xfrm>
            <a:off x="4262120" y="4783360"/>
            <a:ext cx="3667760" cy="457200"/>
          </a:xfrm>
          <a:prstGeom prst="roundRect">
            <a:avLst>
              <a:gd name="adj" fmla="val 12000"/>
            </a:avLst>
          </a:prstGeom>
          <a:solidFill>
            <a:srgbClr val="7A4FA3"/>
          </a:solidFill>
          <a:ln>
            <a:noFill/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cs typeface="Times New Roman"/>
              </a:rPr>
              <a:t>2 ЙИЛ ДАВОМИДА 120 КРЕДИТ</a:t>
            </a:r>
          </a:p>
        </p:txBody>
      </p:sp>
      <p:sp>
        <p:nvSpPr>
          <p:cNvPr id="368" name="Card"/>
          <p:cNvSpPr/>
          <p:nvPr/>
        </p:nvSpPr>
        <p:spPr>
          <a:xfrm>
            <a:off x="8158480" y="3411760"/>
            <a:ext cx="3759200" cy="19202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138A7A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69" name="Pill"/>
          <p:cNvSpPr/>
          <p:nvPr/>
        </p:nvSpPr>
        <p:spPr>
          <a:xfrm>
            <a:off x="8204200" y="3457480"/>
            <a:ext cx="3667760" cy="457200"/>
          </a:xfrm>
          <a:prstGeom prst="roundRect">
            <a:avLst>
              <a:gd name="adj" fmla="val 16000"/>
            </a:avLst>
          </a:prstGeom>
          <a:solidFill>
            <a:srgbClr val="138A7A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GRIFFITH UNIVERSITY</a:t>
            </a:r>
          </a:p>
        </p:txBody>
      </p:sp>
      <p:sp>
        <p:nvSpPr>
          <p:cNvPr id="370" name="Shape"/>
          <p:cNvSpPr/>
          <p:nvPr/>
        </p:nvSpPr>
        <p:spPr>
          <a:xfrm>
            <a:off x="8204200" y="4783360"/>
            <a:ext cx="3667760" cy="457200"/>
          </a:xfrm>
          <a:prstGeom prst="roundRect">
            <a:avLst>
              <a:gd name="adj" fmla="val 12000"/>
            </a:avLst>
          </a:prstGeom>
          <a:solidFill>
            <a:srgbClr val="138A7A"/>
          </a:solidFill>
          <a:ln>
            <a:noFill/>
          </a:ln>
          <a:effectLst/>
        </p:spPr>
        <p:txBody>
          <a:bodyPr wrap="square" lIns="18288" tIns="0" rIns="18288" bIns="0" rtlCol="0" anchor="ctr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cs typeface="Times New Roman"/>
              </a:rPr>
              <a:t>4 ЙИЛ ДАВОМИДА 120 КРЕДИТ</a:t>
            </a:r>
          </a:p>
        </p:txBody>
      </p:sp>
      <p:sp>
        <p:nvSpPr>
          <p:cNvPr id="371" name="Divider"/>
          <p:cNvSpPr/>
          <p:nvPr/>
        </p:nvSpPr>
        <p:spPr>
          <a:xfrm>
            <a:off x="274320" y="5423440"/>
            <a:ext cx="11643360" cy="0"/>
          </a:xfrm>
          <a:prstGeom prst="line">
            <a:avLst/>
          </a:prstGeom>
          <a:ln w="19050">
            <a:solidFill>
              <a:srgbClr val="9AA8BF"/>
            </a:solidFill>
            <a:prstDash val="sysDot"/>
          </a:ln>
        </p:spPr>
        <p:txBody>
          <a:bodyPr/>
          <a:lstStyle/>
          <a:p>
            <a:endParaRPr/>
          </a:p>
        </p:txBody>
      </p:sp>
      <p:sp>
        <p:nvSpPr>
          <p:cNvPr id="372" name="Pill"/>
          <p:cNvSpPr/>
          <p:nvPr/>
        </p:nvSpPr>
        <p:spPr>
          <a:xfrm>
            <a:off x="274320" y="5514880"/>
            <a:ext cx="11643360" cy="457200"/>
          </a:xfrm>
          <a:prstGeom prst="roundRect">
            <a:avLst>
              <a:gd name="adj" fmla="val 18000"/>
            </a:avLst>
          </a:prstGeom>
          <a:solidFill>
            <a:srgbClr val="1B2A6B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  <a:cs typeface="Times New Roman"/>
              </a:rPr>
              <a:t>DUAL ШАКЛИДА ТАШКИЛ ЭТИЛАЁТГАН ФУҚАРО АВИАЦИЯСИ УЧУВЧИЛАРИНИ ТАЙЁРЛАШ ТИЗИМИ</a:t>
            </a:r>
          </a:p>
        </p:txBody>
      </p:sp>
      <p:sp>
        <p:nvSpPr>
          <p:cNvPr id="373" name="Card"/>
          <p:cNvSpPr/>
          <p:nvPr/>
        </p:nvSpPr>
        <p:spPr>
          <a:xfrm>
            <a:off x="274320" y="6063520"/>
            <a:ext cx="2807970" cy="59436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74" name="TextBox"/>
          <p:cNvSpPr txBox="1"/>
          <p:nvPr/>
        </p:nvSpPr>
        <p:spPr>
          <a:xfrm>
            <a:off x="274320" y="6063520"/>
            <a:ext cx="2807970" cy="59436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18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120  </a:t>
            </a: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КРЕДИТ</a:t>
            </a:r>
          </a:p>
        </p:txBody>
      </p:sp>
      <p:sp>
        <p:nvSpPr>
          <p:cNvPr id="375" name="Card"/>
          <p:cNvSpPr/>
          <p:nvPr/>
        </p:nvSpPr>
        <p:spPr>
          <a:xfrm>
            <a:off x="3219450" y="6063520"/>
            <a:ext cx="2807970" cy="59436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39B45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76" name="TextBox"/>
          <p:cNvSpPr txBox="1"/>
          <p:nvPr/>
        </p:nvSpPr>
        <p:spPr>
          <a:xfrm>
            <a:off x="3219450" y="6063520"/>
            <a:ext cx="2807970" cy="59436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18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3600  </a:t>
            </a: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СОАТ</a:t>
            </a:r>
          </a:p>
        </p:txBody>
      </p:sp>
      <p:sp>
        <p:nvSpPr>
          <p:cNvPr id="377" name="Card"/>
          <p:cNvSpPr/>
          <p:nvPr/>
        </p:nvSpPr>
        <p:spPr>
          <a:xfrm>
            <a:off x="6164580" y="6063520"/>
            <a:ext cx="2807970" cy="59436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C00000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78" name="TextBox"/>
          <p:cNvSpPr txBox="1"/>
          <p:nvPr/>
        </p:nvSpPr>
        <p:spPr>
          <a:xfrm>
            <a:off x="6164580" y="6063520"/>
            <a:ext cx="2807970" cy="59436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  <a:cs typeface="Times New Roman"/>
              </a:rPr>
              <a:t xml:space="preserve">120  </a:t>
            </a: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КРЕДИТ</a:t>
            </a:r>
          </a:p>
        </p:txBody>
      </p:sp>
      <p:sp>
        <p:nvSpPr>
          <p:cNvPr id="379" name="Card"/>
          <p:cNvSpPr/>
          <p:nvPr/>
        </p:nvSpPr>
        <p:spPr>
          <a:xfrm>
            <a:off x="9109710" y="6063520"/>
            <a:ext cx="2807970" cy="59436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E8772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80" name="TextBox"/>
          <p:cNvSpPr txBox="1"/>
          <p:nvPr/>
        </p:nvSpPr>
        <p:spPr>
          <a:xfrm>
            <a:off x="9109710" y="6063520"/>
            <a:ext cx="2807970" cy="59436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1800" b="1" i="0">
                <a:solidFill>
                  <a:srgbClr val="E87722"/>
                </a:solidFill>
                <a:latin typeface="Times New Roman"/>
                <a:cs typeface="Times New Roman"/>
              </a:rPr>
              <a:t xml:space="preserve">3600  </a:t>
            </a:r>
            <a:r>
              <a:rPr sz="1100" b="1" i="0">
                <a:solidFill>
                  <a:srgbClr val="1A1F36"/>
                </a:solidFill>
                <a:latin typeface="Times New Roman"/>
                <a:cs typeface="Times New Roman"/>
              </a:rPr>
              <a:t>СОАТ (ПАРВОЗ - 200 СОАТ)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itle"/>
          <p:cNvSpPr>
            <a:spLocks noGrp="1"/>
          </p:cNvSpPr>
          <p:nvPr>
            <p:ph type="title" idx="105"/>
          </p:nvPr>
        </p:nvSpPr>
        <p:spPr>
          <a:xfrm>
            <a:off x="274320" y="27432"/>
            <a:ext cx="8778240" cy="530352"/>
          </a:xfrm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ФУҚАРО АВИАЦИЯСИ УЧУВЧИЛАРИНИ ТАЙЁРЛАШ</a:t>
            </a:r>
          </a:p>
        </p:txBody>
      </p:sp>
      <p:sp>
        <p:nvSpPr>
          <p:cNvPr id="382" name="Pill"/>
          <p:cNvSpPr/>
          <p:nvPr/>
        </p:nvSpPr>
        <p:spPr>
          <a:xfrm>
            <a:off x="274320" y="760000"/>
            <a:ext cx="11643360" cy="457200"/>
          </a:xfrm>
          <a:prstGeom prst="roundRect">
            <a:avLst>
              <a:gd name="adj" fmla="val 18000"/>
            </a:avLst>
          </a:prstGeom>
          <a:solidFill>
            <a:srgbClr val="1B2A6B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Зарур инфратузилима ва жихозлар</a:t>
            </a:r>
          </a:p>
        </p:txBody>
      </p:sp>
      <p:sp>
        <p:nvSpPr>
          <p:cNvPr id="383" name="Card"/>
          <p:cNvSpPr/>
          <p:nvPr/>
        </p:nvSpPr>
        <p:spPr>
          <a:xfrm>
            <a:off x="274320" y="1354360"/>
            <a:ext cx="3759200" cy="53356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84" name="Pill"/>
          <p:cNvSpPr/>
          <p:nvPr/>
        </p:nvSpPr>
        <p:spPr>
          <a:xfrm>
            <a:off x="320040" y="1400080"/>
            <a:ext cx="3667760" cy="457200"/>
          </a:xfrm>
          <a:prstGeom prst="roundRect">
            <a:avLst>
              <a:gd name="adj" fmla="val 18000"/>
            </a:avLst>
          </a:prstGeom>
          <a:solidFill>
            <a:srgbClr val="2A7AC2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ИНФРАТУЗИЛМА</a:t>
            </a:r>
          </a:p>
        </p:txBody>
      </p:sp>
      <p:sp>
        <p:nvSpPr>
          <p:cNvPr id="385" name="Shape"/>
          <p:cNvSpPr/>
          <p:nvPr/>
        </p:nvSpPr>
        <p:spPr>
          <a:xfrm>
            <a:off x="320040" y="1948720"/>
            <a:ext cx="3667760" cy="7254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73152" tIns="18288" rIns="73152" bIns="18288" rtlCol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25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4 та аудитория (назарий фанлар учун)</a:t>
            </a:r>
          </a:p>
        </p:txBody>
      </p:sp>
      <p:sp>
        <p:nvSpPr>
          <p:cNvPr id="386" name="Shape"/>
          <p:cNvSpPr/>
          <p:nvPr/>
        </p:nvSpPr>
        <p:spPr>
          <a:xfrm>
            <a:off x="320040" y="2742743"/>
            <a:ext cx="3667760" cy="7254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73152" tIns="18288" rIns="73152" bIns="18288" rtlCol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25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1 та ICAO English лабораторияси</a:t>
            </a:r>
          </a:p>
        </p:txBody>
      </p:sp>
      <p:sp>
        <p:nvSpPr>
          <p:cNvPr id="387" name="Shape"/>
          <p:cNvSpPr/>
          <p:nvPr/>
        </p:nvSpPr>
        <p:spPr>
          <a:xfrm>
            <a:off x="320040" y="3536766"/>
            <a:ext cx="3667760" cy="7254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73152" tIns="18288" rIns="73152" bIns="18288" rtlCol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25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2 та симулятор (FNPT) хонаси</a:t>
            </a:r>
          </a:p>
        </p:txBody>
      </p:sp>
      <p:sp>
        <p:nvSpPr>
          <p:cNvPr id="388" name="Shape"/>
          <p:cNvSpPr/>
          <p:nvPr/>
        </p:nvSpPr>
        <p:spPr>
          <a:xfrm>
            <a:off x="320040" y="4330789"/>
            <a:ext cx="3667760" cy="7254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73152" tIns="18288" rIns="73152" bIns="18288" rtlCol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25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2 та симулятор (BITD)  хонаси</a:t>
            </a:r>
          </a:p>
        </p:txBody>
      </p:sp>
      <p:sp>
        <p:nvSpPr>
          <p:cNvPr id="389" name="Shape"/>
          <p:cNvSpPr/>
          <p:nvPr/>
        </p:nvSpPr>
        <p:spPr>
          <a:xfrm>
            <a:off x="320040" y="5124812"/>
            <a:ext cx="3667760" cy="7254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73152" tIns="18288" rIns="73152" bIns="18288" rtlCol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25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Аэродром + талабалар яшаш ва овқатланиш хоналари</a:t>
            </a:r>
          </a:p>
        </p:txBody>
      </p:sp>
      <p:sp>
        <p:nvSpPr>
          <p:cNvPr id="390" name="Shape"/>
          <p:cNvSpPr/>
          <p:nvPr/>
        </p:nvSpPr>
        <p:spPr>
          <a:xfrm>
            <a:off x="320040" y="5918835"/>
            <a:ext cx="3667760" cy="7254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7AC2"/>
            </a:solidFill>
          </a:ln>
          <a:effectLst/>
        </p:spPr>
        <p:txBody>
          <a:bodyPr wrap="square" lIns="73152" tIns="18288" rIns="73152" bIns="18288" rtlCol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25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Учувчилар учун брифинг ва де-брифинг хоналари</a:t>
            </a:r>
          </a:p>
        </p:txBody>
      </p:sp>
      <p:sp>
        <p:nvSpPr>
          <p:cNvPr id="391" name="Card"/>
          <p:cNvSpPr/>
          <p:nvPr/>
        </p:nvSpPr>
        <p:spPr>
          <a:xfrm>
            <a:off x="4216400" y="1354360"/>
            <a:ext cx="3759200" cy="53356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39B45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92" name="Pill"/>
          <p:cNvSpPr/>
          <p:nvPr/>
        </p:nvSpPr>
        <p:spPr>
          <a:xfrm>
            <a:off x="4262120" y="1400080"/>
            <a:ext cx="3667760" cy="457200"/>
          </a:xfrm>
          <a:prstGeom prst="roundRect">
            <a:avLst>
              <a:gd name="adj" fmla="val 18000"/>
            </a:avLst>
          </a:prstGeom>
          <a:solidFill>
            <a:srgbClr val="239B45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ХОДИМЛАР</a:t>
            </a:r>
          </a:p>
        </p:txBody>
      </p:sp>
      <p:sp>
        <p:nvSpPr>
          <p:cNvPr id="393" name="Shape"/>
          <p:cNvSpPr/>
          <p:nvPr/>
        </p:nvSpPr>
        <p:spPr>
          <a:xfrm>
            <a:off x="4262120" y="1948720"/>
            <a:ext cx="3667760" cy="7254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73152" tIns="18288" rIns="73152" bIns="18288" rtlCol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25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Инструктор-учувчи – 6 нафар</a:t>
            </a:r>
          </a:p>
        </p:txBody>
      </p:sp>
      <p:sp>
        <p:nvSpPr>
          <p:cNvPr id="394" name="Shape"/>
          <p:cNvSpPr/>
          <p:nvPr/>
        </p:nvSpPr>
        <p:spPr>
          <a:xfrm>
            <a:off x="4262120" y="2742743"/>
            <a:ext cx="3667760" cy="7254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73152" tIns="18288" rIns="73152" bIns="18288" rtlCol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25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Симулятор инструктори – 2 нафар</a:t>
            </a:r>
          </a:p>
        </p:txBody>
      </p:sp>
      <p:sp>
        <p:nvSpPr>
          <p:cNvPr id="395" name="Shape"/>
          <p:cNvSpPr/>
          <p:nvPr/>
        </p:nvSpPr>
        <p:spPr>
          <a:xfrm>
            <a:off x="4262120" y="3536766"/>
            <a:ext cx="3667760" cy="7254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73152" tIns="18288" rIns="73152" bIns="18288" rtlCol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25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Назарий фанлардан ПЎ – 5 нафар</a:t>
            </a:r>
          </a:p>
        </p:txBody>
      </p:sp>
      <p:sp>
        <p:nvSpPr>
          <p:cNvPr id="396" name="Shape"/>
          <p:cNvSpPr/>
          <p:nvPr/>
        </p:nvSpPr>
        <p:spPr>
          <a:xfrm>
            <a:off x="4262120" y="4330789"/>
            <a:ext cx="3667760" cy="7254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73152" tIns="18288" rIns="73152" bIns="18288" rtlCol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25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Техник муҳандислар – 3 нафар</a:t>
            </a:r>
          </a:p>
        </p:txBody>
      </p:sp>
      <p:sp>
        <p:nvSpPr>
          <p:cNvPr id="397" name="Shape"/>
          <p:cNvSpPr/>
          <p:nvPr/>
        </p:nvSpPr>
        <p:spPr>
          <a:xfrm>
            <a:off x="4262120" y="5124812"/>
            <a:ext cx="3667760" cy="7254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73152" tIns="18288" rIns="73152" bIns="18288" rtlCol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25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Диспетчер ва ёрдамчи ходимлар – 4 нафар</a:t>
            </a:r>
          </a:p>
        </p:txBody>
      </p:sp>
      <p:sp>
        <p:nvSpPr>
          <p:cNvPr id="398" name="Shape"/>
          <p:cNvSpPr/>
          <p:nvPr/>
        </p:nvSpPr>
        <p:spPr>
          <a:xfrm>
            <a:off x="4262120" y="5918835"/>
            <a:ext cx="3667760" cy="7254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9B45"/>
            </a:solidFill>
          </a:ln>
          <a:effectLst/>
        </p:spPr>
        <p:txBody>
          <a:bodyPr wrap="square" lIns="73152" tIns="18288" rIns="73152" bIns="18288" rtlCol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25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250" b="0" i="0">
                <a:solidFill>
                  <a:srgbClr val="1A1F36"/>
                </a:solidFill>
                <a:latin typeface="Times New Roman"/>
                <a:cs typeface="Times New Roman"/>
              </a:rPr>
              <a:t>Раҳбар – 1 нафар</a:t>
            </a:r>
          </a:p>
        </p:txBody>
      </p:sp>
      <p:sp>
        <p:nvSpPr>
          <p:cNvPr id="399" name="Card"/>
          <p:cNvSpPr/>
          <p:nvPr/>
        </p:nvSpPr>
        <p:spPr>
          <a:xfrm>
            <a:off x="8158480" y="1354360"/>
            <a:ext cx="3759200" cy="25992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E8772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00" name="Pill"/>
          <p:cNvSpPr/>
          <p:nvPr/>
        </p:nvSpPr>
        <p:spPr>
          <a:xfrm>
            <a:off x="8204200" y="1400080"/>
            <a:ext cx="3667760" cy="457200"/>
          </a:xfrm>
          <a:prstGeom prst="roundRect">
            <a:avLst>
              <a:gd name="adj" fmla="val 16000"/>
            </a:avLst>
          </a:prstGeom>
          <a:solidFill>
            <a:srgbClr val="E87722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  <a:cs typeface="Times New Roman"/>
              </a:rPr>
              <a:t>ЎҚУВ САМОЛЁТЛАР (парвоз амалиёти учун)</a:t>
            </a:r>
          </a:p>
        </p:txBody>
      </p:sp>
      <p:sp>
        <p:nvSpPr>
          <p:cNvPr id="401" name="Shape"/>
          <p:cNvSpPr/>
          <p:nvPr/>
        </p:nvSpPr>
        <p:spPr>
          <a:xfrm>
            <a:off x="8204200" y="1948720"/>
            <a:ext cx="3667760" cy="94529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7722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2" name="TextBox"/>
          <p:cNvSpPr txBox="1"/>
          <p:nvPr/>
        </p:nvSpPr>
        <p:spPr>
          <a:xfrm>
            <a:off x="8249920" y="1948720"/>
            <a:ext cx="1966976" cy="94529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50" b="1" i="0">
                <a:solidFill>
                  <a:srgbClr val="1A1F36"/>
                </a:solidFill>
                <a:latin typeface="Times New Roman"/>
                <a:cs typeface="Times New Roman"/>
              </a:rPr>
              <a:t>Cessna 172</a:t>
            </a:r>
          </a:p>
        </p:txBody>
      </p:sp>
      <p:sp>
        <p:nvSpPr>
          <p:cNvPr id="403" name="TextBox"/>
          <p:cNvSpPr txBox="1"/>
          <p:nvPr/>
        </p:nvSpPr>
        <p:spPr>
          <a:xfrm>
            <a:off x="10216896" y="1948720"/>
            <a:ext cx="643737" cy="9452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87722"/>
                </a:solidFill>
                <a:latin typeface="Times New Roman"/>
                <a:cs typeface="Times New Roman"/>
              </a:rPr>
              <a:t>6 та</a:t>
            </a:r>
          </a:p>
        </p:txBody>
      </p:sp>
      <p:sp>
        <p:nvSpPr>
          <p:cNvPr id="404" name="TextBox"/>
          <p:cNvSpPr txBox="1"/>
          <p:nvPr/>
        </p:nvSpPr>
        <p:spPr>
          <a:xfrm>
            <a:off x="10860633" y="1948720"/>
            <a:ext cx="965606" cy="94529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C00000"/>
                </a:solidFill>
                <a:latin typeface="Times New Roman"/>
                <a:cs typeface="Times New Roman"/>
              </a:rPr>
              <a:t>$600,000</a:t>
            </a:r>
          </a:p>
        </p:txBody>
      </p:sp>
      <p:sp>
        <p:nvSpPr>
          <p:cNvPr id="405" name="Shape"/>
          <p:cNvSpPr/>
          <p:nvPr/>
        </p:nvSpPr>
        <p:spPr>
          <a:xfrm>
            <a:off x="8204200" y="2962590"/>
            <a:ext cx="3667760" cy="94529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7722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6" name="TextBox"/>
          <p:cNvSpPr txBox="1"/>
          <p:nvPr/>
        </p:nvSpPr>
        <p:spPr>
          <a:xfrm>
            <a:off x="8249920" y="2962590"/>
            <a:ext cx="1966976" cy="94529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50" b="1" i="0">
                <a:solidFill>
                  <a:srgbClr val="1A1F36"/>
                </a:solidFill>
                <a:latin typeface="Times New Roman"/>
                <a:cs typeface="Times New Roman"/>
              </a:rPr>
              <a:t>Tecnam P2006T (Multi-engine)</a:t>
            </a:r>
          </a:p>
        </p:txBody>
      </p:sp>
      <p:sp>
        <p:nvSpPr>
          <p:cNvPr id="407" name="TextBox"/>
          <p:cNvSpPr txBox="1"/>
          <p:nvPr/>
        </p:nvSpPr>
        <p:spPr>
          <a:xfrm>
            <a:off x="10216896" y="2962590"/>
            <a:ext cx="643737" cy="9452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87722"/>
                </a:solidFill>
                <a:latin typeface="Times New Roman"/>
                <a:cs typeface="Times New Roman"/>
              </a:rPr>
              <a:t>2 та</a:t>
            </a:r>
          </a:p>
        </p:txBody>
      </p:sp>
      <p:sp>
        <p:nvSpPr>
          <p:cNvPr id="408" name="TextBox"/>
          <p:cNvSpPr txBox="1"/>
          <p:nvPr/>
        </p:nvSpPr>
        <p:spPr>
          <a:xfrm>
            <a:off x="10860633" y="2962590"/>
            <a:ext cx="965606" cy="94529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C00000"/>
                </a:solidFill>
                <a:latin typeface="Times New Roman"/>
                <a:cs typeface="Times New Roman"/>
              </a:rPr>
              <a:t>$800,000</a:t>
            </a:r>
          </a:p>
        </p:txBody>
      </p:sp>
      <p:sp>
        <p:nvSpPr>
          <p:cNvPr id="409" name="Card"/>
          <p:cNvSpPr/>
          <p:nvPr/>
        </p:nvSpPr>
        <p:spPr>
          <a:xfrm>
            <a:off x="8158480" y="4090760"/>
            <a:ext cx="3759200" cy="25992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7A4FA3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10" name="Pill"/>
          <p:cNvSpPr/>
          <p:nvPr/>
        </p:nvSpPr>
        <p:spPr>
          <a:xfrm>
            <a:off x="8204200" y="4136480"/>
            <a:ext cx="3667760" cy="457200"/>
          </a:xfrm>
          <a:prstGeom prst="roundRect">
            <a:avLst>
              <a:gd name="adj" fmla="val 16000"/>
            </a:avLst>
          </a:prstGeom>
          <a:solidFill>
            <a:srgbClr val="7A4FA3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  <a:cs typeface="Times New Roman"/>
              </a:rPr>
              <a:t>СИМУЛЯТОРЛАР (амалиёт учун)</a:t>
            </a:r>
          </a:p>
        </p:txBody>
      </p:sp>
      <p:sp>
        <p:nvSpPr>
          <p:cNvPr id="411" name="Shape"/>
          <p:cNvSpPr/>
          <p:nvPr/>
        </p:nvSpPr>
        <p:spPr>
          <a:xfrm>
            <a:off x="8204200" y="4685120"/>
            <a:ext cx="3667760" cy="455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A4FA3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2" name="TextBox"/>
          <p:cNvSpPr txBox="1"/>
          <p:nvPr/>
        </p:nvSpPr>
        <p:spPr>
          <a:xfrm>
            <a:off x="8249920" y="4685120"/>
            <a:ext cx="1966976" cy="45550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1050" b="1" i="0">
                <a:solidFill>
                  <a:srgbClr val="1A1F36"/>
                </a:solidFill>
                <a:latin typeface="Times New Roman"/>
                <a:cs typeface="Times New Roman"/>
              </a:rPr>
              <a:t>BITD (EASA сертификатли)</a:t>
            </a:r>
          </a:p>
        </p:txBody>
      </p:sp>
      <p:sp>
        <p:nvSpPr>
          <p:cNvPr id="413" name="TextBox"/>
          <p:cNvSpPr txBox="1"/>
          <p:nvPr/>
        </p:nvSpPr>
        <p:spPr>
          <a:xfrm>
            <a:off x="10216896" y="4685120"/>
            <a:ext cx="643737" cy="45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7A4FA3"/>
                </a:solidFill>
                <a:latin typeface="Times New Roman"/>
                <a:cs typeface="Times New Roman"/>
              </a:rPr>
              <a:t>10 та</a:t>
            </a:r>
          </a:p>
        </p:txBody>
      </p:sp>
      <p:sp>
        <p:nvSpPr>
          <p:cNvPr id="414" name="TextBox"/>
          <p:cNvSpPr txBox="1"/>
          <p:nvPr/>
        </p:nvSpPr>
        <p:spPr>
          <a:xfrm>
            <a:off x="10860633" y="4685120"/>
            <a:ext cx="965606" cy="45550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C00000"/>
                </a:solidFill>
                <a:latin typeface="Times New Roman"/>
                <a:cs typeface="Times New Roman"/>
              </a:rPr>
              <a:t>$20,000</a:t>
            </a:r>
          </a:p>
        </p:txBody>
      </p:sp>
      <p:sp>
        <p:nvSpPr>
          <p:cNvPr id="415" name="Shape"/>
          <p:cNvSpPr/>
          <p:nvPr/>
        </p:nvSpPr>
        <p:spPr>
          <a:xfrm>
            <a:off x="8204200" y="5186340"/>
            <a:ext cx="3667760" cy="455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A4FA3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6" name="TextBox"/>
          <p:cNvSpPr txBox="1"/>
          <p:nvPr/>
        </p:nvSpPr>
        <p:spPr>
          <a:xfrm>
            <a:off x="8249920" y="5186340"/>
            <a:ext cx="1966976" cy="45550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1050" b="1" i="0">
                <a:solidFill>
                  <a:srgbClr val="1A1F36"/>
                </a:solidFill>
                <a:latin typeface="Times New Roman"/>
                <a:cs typeface="Times New Roman"/>
              </a:rPr>
              <a:t>BITD (Multi-engine) (EASA сертификатли)</a:t>
            </a:r>
          </a:p>
        </p:txBody>
      </p:sp>
      <p:sp>
        <p:nvSpPr>
          <p:cNvPr id="417" name="TextBox"/>
          <p:cNvSpPr txBox="1"/>
          <p:nvPr/>
        </p:nvSpPr>
        <p:spPr>
          <a:xfrm>
            <a:off x="10216896" y="5186340"/>
            <a:ext cx="643737" cy="45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7A4FA3"/>
                </a:solidFill>
                <a:latin typeface="Times New Roman"/>
                <a:cs typeface="Times New Roman"/>
              </a:rPr>
              <a:t>10 та</a:t>
            </a:r>
          </a:p>
        </p:txBody>
      </p:sp>
      <p:sp>
        <p:nvSpPr>
          <p:cNvPr id="418" name="TextBox"/>
          <p:cNvSpPr txBox="1"/>
          <p:nvPr/>
        </p:nvSpPr>
        <p:spPr>
          <a:xfrm>
            <a:off x="10860633" y="5186340"/>
            <a:ext cx="965606" cy="45550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C00000"/>
                </a:solidFill>
                <a:latin typeface="Times New Roman"/>
                <a:cs typeface="Times New Roman"/>
              </a:rPr>
              <a:t>$50,000</a:t>
            </a:r>
          </a:p>
        </p:txBody>
      </p:sp>
      <p:sp>
        <p:nvSpPr>
          <p:cNvPr id="419" name="Shape"/>
          <p:cNvSpPr/>
          <p:nvPr/>
        </p:nvSpPr>
        <p:spPr>
          <a:xfrm>
            <a:off x="8204200" y="5687560"/>
            <a:ext cx="3667760" cy="455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A4FA3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0" name="TextBox"/>
          <p:cNvSpPr txBox="1"/>
          <p:nvPr/>
        </p:nvSpPr>
        <p:spPr>
          <a:xfrm>
            <a:off x="8249920" y="5687560"/>
            <a:ext cx="1966976" cy="45550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1050" b="1" i="0">
                <a:solidFill>
                  <a:srgbClr val="1A1F36"/>
                </a:solidFill>
                <a:latin typeface="Times New Roman"/>
                <a:cs typeface="Times New Roman"/>
              </a:rPr>
              <a:t>FNPT II (EASA сертификатли)</a:t>
            </a:r>
          </a:p>
        </p:txBody>
      </p:sp>
      <p:sp>
        <p:nvSpPr>
          <p:cNvPr id="421" name="TextBox"/>
          <p:cNvSpPr txBox="1"/>
          <p:nvPr/>
        </p:nvSpPr>
        <p:spPr>
          <a:xfrm>
            <a:off x="10216896" y="5687560"/>
            <a:ext cx="643737" cy="45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7A4FA3"/>
                </a:solidFill>
                <a:latin typeface="Times New Roman"/>
                <a:cs typeface="Times New Roman"/>
              </a:rPr>
              <a:t>2 та</a:t>
            </a:r>
          </a:p>
        </p:txBody>
      </p:sp>
      <p:sp>
        <p:nvSpPr>
          <p:cNvPr id="422" name="TextBox"/>
          <p:cNvSpPr txBox="1"/>
          <p:nvPr/>
        </p:nvSpPr>
        <p:spPr>
          <a:xfrm>
            <a:off x="10860633" y="5687560"/>
            <a:ext cx="965606" cy="45550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C00000"/>
                </a:solidFill>
                <a:latin typeface="Times New Roman"/>
                <a:cs typeface="Times New Roman"/>
              </a:rPr>
              <a:t>$300,000</a:t>
            </a:r>
          </a:p>
        </p:txBody>
      </p:sp>
      <p:sp>
        <p:nvSpPr>
          <p:cNvPr id="423" name="Shape"/>
          <p:cNvSpPr/>
          <p:nvPr/>
        </p:nvSpPr>
        <p:spPr>
          <a:xfrm>
            <a:off x="8204200" y="6188780"/>
            <a:ext cx="3667760" cy="455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A4FA3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4" name="TextBox"/>
          <p:cNvSpPr txBox="1"/>
          <p:nvPr/>
        </p:nvSpPr>
        <p:spPr>
          <a:xfrm>
            <a:off x="8249920" y="6188780"/>
            <a:ext cx="1966976" cy="45550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1050" b="1" i="0">
                <a:solidFill>
                  <a:srgbClr val="1A1F36"/>
                </a:solidFill>
                <a:latin typeface="Times New Roman"/>
                <a:cs typeface="Times New Roman"/>
              </a:rPr>
              <a:t>FNPT II (Multi-engine) (EASA сертификатли)</a:t>
            </a:r>
          </a:p>
        </p:txBody>
      </p:sp>
      <p:sp>
        <p:nvSpPr>
          <p:cNvPr id="425" name="TextBox"/>
          <p:cNvSpPr txBox="1"/>
          <p:nvPr/>
        </p:nvSpPr>
        <p:spPr>
          <a:xfrm>
            <a:off x="10216896" y="6188780"/>
            <a:ext cx="643737" cy="45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7A4FA3"/>
                </a:solidFill>
                <a:latin typeface="Times New Roman"/>
                <a:cs typeface="Times New Roman"/>
              </a:rPr>
              <a:t>2 та</a:t>
            </a:r>
          </a:p>
        </p:txBody>
      </p:sp>
      <p:sp>
        <p:nvSpPr>
          <p:cNvPr id="426" name="TextBox"/>
          <p:cNvSpPr txBox="1"/>
          <p:nvPr/>
        </p:nvSpPr>
        <p:spPr>
          <a:xfrm>
            <a:off x="10860633" y="6188780"/>
            <a:ext cx="965606" cy="455500"/>
          </a:xfrm>
          <a:prstGeom prst="rect">
            <a:avLst/>
          </a:prstGeom>
          <a:noFill/>
        </p:spPr>
        <p:txBody>
          <a:bodyPr wrap="square" lIns="36576" tIns="0" rIns="36576" bIns="0" anchor="ctr"/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C00000"/>
                </a:solidFill>
                <a:latin typeface="Times New Roman"/>
                <a:cs typeface="Times New Roman"/>
              </a:rPr>
              <a:t>$500,000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Title"/>
          <p:cNvSpPr>
            <a:spLocks noGrp="1"/>
          </p:cNvSpPr>
          <p:nvPr>
            <p:ph type="title" idx="105"/>
          </p:nvPr>
        </p:nvSpPr>
        <p:spPr>
          <a:xfrm>
            <a:off x="274320" y="27432"/>
            <a:ext cx="8778240" cy="530352"/>
          </a:xfrm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ХАРИД ҚИЛИНИШИ КЎЗДА ТУТИЛАЁТГАН ЎҚУВ САМОЛЁТЛАР</a:t>
            </a:r>
          </a:p>
        </p:txBody>
      </p:sp>
      <p:sp>
        <p:nvSpPr>
          <p:cNvPr id="428" name="Card"/>
          <p:cNvSpPr/>
          <p:nvPr/>
        </p:nvSpPr>
        <p:spPr>
          <a:xfrm>
            <a:off x="274320" y="760000"/>
            <a:ext cx="3759200" cy="5930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29" name="Pill"/>
          <p:cNvSpPr/>
          <p:nvPr/>
        </p:nvSpPr>
        <p:spPr>
          <a:xfrm>
            <a:off x="320040" y="805720"/>
            <a:ext cx="3667760" cy="502920"/>
          </a:xfrm>
          <a:prstGeom prst="roundRect">
            <a:avLst>
              <a:gd name="adj" fmla="val 18000"/>
            </a:avLst>
          </a:prstGeom>
          <a:solidFill>
            <a:srgbClr val="2A7AC2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Cessna 172 ($ 600 000)</a:t>
            </a:r>
          </a:p>
        </p:txBody>
      </p:sp>
      <p:pic>
        <p:nvPicPr>
          <p:cNvPr id="430" name="Photo"/>
          <p:cNvPicPr>
            <a:picLocks noChangeAspect="1"/>
          </p:cNvPicPr>
          <p:nvPr/>
        </p:nvPicPr>
        <p:blipFill>
          <a:blip r:embed="rId2"/>
          <a:srcRect l="31355" t="0" r="31355" b="0"/>
          <a:stretch>
            <a:fillRect/>
          </a:stretch>
        </p:blipFill>
        <p:spPr>
          <a:xfrm>
            <a:off x="320040" y="1400080"/>
            <a:ext cx="1811020" cy="2560320"/>
          </a:xfrm>
          <a:prstGeom prst="roundRect">
            <a:avLst>
              <a:gd name="adj" fmla="val 6000"/>
            </a:avLst>
          </a:prstGeom>
        </p:spPr>
      </p:pic>
      <p:pic>
        <p:nvPicPr>
          <p:cNvPr id="431" name="Photo"/>
          <p:cNvPicPr>
            <a:picLocks noChangeAspect="1"/>
          </p:cNvPicPr>
          <p:nvPr/>
        </p:nvPicPr>
        <p:blipFill>
          <a:blip r:embed="rId3"/>
          <a:srcRect l="31355" t="0" r="31355" b="0"/>
          <a:stretch>
            <a:fillRect/>
          </a:stretch>
        </p:blipFill>
        <p:spPr>
          <a:xfrm>
            <a:off x="2176780" y="1400080"/>
            <a:ext cx="1811020" cy="2560320"/>
          </a:xfrm>
          <a:prstGeom prst="roundRect">
            <a:avLst>
              <a:gd name="adj" fmla="val 6000"/>
            </a:avLst>
          </a:prstGeom>
        </p:spPr>
      </p:pic>
      <p:sp>
        <p:nvSpPr>
          <p:cNvPr id="432" name="TextBox"/>
          <p:cNvSpPr txBox="1"/>
          <p:nvPr/>
        </p:nvSpPr>
        <p:spPr>
          <a:xfrm>
            <a:off x="310896" y="4051840"/>
            <a:ext cx="3686048" cy="259244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Мотор қуввати  - 180 от кучи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Ёқилги тури авиация бензини - 100LL Avgas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Максимал учиш масофаси - 1185 км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A7AC2"/>
                </a:solidFill>
                <a:latin typeface="Times New Roman"/>
                <a:cs typeface="Times New Roman"/>
              </a:rPr>
              <a:t xml:space="preserve">▪ </a:t>
            </a: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Ёқилги сарфи соатига - 30 л</a:t>
            </a:r>
          </a:p>
        </p:txBody>
      </p:sp>
      <p:sp>
        <p:nvSpPr>
          <p:cNvPr id="433" name="Card"/>
          <p:cNvSpPr/>
          <p:nvPr/>
        </p:nvSpPr>
        <p:spPr>
          <a:xfrm>
            <a:off x="4216400" y="760000"/>
            <a:ext cx="3759200" cy="5930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39B45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34" name="Pill"/>
          <p:cNvSpPr/>
          <p:nvPr/>
        </p:nvSpPr>
        <p:spPr>
          <a:xfrm>
            <a:off x="4262120" y="805720"/>
            <a:ext cx="3667760" cy="502920"/>
          </a:xfrm>
          <a:prstGeom prst="roundRect">
            <a:avLst>
              <a:gd name="adj" fmla="val 18000"/>
            </a:avLst>
          </a:prstGeom>
          <a:solidFill>
            <a:srgbClr val="239B45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TECNAM P2008 JC ($ 200 000)</a:t>
            </a:r>
          </a:p>
        </p:txBody>
      </p:sp>
      <p:pic>
        <p:nvPicPr>
          <p:cNvPr id="435" name="Photo"/>
          <p:cNvPicPr>
            <a:picLocks noChangeAspect="1"/>
          </p:cNvPicPr>
          <p:nvPr/>
        </p:nvPicPr>
        <p:blipFill>
          <a:blip r:embed="rId4"/>
          <a:srcRect l="30253" t="0" r="30253" b="0"/>
          <a:stretch>
            <a:fillRect/>
          </a:stretch>
        </p:blipFill>
        <p:spPr>
          <a:xfrm>
            <a:off x="4262120" y="1400080"/>
            <a:ext cx="1811020" cy="2560320"/>
          </a:xfrm>
          <a:prstGeom prst="roundRect">
            <a:avLst>
              <a:gd name="adj" fmla="val 6000"/>
            </a:avLst>
          </a:prstGeom>
        </p:spPr>
      </p:pic>
      <p:pic>
        <p:nvPicPr>
          <p:cNvPr id="436" name="Photo"/>
          <p:cNvPicPr>
            <a:picLocks noChangeAspect="1"/>
          </p:cNvPicPr>
          <p:nvPr/>
        </p:nvPicPr>
        <p:blipFill>
          <a:blip r:embed="rId5"/>
          <a:srcRect l="30253" t="0" r="30253" b="0"/>
          <a:stretch>
            <a:fillRect/>
          </a:stretch>
        </p:blipFill>
        <p:spPr>
          <a:xfrm>
            <a:off x="6118860" y="1400080"/>
            <a:ext cx="1811020" cy="2560320"/>
          </a:xfrm>
          <a:prstGeom prst="roundRect">
            <a:avLst>
              <a:gd name="adj" fmla="val 6000"/>
            </a:avLst>
          </a:prstGeom>
        </p:spPr>
      </p:pic>
      <p:sp>
        <p:nvSpPr>
          <p:cNvPr id="437" name="TextBox"/>
          <p:cNvSpPr txBox="1"/>
          <p:nvPr/>
        </p:nvSpPr>
        <p:spPr>
          <a:xfrm>
            <a:off x="4252976" y="4051840"/>
            <a:ext cx="3686048" cy="259244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Мотор қуввати  - 100 от кучи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Ёқилги тури автомобил бензини - АИ 95/98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Максимал учиш масофаси - 1270 км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39B45"/>
                </a:solidFill>
                <a:latin typeface="Times New Roman"/>
                <a:cs typeface="Times New Roman"/>
              </a:rPr>
              <a:t xml:space="preserve">▪ </a:t>
            </a: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Ёқилги сарфи соатига - 17 л</a:t>
            </a:r>
          </a:p>
        </p:txBody>
      </p:sp>
      <p:sp>
        <p:nvSpPr>
          <p:cNvPr id="438" name="Card"/>
          <p:cNvSpPr/>
          <p:nvPr/>
        </p:nvSpPr>
        <p:spPr>
          <a:xfrm>
            <a:off x="8158480" y="760000"/>
            <a:ext cx="3759200" cy="5930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C00000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39" name="Pill"/>
          <p:cNvSpPr/>
          <p:nvPr/>
        </p:nvSpPr>
        <p:spPr>
          <a:xfrm>
            <a:off x="8204200" y="805720"/>
            <a:ext cx="3667760" cy="50292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TECNAM P2006 T ($ 800 000)</a:t>
            </a:r>
          </a:p>
        </p:txBody>
      </p:sp>
      <p:pic>
        <p:nvPicPr>
          <p:cNvPr id="440" name="Photo"/>
          <p:cNvPicPr>
            <a:picLocks noChangeAspect="1"/>
          </p:cNvPicPr>
          <p:nvPr/>
        </p:nvPicPr>
        <p:blipFill>
          <a:blip r:embed="rId6"/>
          <a:srcRect l="30253" t="0" r="30253" b="0"/>
          <a:stretch>
            <a:fillRect/>
          </a:stretch>
        </p:blipFill>
        <p:spPr>
          <a:xfrm>
            <a:off x="8204200" y="1400080"/>
            <a:ext cx="1811020" cy="2560320"/>
          </a:xfrm>
          <a:prstGeom prst="roundRect">
            <a:avLst>
              <a:gd name="adj" fmla="val 6000"/>
            </a:avLst>
          </a:prstGeom>
        </p:spPr>
      </p:pic>
      <p:pic>
        <p:nvPicPr>
          <p:cNvPr id="441" name="Photo"/>
          <p:cNvPicPr>
            <a:picLocks noChangeAspect="1"/>
          </p:cNvPicPr>
          <p:nvPr/>
        </p:nvPicPr>
        <p:blipFill>
          <a:blip r:embed="rId7"/>
          <a:srcRect l="30253" t="0" r="30253" b="0"/>
          <a:stretch>
            <a:fillRect/>
          </a:stretch>
        </p:blipFill>
        <p:spPr>
          <a:xfrm>
            <a:off x="10060940" y="1400080"/>
            <a:ext cx="1811020" cy="2560320"/>
          </a:xfrm>
          <a:prstGeom prst="roundRect">
            <a:avLst>
              <a:gd name="adj" fmla="val 6000"/>
            </a:avLst>
          </a:prstGeom>
        </p:spPr>
      </p:pic>
      <p:sp>
        <p:nvSpPr>
          <p:cNvPr id="442" name="TextBox"/>
          <p:cNvSpPr txBox="1"/>
          <p:nvPr/>
        </p:nvSpPr>
        <p:spPr>
          <a:xfrm>
            <a:off x="8195056" y="4051840"/>
            <a:ext cx="3686048" cy="259244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Times New Roman"/>
                <a:cs typeface="Times New Roman"/>
              </a:rPr>
              <a:t xml:space="preserve">▪ </a:t>
            </a: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Мотор қуввати  - 200 от кучи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Times New Roman"/>
                <a:cs typeface="Times New Roman"/>
              </a:rPr>
              <a:t xml:space="preserve">▪ </a:t>
            </a: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Ёқилги тури автомобил бензини - АИ 95/98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Times New Roman"/>
                <a:cs typeface="Times New Roman"/>
              </a:rPr>
              <a:t xml:space="preserve">▪ </a:t>
            </a: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Максимал учиш масофаси - 1240 км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Times New Roman"/>
                <a:cs typeface="Times New Roman"/>
              </a:rPr>
              <a:t xml:space="preserve">▪ </a:t>
            </a:r>
            <a:r>
              <a:rPr sz="1300" b="0" i="0">
                <a:solidFill>
                  <a:srgbClr val="1A1F36"/>
                </a:solidFill>
                <a:latin typeface="Times New Roman"/>
                <a:cs typeface="Times New Roman"/>
              </a:rPr>
              <a:t>Ёқилги сарфи соатига - 34 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Title"/>
          <p:cNvSpPr>
            <a:spLocks noGrp="1"/>
          </p:cNvSpPr>
          <p:nvPr>
            <p:ph type="title" idx="105"/>
          </p:nvPr>
        </p:nvSpPr>
        <p:spPr>
          <a:xfrm>
            <a:off x="274320" y="27432"/>
            <a:ext cx="8778240" cy="530352"/>
          </a:xfrm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ХАРИД ҚИЛИНИШИ КЎЗДА ТУТИЛАЁТГАН ЎҚУВ ТРЕНАЖЁРЛАР</a:t>
            </a:r>
          </a:p>
        </p:txBody>
      </p:sp>
      <p:sp>
        <p:nvSpPr>
          <p:cNvPr id="444" name="Card"/>
          <p:cNvSpPr/>
          <p:nvPr/>
        </p:nvSpPr>
        <p:spPr>
          <a:xfrm>
            <a:off x="274320" y="760000"/>
            <a:ext cx="3759200" cy="5930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pic>
        <p:nvPicPr>
          <p:cNvPr id="445" name="Photo"/>
          <p:cNvPicPr>
            <a:picLocks noChangeAspect="1"/>
          </p:cNvPicPr>
          <p:nvPr/>
        </p:nvPicPr>
        <p:blipFill>
          <a:blip r:embed="rId2"/>
          <a:srcRect l="11231" t="0" r="11231" b="0"/>
          <a:stretch>
            <a:fillRect/>
          </a:stretch>
        </p:blipFill>
        <p:spPr>
          <a:xfrm>
            <a:off x="320040" y="805720"/>
            <a:ext cx="3667760" cy="3657600"/>
          </a:xfrm>
          <a:prstGeom prst="roundRect">
            <a:avLst>
              <a:gd name="adj" fmla="val 6000"/>
            </a:avLst>
          </a:prstGeom>
        </p:spPr>
      </p:pic>
      <p:sp>
        <p:nvSpPr>
          <p:cNvPr id="446" name="TextBox"/>
          <p:cNvSpPr txBox="1"/>
          <p:nvPr/>
        </p:nvSpPr>
        <p:spPr>
          <a:xfrm>
            <a:off x="310896" y="4554760"/>
            <a:ext cx="3686048" cy="208952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400" b="1" i="0">
                <a:solidFill>
                  <a:srgbClr val="2A7AC2"/>
                </a:solidFill>
                <a:latin typeface="Times New Roman"/>
                <a:cs typeface="Times New Roman"/>
              </a:rPr>
              <a:t>BITD - BASIC INSTRUMENT TRAINING DEVICE ($ 50 000)</a:t>
            </a:r>
          </a:p>
        </p:txBody>
      </p:sp>
      <p:sp>
        <p:nvSpPr>
          <p:cNvPr id="447" name="Card"/>
          <p:cNvSpPr/>
          <p:nvPr/>
        </p:nvSpPr>
        <p:spPr>
          <a:xfrm>
            <a:off x="4216400" y="760000"/>
            <a:ext cx="3759200" cy="5930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39B45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pic>
        <p:nvPicPr>
          <p:cNvPr id="448" name="Photo"/>
          <p:cNvPicPr>
            <a:picLocks noChangeAspect="1"/>
          </p:cNvPicPr>
          <p:nvPr/>
        </p:nvPicPr>
        <p:blipFill>
          <a:blip r:embed="rId3"/>
          <a:srcRect l="12396" t="0" r="12396" b="0"/>
          <a:stretch>
            <a:fillRect/>
          </a:stretch>
        </p:blipFill>
        <p:spPr>
          <a:xfrm>
            <a:off x="4262120" y="805720"/>
            <a:ext cx="3667760" cy="3657600"/>
          </a:xfrm>
          <a:prstGeom prst="roundRect">
            <a:avLst>
              <a:gd name="adj" fmla="val 6000"/>
            </a:avLst>
          </a:prstGeom>
        </p:spPr>
      </p:pic>
      <p:sp>
        <p:nvSpPr>
          <p:cNvPr id="449" name="TextBox"/>
          <p:cNvSpPr txBox="1"/>
          <p:nvPr/>
        </p:nvSpPr>
        <p:spPr>
          <a:xfrm>
            <a:off x="4252976" y="4554760"/>
            <a:ext cx="3686048" cy="208952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400" b="1" i="0">
                <a:solidFill>
                  <a:srgbClr val="239B45"/>
                </a:solidFill>
                <a:latin typeface="Times New Roman"/>
                <a:cs typeface="Times New Roman"/>
              </a:rPr>
              <a:t>БИР МОТОРЛИК FNPT – FLIGHT NAVIGATION AND PROCEDURE TRAINER  TRC 3000 ($ 300 000)</a:t>
            </a:r>
          </a:p>
        </p:txBody>
      </p:sp>
      <p:sp>
        <p:nvSpPr>
          <p:cNvPr id="450" name="Card"/>
          <p:cNvSpPr/>
          <p:nvPr/>
        </p:nvSpPr>
        <p:spPr>
          <a:xfrm>
            <a:off x="8158480" y="760000"/>
            <a:ext cx="3759200" cy="5930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E8772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pic>
        <p:nvPicPr>
          <p:cNvPr id="451" name="Photo"/>
          <p:cNvPicPr>
            <a:picLocks noChangeAspect="1"/>
          </p:cNvPicPr>
          <p:nvPr/>
        </p:nvPicPr>
        <p:blipFill>
          <a:blip r:embed="rId4"/>
          <a:srcRect l="16940" t="0" r="16940" b="0"/>
          <a:stretch>
            <a:fillRect/>
          </a:stretch>
        </p:blipFill>
        <p:spPr>
          <a:xfrm>
            <a:off x="8204200" y="805720"/>
            <a:ext cx="3667760" cy="3657600"/>
          </a:xfrm>
          <a:prstGeom prst="roundRect">
            <a:avLst>
              <a:gd name="adj" fmla="val 6000"/>
            </a:avLst>
          </a:prstGeom>
        </p:spPr>
      </p:pic>
      <p:sp>
        <p:nvSpPr>
          <p:cNvPr id="452" name="TextBox"/>
          <p:cNvSpPr txBox="1"/>
          <p:nvPr/>
        </p:nvSpPr>
        <p:spPr>
          <a:xfrm>
            <a:off x="8195056" y="4554760"/>
            <a:ext cx="3686048" cy="208952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400" b="1" i="0">
                <a:solidFill>
                  <a:srgbClr val="E87722"/>
                </a:solidFill>
                <a:latin typeface="Times New Roman"/>
                <a:cs typeface="Times New Roman"/>
              </a:rPr>
              <a:t>ИККИ МОТОРЛИК FNPT -  ALSIM 250 ($ 500 000)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itle"/>
          <p:cNvSpPr>
            <a:spLocks noGrp="1"/>
          </p:cNvSpPr>
          <p:nvPr>
            <p:ph type="title" idx="105"/>
          </p:nvPr>
        </p:nvSpPr>
        <p:spPr>
          <a:xfrm>
            <a:off x="274320" y="27432"/>
            <a:ext cx="8778240" cy="530352"/>
          </a:xfrm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АВИАЦИЯ ТРАНСПОРТИ МУҲАНДИСЛИГИ ФАКУЛЬТЕТИНИ РИВОЖЛАНТИРИШ СТРАТЕГИЯСИ</a:t>
            </a:r>
          </a:p>
        </p:txBody>
      </p:sp>
      <p:sp>
        <p:nvSpPr>
          <p:cNvPr id="454" name="Pill"/>
          <p:cNvSpPr/>
          <p:nvPr/>
        </p:nvSpPr>
        <p:spPr>
          <a:xfrm>
            <a:off x="274320" y="760000"/>
            <a:ext cx="11643360" cy="502920"/>
          </a:xfrm>
          <a:prstGeom prst="roundRect">
            <a:avLst>
              <a:gd name="adj" fmla="val 18000"/>
            </a:avLst>
          </a:prstGeom>
          <a:solidFill>
            <a:srgbClr val="1B2A6B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</a:rPr>
              <a:t>ФАКУЛЬТЕТНИ РИВОЖЛАНТИРИШДАГИ ИСТИҚБОЛЛИ РЕЖАЛАР</a:t>
            </a:r>
          </a:p>
        </p:txBody>
      </p:sp>
      <p:sp>
        <p:nvSpPr>
          <p:cNvPr id="455" name="Card"/>
          <p:cNvSpPr/>
          <p:nvPr/>
        </p:nvSpPr>
        <p:spPr>
          <a:xfrm>
            <a:off x="274320" y="1445800"/>
            <a:ext cx="2773680" cy="52442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56" name="Badge"/>
          <p:cNvSpPr/>
          <p:nvPr/>
        </p:nvSpPr>
        <p:spPr>
          <a:xfrm>
            <a:off x="1341120" y="1582960"/>
            <a:ext cx="640080" cy="640080"/>
          </a:xfrm>
          <a:prstGeom prst="ellipse">
            <a:avLst/>
          </a:prstGeom>
          <a:solidFill>
            <a:srgbClr val="2A7AC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01</a:t>
            </a:r>
          </a:p>
        </p:txBody>
      </p:sp>
      <p:sp>
        <p:nvSpPr>
          <p:cNvPr id="457" name="TextBox"/>
          <p:cNvSpPr txBox="1"/>
          <p:nvPr/>
        </p:nvSpPr>
        <p:spPr>
          <a:xfrm>
            <a:off x="310896" y="2360200"/>
            <a:ext cx="2700528" cy="428408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A1F36"/>
                </a:solidFill>
                <a:latin typeface="Times New Roman"/>
                <a:cs typeface="Times New Roman"/>
              </a:rPr>
              <a:t>Университет талабалари касбий кўникмаларни мустаҳкамлаш мақсадида UAT базасида ўқув-ишлаб-чиқариш устахонаси (advanced workshop)</a:t>
            </a:r>
          </a:p>
        </p:txBody>
      </p:sp>
      <p:sp>
        <p:nvSpPr>
          <p:cNvPr id="458" name="Card"/>
          <p:cNvSpPr/>
          <p:nvPr/>
        </p:nvSpPr>
        <p:spPr>
          <a:xfrm>
            <a:off x="3230880" y="1445800"/>
            <a:ext cx="2773680" cy="52442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39B45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59" name="Badge"/>
          <p:cNvSpPr/>
          <p:nvPr/>
        </p:nvSpPr>
        <p:spPr>
          <a:xfrm>
            <a:off x="4297680" y="1582960"/>
            <a:ext cx="640080" cy="640080"/>
          </a:xfrm>
          <a:prstGeom prst="ellipse">
            <a:avLst/>
          </a:prstGeom>
          <a:solidFill>
            <a:srgbClr val="239B45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02</a:t>
            </a:r>
          </a:p>
        </p:txBody>
      </p:sp>
      <p:sp>
        <p:nvSpPr>
          <p:cNvPr id="460" name="TextBox"/>
          <p:cNvSpPr txBox="1"/>
          <p:nvPr/>
        </p:nvSpPr>
        <p:spPr>
          <a:xfrm>
            <a:off x="3267456" y="2360200"/>
            <a:ext cx="2700528" cy="428408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A1F36"/>
                </a:solidFill>
                <a:latin typeface="Times New Roman"/>
                <a:cs typeface="Times New Roman"/>
              </a:rPr>
              <a:t>Амалий кўникмаларни шакллантириш мақсадида 1-2 курс талабалари учун ўқув устахонаси (beginner workshop) ташкил этиш</a:t>
            </a:r>
          </a:p>
        </p:txBody>
      </p:sp>
      <p:sp>
        <p:nvSpPr>
          <p:cNvPr id="461" name="Card"/>
          <p:cNvSpPr/>
          <p:nvPr/>
        </p:nvSpPr>
        <p:spPr>
          <a:xfrm>
            <a:off x="6187440" y="1445800"/>
            <a:ext cx="2773680" cy="52442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E8772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62" name="Badge"/>
          <p:cNvSpPr/>
          <p:nvPr/>
        </p:nvSpPr>
        <p:spPr>
          <a:xfrm>
            <a:off x="7254240" y="1582960"/>
            <a:ext cx="640080" cy="64008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</a:p>
        </p:txBody>
      </p:sp>
      <p:sp>
        <p:nvSpPr>
          <p:cNvPr id="463" name="TextBox"/>
          <p:cNvSpPr txBox="1"/>
          <p:nvPr/>
        </p:nvSpPr>
        <p:spPr>
          <a:xfrm>
            <a:off x="6224016" y="2360200"/>
            <a:ext cx="2700528" cy="428408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A1F36"/>
                </a:solidFill>
                <a:latin typeface="Times New Roman"/>
                <a:cs typeface="Times New Roman"/>
              </a:rPr>
              <a:t>“КАУ факультети” ни очиш кадрлар тайёрлашни янги босқичга олиб чиқиш</a:t>
            </a:r>
          </a:p>
        </p:txBody>
      </p:sp>
      <p:sp>
        <p:nvSpPr>
          <p:cNvPr id="464" name="Card"/>
          <p:cNvSpPr/>
          <p:nvPr/>
        </p:nvSpPr>
        <p:spPr>
          <a:xfrm>
            <a:off x="9144000" y="1445800"/>
            <a:ext cx="2773680" cy="52442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C00000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65" name="Badge"/>
          <p:cNvSpPr/>
          <p:nvPr/>
        </p:nvSpPr>
        <p:spPr>
          <a:xfrm>
            <a:off x="10210800" y="1582960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04</a:t>
            </a:r>
          </a:p>
        </p:txBody>
      </p:sp>
      <p:sp>
        <p:nvSpPr>
          <p:cNvPr id="466" name="TextBox"/>
          <p:cNvSpPr txBox="1"/>
          <p:nvPr/>
        </p:nvSpPr>
        <p:spPr>
          <a:xfrm>
            <a:off x="9180576" y="2360200"/>
            <a:ext cx="2700528" cy="428408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A1F36"/>
                </a:solidFill>
                <a:latin typeface="Times New Roman"/>
                <a:cs typeface="Times New Roman"/>
              </a:rPr>
              <a:t>Амалий ва виртуал лаборатория машғулотларни ўтказиш учун замонавий компьютер синфлари ва лингофон хоналарини ташкил этиш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Title"/>
          <p:cNvSpPr>
            <a:spLocks noGrp="1"/>
          </p:cNvSpPr>
          <p:nvPr>
            <p:ph type="title" idx="105"/>
          </p:nvPr>
        </p:nvSpPr>
        <p:spPr>
          <a:xfrm>
            <a:off x="274320" y="27432"/>
            <a:ext cx="8778240" cy="530352"/>
          </a:xfrm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АВИАЦИЯ ТРАНСПОРТИ МУҲАНДИСЛИГИ ФАКУЛЬТЕТИНИ РИВОЖЛАНТИРИШ СТРАТЕГИЯСИ</a:t>
            </a:r>
          </a:p>
        </p:txBody>
      </p:sp>
      <p:sp>
        <p:nvSpPr>
          <p:cNvPr id="468" name="Pill"/>
          <p:cNvSpPr/>
          <p:nvPr/>
        </p:nvSpPr>
        <p:spPr>
          <a:xfrm>
            <a:off x="274320" y="760000"/>
            <a:ext cx="11643360" cy="502920"/>
          </a:xfrm>
          <a:prstGeom prst="roundRect">
            <a:avLst>
              <a:gd name="adj" fmla="val 18000"/>
            </a:avLst>
          </a:prstGeom>
          <a:solidFill>
            <a:srgbClr val="1B2A6B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</a:rPr>
              <a:t>ФАКУЛЬТЕТНИ РИВОЖЛАНТИРИШДАГИ ИСТИҚБОЛЛИ РЕЖАЛАР</a:t>
            </a:r>
          </a:p>
        </p:txBody>
      </p:sp>
      <p:sp>
        <p:nvSpPr>
          <p:cNvPr id="469" name="Card"/>
          <p:cNvSpPr/>
          <p:nvPr/>
        </p:nvSpPr>
        <p:spPr>
          <a:xfrm>
            <a:off x="274320" y="1445800"/>
            <a:ext cx="2773680" cy="52442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7A4FA3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70" name="Badge"/>
          <p:cNvSpPr/>
          <p:nvPr/>
        </p:nvSpPr>
        <p:spPr>
          <a:xfrm>
            <a:off x="1341120" y="1582960"/>
            <a:ext cx="640080" cy="640080"/>
          </a:xfrm>
          <a:prstGeom prst="ellipse">
            <a:avLst/>
          </a:prstGeom>
          <a:solidFill>
            <a:srgbClr val="7A4FA3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05</a:t>
            </a:r>
          </a:p>
        </p:txBody>
      </p:sp>
      <p:sp>
        <p:nvSpPr>
          <p:cNvPr id="471" name="TextBox"/>
          <p:cNvSpPr txBox="1"/>
          <p:nvPr/>
        </p:nvSpPr>
        <p:spPr>
          <a:xfrm>
            <a:off x="310896" y="2360200"/>
            <a:ext cx="2700528" cy="428408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A1F36"/>
                </a:solidFill>
                <a:latin typeface="Times New Roman"/>
                <a:cs typeface="Times New Roman"/>
              </a:rPr>
              <a:t>Хорижий талабаларни авиация таълим йўналишларига жалб этиш ва инглиз тилидаги таълимни босқичма-босқич йўлга қўйиш</a:t>
            </a:r>
          </a:p>
        </p:txBody>
      </p:sp>
      <p:sp>
        <p:nvSpPr>
          <p:cNvPr id="472" name="Card"/>
          <p:cNvSpPr/>
          <p:nvPr/>
        </p:nvSpPr>
        <p:spPr>
          <a:xfrm>
            <a:off x="3230880" y="1445800"/>
            <a:ext cx="2773680" cy="52442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138A7A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73" name="Badge"/>
          <p:cNvSpPr/>
          <p:nvPr/>
        </p:nvSpPr>
        <p:spPr>
          <a:xfrm>
            <a:off x="4297680" y="1582960"/>
            <a:ext cx="640080" cy="640080"/>
          </a:xfrm>
          <a:prstGeom prst="ellipse">
            <a:avLst/>
          </a:prstGeom>
          <a:solidFill>
            <a:srgbClr val="138A7A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06</a:t>
            </a:r>
          </a:p>
        </p:txBody>
      </p:sp>
      <p:sp>
        <p:nvSpPr>
          <p:cNvPr id="474" name="TextBox"/>
          <p:cNvSpPr txBox="1"/>
          <p:nvPr/>
        </p:nvSpPr>
        <p:spPr>
          <a:xfrm>
            <a:off x="3267456" y="2360200"/>
            <a:ext cx="2700528" cy="428408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A1F36"/>
                </a:solidFill>
                <a:latin typeface="Times New Roman"/>
                <a:cs typeface="Times New Roman"/>
              </a:rPr>
              <a:t>Мутахассислик фанлар бўйича оралиқ ва якуний назоратларни инсон омилисиз топширишни йўлга қўйиш</a:t>
            </a:r>
          </a:p>
        </p:txBody>
      </p:sp>
      <p:sp>
        <p:nvSpPr>
          <p:cNvPr id="475" name="Card"/>
          <p:cNvSpPr/>
          <p:nvPr/>
        </p:nvSpPr>
        <p:spPr>
          <a:xfrm>
            <a:off x="6187440" y="1445800"/>
            <a:ext cx="2773680" cy="52442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1B2A6B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76" name="Badge"/>
          <p:cNvSpPr/>
          <p:nvPr/>
        </p:nvSpPr>
        <p:spPr>
          <a:xfrm>
            <a:off x="7254240" y="1582960"/>
            <a:ext cx="640080" cy="64008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07</a:t>
            </a:r>
          </a:p>
        </p:txBody>
      </p:sp>
      <p:sp>
        <p:nvSpPr>
          <p:cNvPr id="477" name="TextBox"/>
          <p:cNvSpPr txBox="1"/>
          <p:nvPr/>
        </p:nvSpPr>
        <p:spPr>
          <a:xfrm>
            <a:off x="6224016" y="2360200"/>
            <a:ext cx="2700528" cy="428408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A1F36"/>
                </a:solidFill>
                <a:latin typeface="Times New Roman"/>
                <a:cs typeface="Times New Roman"/>
              </a:rPr>
              <a:t>«Аэродинамика» ва «Газогидравлик аналогия» илмий лабораторияларини ускуналар билан жиҳозлаш</a:t>
            </a:r>
          </a:p>
        </p:txBody>
      </p:sp>
      <p:sp>
        <p:nvSpPr>
          <p:cNvPr id="478" name="Card"/>
          <p:cNvSpPr/>
          <p:nvPr/>
        </p:nvSpPr>
        <p:spPr>
          <a:xfrm>
            <a:off x="9144000" y="1445800"/>
            <a:ext cx="2773680" cy="52442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A7AC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79" name="Badge"/>
          <p:cNvSpPr/>
          <p:nvPr/>
        </p:nvSpPr>
        <p:spPr>
          <a:xfrm>
            <a:off x="10210800" y="1582960"/>
            <a:ext cx="640080" cy="640080"/>
          </a:xfrm>
          <a:prstGeom prst="ellipse">
            <a:avLst/>
          </a:prstGeom>
          <a:solidFill>
            <a:srgbClr val="2A7AC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</a:p>
        </p:txBody>
      </p:sp>
      <p:sp>
        <p:nvSpPr>
          <p:cNvPr id="480" name="TextBox"/>
          <p:cNvSpPr txBox="1"/>
          <p:nvPr/>
        </p:nvSpPr>
        <p:spPr>
          <a:xfrm>
            <a:off x="9180576" y="2360200"/>
            <a:ext cx="2700528" cy="428408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A1F36"/>
                </a:solidFill>
                <a:latin typeface="Times New Roman"/>
                <a:cs typeface="Times New Roman"/>
              </a:rPr>
              <a:t>Ўқув жараёни даврида “ICAO” талаби доирасида 4 даражали тил сертификати (авиацион инглиз тили)га ўқитиш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Title"/>
          <p:cNvSpPr>
            <a:spLocks noGrp="1"/>
          </p:cNvSpPr>
          <p:nvPr>
            <p:ph type="title" idx="105"/>
          </p:nvPr>
        </p:nvSpPr>
        <p:spPr>
          <a:xfrm>
            <a:off x="274320" y="27432"/>
            <a:ext cx="8778240" cy="530352"/>
          </a:xfrm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АВИАЦИЯ ТРАНСПОРТИ МУҲАНДИСЛИГИ ФАКУЛЬТЕТИНИ РИВОЖЛАНТИРИШ СТРАТЕГИЯСИ</a:t>
            </a:r>
          </a:p>
        </p:txBody>
      </p:sp>
      <p:sp>
        <p:nvSpPr>
          <p:cNvPr id="482" name="Pill"/>
          <p:cNvSpPr/>
          <p:nvPr/>
        </p:nvSpPr>
        <p:spPr>
          <a:xfrm>
            <a:off x="274320" y="760000"/>
            <a:ext cx="11643360" cy="502920"/>
          </a:xfrm>
          <a:prstGeom prst="roundRect">
            <a:avLst>
              <a:gd name="adj" fmla="val 18000"/>
            </a:avLst>
          </a:prstGeom>
          <a:solidFill>
            <a:srgbClr val="1B2A6B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</a:rPr>
              <a:t>ФАКУЛЬТЕТНИ РИВОЖЛАНТИРИШДАГИ ИСТИҚБОЛЛИ РЕЖАЛАР</a:t>
            </a:r>
          </a:p>
        </p:txBody>
      </p:sp>
      <p:sp>
        <p:nvSpPr>
          <p:cNvPr id="483" name="Card"/>
          <p:cNvSpPr/>
          <p:nvPr/>
        </p:nvSpPr>
        <p:spPr>
          <a:xfrm>
            <a:off x="274320" y="1445800"/>
            <a:ext cx="2773680" cy="52442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239B45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84" name="Badge"/>
          <p:cNvSpPr/>
          <p:nvPr/>
        </p:nvSpPr>
        <p:spPr>
          <a:xfrm>
            <a:off x="1341120" y="1582960"/>
            <a:ext cx="640080" cy="640080"/>
          </a:xfrm>
          <a:prstGeom prst="ellipse">
            <a:avLst/>
          </a:prstGeom>
          <a:solidFill>
            <a:srgbClr val="239B45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09</a:t>
            </a:r>
          </a:p>
        </p:txBody>
      </p:sp>
      <p:sp>
        <p:nvSpPr>
          <p:cNvPr id="485" name="TextBox"/>
          <p:cNvSpPr txBox="1"/>
          <p:nvPr/>
        </p:nvSpPr>
        <p:spPr>
          <a:xfrm>
            <a:off x="310896" y="2360200"/>
            <a:ext cx="2700528" cy="428408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A1F36"/>
                </a:solidFill>
                <a:latin typeface="Times New Roman"/>
                <a:cs typeface="Times New Roman"/>
              </a:rPr>
              <a:t>Университет худудида ўқув полигонини ташкил этиш ва замонавий  техника билан жиҳозлаш</a:t>
            </a:r>
          </a:p>
        </p:txBody>
      </p:sp>
      <p:sp>
        <p:nvSpPr>
          <p:cNvPr id="486" name="Card"/>
          <p:cNvSpPr/>
          <p:nvPr/>
        </p:nvSpPr>
        <p:spPr>
          <a:xfrm>
            <a:off x="3230880" y="1445800"/>
            <a:ext cx="2773680" cy="52442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E87722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87" name="Badge"/>
          <p:cNvSpPr/>
          <p:nvPr/>
        </p:nvSpPr>
        <p:spPr>
          <a:xfrm>
            <a:off x="4297680" y="1582960"/>
            <a:ext cx="640080" cy="64008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</a:p>
        </p:txBody>
      </p:sp>
      <p:sp>
        <p:nvSpPr>
          <p:cNvPr id="488" name="TextBox"/>
          <p:cNvSpPr txBox="1"/>
          <p:nvPr/>
        </p:nvSpPr>
        <p:spPr>
          <a:xfrm>
            <a:off x="3267456" y="2360200"/>
            <a:ext cx="2700528" cy="428408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A1F36"/>
                </a:solidFill>
                <a:latin typeface="Times New Roman"/>
                <a:cs typeface="Times New Roman"/>
              </a:rPr>
              <a:t>Ўқув самолётлар, тренажёрлар, дастгоҳлар ва авиация соҳасига доир жиҳозлар билан жиҳозлаш</a:t>
            </a:r>
          </a:p>
        </p:txBody>
      </p:sp>
      <p:sp>
        <p:nvSpPr>
          <p:cNvPr id="489" name="Card"/>
          <p:cNvSpPr/>
          <p:nvPr/>
        </p:nvSpPr>
        <p:spPr>
          <a:xfrm>
            <a:off x="6187440" y="1445800"/>
            <a:ext cx="2773680" cy="52442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C00000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90" name="Badge"/>
          <p:cNvSpPr/>
          <p:nvPr/>
        </p:nvSpPr>
        <p:spPr>
          <a:xfrm>
            <a:off x="7254240" y="1582960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</a:p>
        </p:txBody>
      </p:sp>
      <p:sp>
        <p:nvSpPr>
          <p:cNvPr id="491" name="TextBox"/>
          <p:cNvSpPr txBox="1"/>
          <p:nvPr/>
        </p:nvSpPr>
        <p:spPr>
          <a:xfrm>
            <a:off x="6224016" y="2360200"/>
            <a:ext cx="2700528" cy="428408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A1F36"/>
                </a:solidFill>
                <a:latin typeface="Times New Roman"/>
                <a:cs typeface="Times New Roman"/>
              </a:rPr>
              <a:t>Профессор-ўқитувчиларни хорижда малакасини ошириш ва EASA сертификатини берувчи инструкторликка ўқитиш</a:t>
            </a:r>
          </a:p>
        </p:txBody>
      </p:sp>
      <p:sp>
        <p:nvSpPr>
          <p:cNvPr id="492" name="Card"/>
          <p:cNvSpPr/>
          <p:nvPr/>
        </p:nvSpPr>
        <p:spPr>
          <a:xfrm>
            <a:off x="9144000" y="1445800"/>
            <a:ext cx="2773680" cy="52442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9050">
            <a:solidFill>
              <a:srgbClr val="7A4FA3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93" name="Badge"/>
          <p:cNvSpPr/>
          <p:nvPr/>
        </p:nvSpPr>
        <p:spPr>
          <a:xfrm>
            <a:off x="10210800" y="1582960"/>
            <a:ext cx="640080" cy="640080"/>
          </a:xfrm>
          <a:prstGeom prst="ellipse">
            <a:avLst/>
          </a:prstGeom>
          <a:solidFill>
            <a:srgbClr val="7A4FA3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</a:p>
        </p:txBody>
      </p:sp>
      <p:sp>
        <p:nvSpPr>
          <p:cNvPr id="494" name="TextBox"/>
          <p:cNvSpPr txBox="1"/>
          <p:nvPr/>
        </p:nvSpPr>
        <p:spPr>
          <a:xfrm>
            <a:off x="9180576" y="2360200"/>
            <a:ext cx="2700528" cy="428408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A1F36"/>
                </a:solidFill>
                <a:latin typeface="Times New Roman"/>
                <a:cs typeface="Times New Roman"/>
              </a:rPr>
              <a:t>Ўқув аэродромини ташкил қилиш ва босқичма-басқич ҳаво кемалари билан таъминлаш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DTU kafedra">
  <a:themeElements>
    <a:clrScheme name="TDTU kafedra">
      <a:dk1>
        <a:srgbClr val="000000"/>
      </a:dk1>
      <a:lt1>
        <a:srgbClr val="FFFFFF"/>
      </a:lt1>
      <a:dk2>
        <a:srgbClr val="002060"/>
      </a:dk2>
      <a:lt2>
        <a:srgbClr val="EEF3FB"/>
      </a:lt2>
      <a:accent1>
        <a:srgbClr val="0255B3"/>
      </a:accent1>
      <a:accent2>
        <a:srgbClr val="28C8A0"/>
      </a:accent2>
      <a:accent3>
        <a:srgbClr val="14A1D6"/>
      </a:accent3>
      <a:accent4>
        <a:srgbClr val="F28C28"/>
      </a:accent4>
      <a:accent5>
        <a:srgbClr val="C00000"/>
      </a:accent5>
      <a:accent6>
        <a:srgbClr val="2A7AC2"/>
      </a:accent6>
      <a:hlink>
        <a:srgbClr val="0255B3"/>
      </a:hlink>
      <a:folHlink>
        <a:srgbClr val="2A7AC2"/>
      </a:folHlink>
    </a:clrScheme>
    <a:fontScheme name="TDTU kafedra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3023</Words>
  <Application>Microsoft Office PowerPoint</Application>
  <PresentationFormat>Широкоэкранный</PresentationFormat>
  <Paragraphs>498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1" baseType="lpstr">
      <vt:lpstr>Arial</vt:lpstr>
      <vt:lpstr>Bahnschrift Condensed</vt:lpstr>
      <vt:lpstr>Calibri</vt:lpstr>
      <vt:lpstr>Cambria</vt:lpstr>
      <vt:lpstr>Segoe UI</vt:lpstr>
      <vt:lpstr>Times New Roman</vt:lpstr>
      <vt:lpstr>Univers Condensed Light</vt:lpstr>
      <vt:lpstr>Wingdings</vt:lpstr>
      <vt:lpstr>TDTU kafedra</vt:lpstr>
      <vt:lpstr>«AVTOMOBIL YO‘LLARI MUHANDISLIGI» FAKULTETINING 2030-YILGACHA STRATEGIK RIVOJLANISH REJASI</vt:lpstr>
      <vt:lpstr>FAKULTET VA KAFEDRALARI</vt:lpstr>
      <vt:lpstr>Презентация PowerPoint</vt:lpstr>
      <vt:lpstr>SO‘NGGI 5 YILDA ERISHILGAN NATIJALAR (2021–2026)</vt:lpstr>
      <vt:lpstr>FAKULTET FAOLIYATINING SWOT TAHLILI</vt:lpstr>
      <vt:lpstr>STRATEGIK MAQSAD VA USTUVOR YO‘NALISHLAR</vt:lpstr>
      <vt:lpstr>KAFEDRALARNING USTUVOR ILMIY YO‘NALISHLARI</vt:lpstr>
      <vt:lpstr>I QISM. 2026–2027 O‘QUV YILI REJASI</vt:lpstr>
      <vt:lpstr>II QISM. 2027–2030-YILLAR YO‘L XARITASI</vt:lpstr>
      <vt:lpstr>REJALASHTIRILGAN TIJORATLASHTIRISH ISHLARI</vt:lpstr>
      <vt:lpstr>AKKREDITATSIYA VA MODDIY-TEXNIK BAZA</vt:lpstr>
      <vt:lpstr>2030-YIL MAQSADLI KO‘RSATKICHLARI VA MONITORING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Kafedraning 2030-yilgacha strategik rivojlanish konsepsiyasi</dc:title>
  <dc:subject>PptxGenJS Presentation</dc:subject>
  <dc:creator>Mamatkulov M.T.</dc:creator>
  <cp:lastModifiedBy>Acer</cp:lastModifiedBy>
  <cp:revision>28</cp:revision>
  <dcterms:created xsi:type="dcterms:W3CDTF">2026-10-12T12:39:15Z</dcterms:created>
  <dcterms:modified xsi:type="dcterms:W3CDTF">2026-10-13T05:32:11Z</dcterms:modified>
</cp:coreProperties>
</file>