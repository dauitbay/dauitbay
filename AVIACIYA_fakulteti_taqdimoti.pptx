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8FE"/>
    <a:srgbClr val="F4F9FE"/>
    <a:srgbClr val="0255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04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57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20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DTU_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5b5676b2-8e5b-52be-9fe5-3c985a41a577/scratchpad/assets/ref_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566928"/>
            <a:ext cx="2432304" cy="676656"/>
          </a:xfrm>
          <a:prstGeom prst="rect">
            <a:avLst/>
          </a:prstGeom>
        </p:spPr>
      </p:pic>
      <p:pic>
        <p:nvPicPr>
          <p:cNvPr id="3" name="Image 1" descr="/tmp/claude-0/-home-claude/5b5676b2-8e5b-52be-9fe5-3c985a41a577/scratchpad/assets/ref_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612648"/>
            <a:ext cx="2359152" cy="576072"/>
          </a:xfrm>
          <a:prstGeom prst="rect">
            <a:avLst/>
          </a:prstGeom>
        </p:spPr>
      </p:pic>
      <p:pic>
        <p:nvPicPr>
          <p:cNvPr id="4" name="Image 2" descr="/tmp/claude-0/-home-claude/5b5676b2-8e5b-52be-9fe5-3c985a41a577/scratchpad/assets/ref_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566928"/>
            <a:ext cx="2569464" cy="667512"/>
          </a:xfrm>
          <a:prstGeom prst="rect">
            <a:avLst/>
          </a:prstGeom>
        </p:spPr>
      </p:pic>
      <p:sp>
        <p:nvSpPr>
          <p:cNvPr id="5" name="Text 0"/>
          <p:cNvSpPr>
            <a:spLocks noGrp="1"/>
          </p:cNvSpPr>
          <p:nvPr>
            <p:ph type="title" idx="103" hasCustomPrompt="1"/>
          </p:nvPr>
        </p:nvSpPr>
        <p:spPr>
          <a:xfrm>
            <a:off x="1097280" y="2331720"/>
            <a:ext cx="9994392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6" name="Text 0"/>
          <p:cNvSpPr>
            <a:spLocks noGrp="1"/>
          </p:cNvSpPr>
          <p:nvPr>
            <p:ph type="body" idx="104" hasCustomPrompt="1"/>
          </p:nvPr>
        </p:nvSpPr>
        <p:spPr>
          <a:xfrm>
            <a:off x="1700784" y="5760720"/>
            <a:ext cx="8796528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DTU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5b5676b2-8e5b-52be-9fe5-3c985a41a577/scratchpad/assets/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85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5216"/>
            <a:ext cx="4064508" cy="73152"/>
          </a:xfrm>
          <a:prstGeom prst="rect">
            <a:avLst/>
          </a:prstGeom>
          <a:solidFill>
            <a:srgbClr val="2A7AC2"/>
          </a:solidFill>
          <a:ln w="12700">
            <a:solidFill>
              <a:srgbClr val="2A7AC2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063594" y="585216"/>
            <a:ext cx="4064508" cy="73152"/>
          </a:xfrm>
          <a:prstGeom prst="rect">
            <a:avLst/>
          </a:prstGeom>
          <a:solidFill>
            <a:srgbClr val="14A1D6"/>
          </a:solidFill>
          <a:ln w="12700">
            <a:solidFill>
              <a:srgbClr val="14A1D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27187" y="585216"/>
            <a:ext cx="4064508" cy="73152"/>
          </a:xfrm>
          <a:prstGeom prst="rect">
            <a:avLst/>
          </a:prstGeom>
          <a:solidFill>
            <a:srgbClr val="28C8A0"/>
          </a:solidFill>
          <a:ln w="12700">
            <a:solidFill>
              <a:srgbClr val="28C8A0"/>
            </a:solidFill>
            <a:prstDash val="solid"/>
          </a:ln>
        </p:spPr>
      </p:sp>
      <p:pic>
        <p:nvPicPr>
          <p:cNvPr id="6" name="Image 1" descr="/tmp/claude-0/-home-claude/5b5676b2-8e5b-52be-9fe5-3c985a41a577/scratchpad/assets/ref_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54864"/>
            <a:ext cx="1938528" cy="475488"/>
          </a:xfrm>
          <a:prstGeom prst="rect">
            <a:avLst/>
          </a:prstGeom>
        </p:spPr>
      </p:pic>
      <p:sp>
        <p:nvSpPr>
          <p:cNvPr id="7" name="Text 3"/>
          <p:cNvSpPr>
            <a:spLocks noGrp="1"/>
          </p:cNvSpPr>
          <p:nvPr>
            <p:ph type="title" idx="105" hasCustomPrompt="1"/>
          </p:nvPr>
        </p:nvSpPr>
        <p:spPr>
          <a:xfrm>
            <a:off x="320040" y="45720"/>
            <a:ext cx="94183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4BFAAB-86EC-4536-B90D-39E6909B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C9431B-66A2-4F11-A91E-401942278D59}" type="datetimeFigureOut">
              <a:rPr lang="ru-RU"/>
              <a:pPr>
                <a:defRPr/>
              </a:pPr>
              <a:t>13.10.2026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22140E-A3D5-42B6-AFE1-B02B5DA34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0640DB-0100-4278-BBAE-D393173DC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FFFEFC1-6AE4-423A-86EA-9EEAA09B0872}" type="slidenum">
              <a:rPr lang="ru-RU"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225837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AB0B3A-FB61-1678-569A-89C297D719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UZ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F6497EE-6864-980B-48D1-C7F8BBF926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U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FA4012-0BBF-C0B4-760E-12359594C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5FC6F-74F6-2447-B345-0024A991291C}" type="datetimeFigureOut">
              <a:rPr lang="ru-UZ" smtClean="0"/>
              <a:t>10/13/2026</a:t>
            </a:fld>
            <a:endParaRPr lang="ru-U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F5C5D8-4E33-9188-94AE-2148F47C4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62D2AC-7B60-F3E9-3ED4-6E8A026BF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58277-3CC2-7F4A-9933-27B099D5A65E}" type="slidenum">
              <a:rPr lang="ru-UZ" smtClean="0"/>
              <a:t>‹#›</a:t>
            </a:fld>
            <a:endParaRPr lang="ru-UZ"/>
          </a:p>
        </p:txBody>
      </p:sp>
    </p:spTree>
    <p:extLst>
      <p:ext uri="{BB962C8B-B14F-4D97-AF65-F5344CB8AC3E}">
        <p14:creationId xmlns:p14="http://schemas.microsoft.com/office/powerpoint/2010/main" val="1190727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3">
            <a:extLst>
              <a:ext uri="{FF2B5EF4-FFF2-40B4-BE49-F238E27FC236}">
                <a16:creationId xmlns:a16="http://schemas.microsoft.com/office/drawing/2014/main" id="{DD89193E-AEE1-8090-BB57-3D8584FD4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F47B23-0905-FD46-8BBA-265AB6D4728F}" type="datetimeFigureOut">
              <a:rPr lang="ru-RU"/>
              <a:pPr>
                <a:defRPr/>
              </a:pPr>
              <a:t>13.10.2026</a:t>
            </a:fld>
            <a:endParaRPr lang="ru-RU"/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379187AD-4C0B-EC3A-4EEA-4EBBDE5EF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FE632641-A7E3-6D95-9248-4F682C538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286E50C-9BC3-6F44-A795-7F0B01A0845B}" type="slidenum">
              <a:rPr lang="ru-RU"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614029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"/>
          <p:cNvSpPr>
            <a:spLocks noGrp="1"/>
          </p:cNvSpPr>
          <p:nvPr>
            <p:ph type="title" idx="103"/>
          </p:nvPr>
        </p:nvSpPr>
        <p:spPr>
          <a:xfrm>
            <a:off x="1097280" y="2331720"/>
            <a:ext cx="9994392" cy="2103120"/>
          </a:xfrm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  <a:cs typeface="Times New Roman"/>
              </a:rPr>
              <a:t>«АВИАЦИЯ ТРАНСПОРТИ МУҲАНДИСЛИГИ» ФАКУЛЬТЕТИНИНГ</a:t>
            </a:r>
          </a:p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  <a:cs typeface="Times New Roman"/>
              </a:rPr>
              <a:t>РИВОЖЛАНТИРИШ ТАҚДИМОТИ</a:t>
            </a:r>
          </a:p>
        </p:txBody>
      </p:sp>
      <p:sp>
        <p:nvSpPr>
          <p:cNvPr id="102" name="Subtitle"/>
          <p:cNvSpPr>
            <a:spLocks noGrp="1"/>
          </p:cNvSpPr>
          <p:nvPr>
            <p:ph type="body" idx="104"/>
          </p:nvPr>
        </p:nvSpPr>
        <p:spPr>
          <a:xfrm>
            <a:off x="1700784" y="5760720"/>
            <a:ext cx="8796528" cy="502920"/>
          </a:xfrm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Times New Roman"/>
                <a:cs typeface="Times New Roman"/>
              </a:rPr>
              <a:t>ТОШКЕНТ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 ВА КАФЕДРАЛАРИ</a:t>
            </a:r>
          </a:p>
        </p:txBody>
      </p:sp>
      <p:sp>
        <p:nvSpPr>
          <p:cNvPr id="104" name="Card"/>
          <p:cNvSpPr/>
          <p:nvPr/>
        </p:nvSpPr>
        <p:spPr>
          <a:xfrm>
            <a:off x="274320" y="760000"/>
            <a:ext cx="1864360" cy="6400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05" name="Shape"/>
          <p:cNvSpPr/>
          <p:nvPr/>
        </p:nvSpPr>
        <p:spPr>
          <a:xfrm>
            <a:off x="3200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2 та</a:t>
            </a:r>
          </a:p>
        </p:txBody>
      </p:sp>
      <p:sp>
        <p:nvSpPr>
          <p:cNvPr id="106" name="TextBox"/>
          <p:cNvSpPr txBox="1"/>
          <p:nvPr/>
        </p:nvSpPr>
        <p:spPr>
          <a:xfrm>
            <a:off x="274320" y="1144048"/>
            <a:ext cx="1864360" cy="22860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ихтисослашган кафедра</a:t>
            </a:r>
          </a:p>
        </p:txBody>
      </p:sp>
      <p:sp>
        <p:nvSpPr>
          <p:cNvPr id="107" name="Card"/>
          <p:cNvSpPr/>
          <p:nvPr/>
        </p:nvSpPr>
        <p:spPr>
          <a:xfrm>
            <a:off x="2230120" y="760000"/>
            <a:ext cx="1864360" cy="6400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08" name="Shape"/>
          <p:cNvSpPr/>
          <p:nvPr/>
        </p:nvSpPr>
        <p:spPr>
          <a:xfrm>
            <a:off x="22758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36 нафар</a:t>
            </a:r>
          </a:p>
        </p:txBody>
      </p:sp>
      <p:sp>
        <p:nvSpPr>
          <p:cNvPr id="109" name="TextBox"/>
          <p:cNvSpPr txBox="1"/>
          <p:nvPr/>
        </p:nvSpPr>
        <p:spPr>
          <a:xfrm>
            <a:off x="2230120" y="1144048"/>
            <a:ext cx="1864360" cy="22860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профессор-ўқитувчи</a:t>
            </a:r>
          </a:p>
        </p:txBody>
      </p:sp>
      <p:sp>
        <p:nvSpPr>
          <p:cNvPr id="110" name="Card"/>
          <p:cNvSpPr/>
          <p:nvPr/>
        </p:nvSpPr>
        <p:spPr>
          <a:xfrm>
            <a:off x="4185920" y="760000"/>
            <a:ext cx="1864360" cy="6400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11" name="Shape"/>
          <p:cNvSpPr/>
          <p:nvPr/>
        </p:nvSpPr>
        <p:spPr>
          <a:xfrm>
            <a:off x="42316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42%</a:t>
            </a:r>
          </a:p>
        </p:txBody>
      </p:sp>
      <p:sp>
        <p:nvSpPr>
          <p:cNvPr id="112" name="TextBox"/>
          <p:cNvSpPr txBox="1"/>
          <p:nvPr/>
        </p:nvSpPr>
        <p:spPr>
          <a:xfrm>
            <a:off x="4185920" y="1144048"/>
            <a:ext cx="1864360" cy="22860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илмий салоҳият</a:t>
            </a:r>
          </a:p>
        </p:txBody>
      </p:sp>
      <p:sp>
        <p:nvSpPr>
          <p:cNvPr id="113" name="Card"/>
          <p:cNvSpPr/>
          <p:nvPr/>
        </p:nvSpPr>
        <p:spPr>
          <a:xfrm>
            <a:off x="6141720" y="760000"/>
            <a:ext cx="1864360" cy="6400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14" name="Shape"/>
          <p:cNvSpPr/>
          <p:nvPr/>
        </p:nvSpPr>
        <p:spPr>
          <a:xfrm>
            <a:off x="61874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138A7A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1775 нафар</a:t>
            </a:r>
          </a:p>
        </p:txBody>
      </p:sp>
      <p:sp>
        <p:nvSpPr>
          <p:cNvPr id="115" name="TextBox"/>
          <p:cNvSpPr txBox="1"/>
          <p:nvPr/>
        </p:nvSpPr>
        <p:spPr>
          <a:xfrm>
            <a:off x="6141720" y="1144048"/>
            <a:ext cx="1864360" cy="22860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талаба (жами)</a:t>
            </a:r>
          </a:p>
        </p:txBody>
      </p:sp>
      <p:sp>
        <p:nvSpPr>
          <p:cNvPr id="116" name="Card"/>
          <p:cNvSpPr/>
          <p:nvPr/>
        </p:nvSpPr>
        <p:spPr>
          <a:xfrm>
            <a:off x="8097520" y="760000"/>
            <a:ext cx="1864360" cy="6400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17" name="Shape"/>
          <p:cNvSpPr/>
          <p:nvPr/>
        </p:nvSpPr>
        <p:spPr>
          <a:xfrm>
            <a:off x="81432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7 та</a:t>
            </a:r>
          </a:p>
        </p:txBody>
      </p:sp>
      <p:sp>
        <p:nvSpPr>
          <p:cNvPr id="118" name="TextBox"/>
          <p:cNvSpPr txBox="1"/>
          <p:nvPr/>
        </p:nvSpPr>
        <p:spPr>
          <a:xfrm>
            <a:off x="8097520" y="1144048"/>
            <a:ext cx="1864360" cy="22860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бакалавриат йўналиши</a:t>
            </a:r>
          </a:p>
        </p:txBody>
      </p:sp>
      <p:sp>
        <p:nvSpPr>
          <p:cNvPr id="119" name="Card"/>
          <p:cNvSpPr/>
          <p:nvPr/>
        </p:nvSpPr>
        <p:spPr>
          <a:xfrm>
            <a:off x="10053320" y="760000"/>
            <a:ext cx="1864360" cy="6400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20" name="Shape"/>
          <p:cNvSpPr/>
          <p:nvPr/>
        </p:nvSpPr>
        <p:spPr>
          <a:xfrm>
            <a:off x="100990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5 та</a:t>
            </a:r>
          </a:p>
        </p:txBody>
      </p:sp>
      <p:sp>
        <p:nvSpPr>
          <p:cNvPr id="121" name="TextBox"/>
          <p:cNvSpPr txBox="1"/>
          <p:nvPr/>
        </p:nvSpPr>
        <p:spPr>
          <a:xfrm>
            <a:off x="10053320" y="1144048"/>
            <a:ext cx="1864360" cy="22860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магистратура йўналиши</a:t>
            </a:r>
          </a:p>
        </p:txBody>
      </p:sp>
      <p:sp>
        <p:nvSpPr>
          <p:cNvPr id="122" name="Card"/>
          <p:cNvSpPr/>
          <p:nvPr/>
        </p:nvSpPr>
        <p:spPr>
          <a:xfrm>
            <a:off x="274320" y="1537240"/>
            <a:ext cx="2807970" cy="3474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23" name="Pill"/>
          <p:cNvSpPr/>
          <p:nvPr/>
        </p:nvSpPr>
        <p:spPr>
          <a:xfrm>
            <a:off x="320040" y="1582960"/>
            <a:ext cx="271653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«АВИАЦИЯ ИНЖИНИРИНГИ» КАФЕДРАСИ</a:t>
            </a:r>
          </a:p>
        </p:txBody>
      </p:sp>
      <p:sp>
        <p:nvSpPr>
          <p:cNvPr id="124" name="Shape"/>
          <p:cNvSpPr/>
          <p:nvPr/>
        </p:nvSpPr>
        <p:spPr>
          <a:xfrm>
            <a:off x="320040" y="2085880"/>
            <a:ext cx="133540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B2A6B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22  </a:t>
            </a: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нафар ПЎ</a:t>
            </a:r>
          </a:p>
        </p:txBody>
      </p:sp>
      <p:sp>
        <p:nvSpPr>
          <p:cNvPr id="125" name="Shape"/>
          <p:cNvSpPr/>
          <p:nvPr/>
        </p:nvSpPr>
        <p:spPr>
          <a:xfrm>
            <a:off x="1701165" y="2085880"/>
            <a:ext cx="133540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B2A6B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4  </a:t>
            </a: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йўналиш</a:t>
            </a:r>
          </a:p>
        </p:txBody>
      </p:sp>
      <p:sp>
        <p:nvSpPr>
          <p:cNvPr id="126" name="TextBox"/>
          <p:cNvSpPr txBox="1"/>
          <p:nvPr/>
        </p:nvSpPr>
        <p:spPr>
          <a:xfrm>
            <a:off x="310896" y="2634520"/>
            <a:ext cx="2734818" cy="23042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Авиация муҳандислиги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— 649 талаба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Ҳаво кемаларининг техник эксплуатацияси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— 158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Авиация инжиниринги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— 157 талаба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Ҳаво кемаларининг парвоз эксплуатацияси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— 175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Магистратура: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авиация муҳандислиги, двигателлар</a:t>
            </a:r>
          </a:p>
        </p:txBody>
      </p:sp>
      <p:sp>
        <p:nvSpPr>
          <p:cNvPr id="127" name="Card"/>
          <p:cNvSpPr/>
          <p:nvPr/>
        </p:nvSpPr>
        <p:spPr>
          <a:xfrm>
            <a:off x="3219450" y="1537240"/>
            <a:ext cx="2807970" cy="3474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28" name="Pill"/>
          <p:cNvSpPr/>
          <p:nvPr/>
        </p:nvSpPr>
        <p:spPr>
          <a:xfrm>
            <a:off x="3265170" y="1582960"/>
            <a:ext cx="2716530" cy="457200"/>
          </a:xfrm>
          <a:prstGeom prst="roundRect">
            <a:avLst>
              <a:gd name="adj" fmla="val 18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«АЭРОНАВИГАЦИЯ ТИЗИМЛАРИ» КАФЕДРАСИ</a:t>
            </a:r>
          </a:p>
        </p:txBody>
      </p:sp>
      <p:sp>
        <p:nvSpPr>
          <p:cNvPr id="129" name="Shape"/>
          <p:cNvSpPr/>
          <p:nvPr/>
        </p:nvSpPr>
        <p:spPr>
          <a:xfrm>
            <a:off x="3265170" y="2085880"/>
            <a:ext cx="133540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14  </a:t>
            </a: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нафар ПЎ</a:t>
            </a:r>
          </a:p>
        </p:txBody>
      </p:sp>
      <p:sp>
        <p:nvSpPr>
          <p:cNvPr id="130" name="Shape"/>
          <p:cNvSpPr/>
          <p:nvPr/>
        </p:nvSpPr>
        <p:spPr>
          <a:xfrm>
            <a:off x="4646295" y="2085880"/>
            <a:ext cx="133540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3  </a:t>
            </a: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йўналиш</a:t>
            </a:r>
          </a:p>
        </p:txBody>
      </p:sp>
      <p:sp>
        <p:nvSpPr>
          <p:cNvPr id="131" name="TextBox"/>
          <p:cNvSpPr txBox="1"/>
          <p:nvPr/>
        </p:nvSpPr>
        <p:spPr>
          <a:xfrm>
            <a:off x="3256026" y="2634520"/>
            <a:ext cx="2734818" cy="23042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Ҳаводаги ҳаракатни бошқариш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— 316 талаба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Радиоэлектрон қурилмалар ва тизимлар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— 185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Амалий космик технологиялари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— 72 талаба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Магистратура: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парвоз хавфсизлиги, аэронавигация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Космик технологиялар ва CubeSat йўналиши</a:t>
            </a:r>
          </a:p>
        </p:txBody>
      </p:sp>
      <p:sp>
        <p:nvSpPr>
          <p:cNvPr id="132" name="Card"/>
          <p:cNvSpPr/>
          <p:nvPr/>
        </p:nvSpPr>
        <p:spPr>
          <a:xfrm>
            <a:off x="6164580" y="1537240"/>
            <a:ext cx="2807970" cy="3474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33" name="Pill"/>
          <p:cNvSpPr/>
          <p:nvPr/>
        </p:nvSpPr>
        <p:spPr>
          <a:xfrm>
            <a:off x="6210300" y="1582960"/>
            <a:ext cx="2716530" cy="457200"/>
          </a:xfrm>
          <a:prstGeom prst="roundRect">
            <a:avLst>
              <a:gd name="adj" fmla="val 18000"/>
            </a:avLst>
          </a:prstGeom>
          <a:solidFill>
            <a:srgbClr val="138A7A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ИЛМИЙ САЛОҲИЯТ — 42%</a:t>
            </a:r>
          </a:p>
        </p:txBody>
      </p:sp>
      <p:sp>
        <p:nvSpPr>
          <p:cNvPr id="134" name="Shape"/>
          <p:cNvSpPr/>
          <p:nvPr/>
        </p:nvSpPr>
        <p:spPr>
          <a:xfrm>
            <a:off x="6210300" y="2085880"/>
            <a:ext cx="133540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6  </a:t>
            </a: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DSc</a:t>
            </a:r>
          </a:p>
        </p:txBody>
      </p:sp>
      <p:sp>
        <p:nvSpPr>
          <p:cNvPr id="135" name="Shape"/>
          <p:cNvSpPr/>
          <p:nvPr/>
        </p:nvSpPr>
        <p:spPr>
          <a:xfrm>
            <a:off x="7591425" y="2085880"/>
            <a:ext cx="133540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9  </a:t>
            </a: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PhD</a:t>
            </a:r>
          </a:p>
        </p:txBody>
      </p:sp>
      <p:sp>
        <p:nvSpPr>
          <p:cNvPr id="136" name="TextBox"/>
          <p:cNvSpPr txBox="1"/>
          <p:nvPr/>
        </p:nvSpPr>
        <p:spPr>
          <a:xfrm>
            <a:off x="6201156" y="2634520"/>
            <a:ext cx="2734818" cy="23042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10 нафар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докторант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15 нафар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мустақил тадқиқотчи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PhD.15/08.05.2025.T.73.10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илмий Кенгаш фаолияти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1 та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илмий тадқиқот маркази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2 та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давлат гранти</a:t>
            </a:r>
          </a:p>
        </p:txBody>
      </p:sp>
      <p:sp>
        <p:nvSpPr>
          <p:cNvPr id="137" name="Card"/>
          <p:cNvSpPr/>
          <p:nvPr/>
        </p:nvSpPr>
        <p:spPr>
          <a:xfrm>
            <a:off x="9109710" y="1537240"/>
            <a:ext cx="2807970" cy="3474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38" name="Pill"/>
          <p:cNvSpPr/>
          <p:nvPr/>
        </p:nvSpPr>
        <p:spPr>
          <a:xfrm>
            <a:off x="9155430" y="1582960"/>
            <a:ext cx="2716530" cy="457200"/>
          </a:xfrm>
          <a:prstGeom prst="roundRect">
            <a:avLst>
              <a:gd name="adj" fmla="val 18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ҲАМКОР ОЛИЙГОҲЛАР</a:t>
            </a:r>
          </a:p>
        </p:txBody>
      </p:sp>
      <p:sp>
        <p:nvSpPr>
          <p:cNvPr id="139" name="Shape"/>
          <p:cNvSpPr/>
          <p:nvPr/>
        </p:nvSpPr>
        <p:spPr>
          <a:xfrm>
            <a:off x="9155430" y="2085880"/>
            <a:ext cx="133540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6  </a:t>
            </a: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ҳамкор ОТМ</a:t>
            </a:r>
          </a:p>
        </p:txBody>
      </p:sp>
      <p:sp>
        <p:nvSpPr>
          <p:cNvPr id="140" name="Shape"/>
          <p:cNvSpPr/>
          <p:nvPr/>
        </p:nvSpPr>
        <p:spPr>
          <a:xfrm>
            <a:off x="10536555" y="2085880"/>
            <a:ext cx="133540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9  </a:t>
            </a:r>
            <a:r>
              <a:rPr sz="950" b="1" i="0">
                <a:solidFill>
                  <a:srgbClr val="1A1F36"/>
                </a:solidFill>
                <a:latin typeface="Times New Roman"/>
                <a:cs typeface="Times New Roman"/>
              </a:rPr>
              <a:t>ҳамкор ташкилот</a:t>
            </a:r>
          </a:p>
        </p:txBody>
      </p:sp>
      <p:sp>
        <p:nvSpPr>
          <p:cNvPr id="141" name="TextBox"/>
          <p:cNvSpPr txBox="1"/>
          <p:nvPr/>
        </p:nvSpPr>
        <p:spPr>
          <a:xfrm>
            <a:off x="9146286" y="2634520"/>
            <a:ext cx="2734818" cy="23042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Корея аэрокосмик университети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Москва давлат фуқаро авиацияси университети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Франция фуқаро авиацияси миллий мактаби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Москва авиация институти (МАИ)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Фуқаро авиацияси университети (Санкт-Петербург)</a:t>
            </a:r>
          </a:p>
          <a:p>
            <a:pPr algn="l">
              <a:spcAft>
                <a:spcPts val="22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Беларус давлат авиация академияси</a:t>
            </a:r>
          </a:p>
        </p:txBody>
      </p:sp>
      <p:sp>
        <p:nvSpPr>
          <p:cNvPr id="142" name="Card"/>
          <p:cNvSpPr/>
          <p:nvPr/>
        </p:nvSpPr>
        <p:spPr>
          <a:xfrm>
            <a:off x="274320" y="5194840"/>
            <a:ext cx="11643360" cy="14951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43" name="Pill"/>
          <p:cNvSpPr/>
          <p:nvPr/>
        </p:nvSpPr>
        <p:spPr>
          <a:xfrm>
            <a:off x="342900" y="5263420"/>
            <a:ext cx="2743200" cy="457200"/>
          </a:xfrm>
          <a:prstGeom prst="roundRect">
            <a:avLst>
              <a:gd name="adj" fmla="val 18000"/>
            </a:avLst>
          </a:prstGeom>
          <a:solidFill>
            <a:srgbClr val="138A7A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ҲАМКОР ТАШКИЛОТЛАР</a:t>
            </a:r>
          </a:p>
        </p:txBody>
      </p:sp>
      <p:sp>
        <p:nvSpPr>
          <p:cNvPr id="144" name="Shape"/>
          <p:cNvSpPr/>
          <p:nvPr/>
        </p:nvSpPr>
        <p:spPr>
          <a:xfrm>
            <a:off x="342900" y="578920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«Uzbekistan Airways» АЖ</a:t>
            </a:r>
          </a:p>
        </p:txBody>
      </p:sp>
      <p:sp>
        <p:nvSpPr>
          <p:cNvPr id="145" name="Shape"/>
          <p:cNvSpPr/>
          <p:nvPr/>
        </p:nvSpPr>
        <p:spPr>
          <a:xfrm>
            <a:off x="2662428" y="578920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«Uzbekistan Airports» АЖ</a:t>
            </a:r>
          </a:p>
        </p:txBody>
      </p:sp>
      <p:sp>
        <p:nvSpPr>
          <p:cNvPr id="146" name="Shape"/>
          <p:cNvSpPr/>
          <p:nvPr/>
        </p:nvSpPr>
        <p:spPr>
          <a:xfrm>
            <a:off x="4981956" y="578920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«O‘zaeronavigatsiya» ДУК</a:t>
            </a:r>
          </a:p>
        </p:txBody>
      </p:sp>
      <p:sp>
        <p:nvSpPr>
          <p:cNvPr id="147" name="Shape"/>
          <p:cNvSpPr/>
          <p:nvPr/>
        </p:nvSpPr>
        <p:spPr>
          <a:xfrm>
            <a:off x="7301484" y="578920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«Ўқув-машқ маркази» МЧЖ</a:t>
            </a:r>
          </a:p>
        </p:txBody>
      </p:sp>
      <p:sp>
        <p:nvSpPr>
          <p:cNvPr id="148" name="Shape"/>
          <p:cNvSpPr/>
          <p:nvPr/>
        </p:nvSpPr>
        <p:spPr>
          <a:xfrm>
            <a:off x="9621012" y="578920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«Uzbekistan Airways Technics»</a:t>
            </a:r>
          </a:p>
        </p:txBody>
      </p:sp>
      <p:sp>
        <p:nvSpPr>
          <p:cNvPr id="149" name="Shape"/>
          <p:cNvSpPr/>
          <p:nvPr/>
        </p:nvSpPr>
        <p:spPr>
          <a:xfrm>
            <a:off x="342900" y="629212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«Centrum Air»</a:t>
            </a:r>
          </a:p>
        </p:txBody>
      </p:sp>
      <p:sp>
        <p:nvSpPr>
          <p:cNvPr id="150" name="Shape"/>
          <p:cNvSpPr/>
          <p:nvPr/>
        </p:nvSpPr>
        <p:spPr>
          <a:xfrm>
            <a:off x="2662428" y="629212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«My Freighter»</a:t>
            </a:r>
          </a:p>
        </p:txBody>
      </p:sp>
      <p:sp>
        <p:nvSpPr>
          <p:cNvPr id="151" name="Shape"/>
          <p:cNvSpPr/>
          <p:nvPr/>
        </p:nvSpPr>
        <p:spPr>
          <a:xfrm>
            <a:off x="4981956" y="629212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«Тошкент механика заводи»</a:t>
            </a:r>
          </a:p>
        </p:txBody>
      </p:sp>
      <p:sp>
        <p:nvSpPr>
          <p:cNvPr id="152" name="Shape"/>
          <p:cNvSpPr/>
          <p:nvPr/>
        </p:nvSpPr>
        <p:spPr>
          <a:xfrm>
            <a:off x="7301484" y="629212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«Ўзбеккосмос» агентлиги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ТАЪЛИМ ЙЎНАЛИШЛАРИ ВА ТАЛАБАЛАР ҚАМРОВИ</a:t>
            </a:r>
          </a:p>
        </p:txBody>
      </p:sp>
      <p:sp>
        <p:nvSpPr>
          <p:cNvPr id="154" name="Card"/>
          <p:cNvSpPr/>
          <p:nvPr/>
        </p:nvSpPr>
        <p:spPr>
          <a:xfrm>
            <a:off x="27432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55" name="Pill"/>
          <p:cNvSpPr/>
          <p:nvPr/>
        </p:nvSpPr>
        <p:spPr>
          <a:xfrm>
            <a:off x="320040" y="805720"/>
            <a:ext cx="3667760" cy="411480"/>
          </a:xfrm>
          <a:prstGeom prst="roundRect">
            <a:avLst>
              <a:gd name="adj" fmla="val 18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БАКАЛАВР ЙЎНАЛИШЛАРИ — 1712 талаба</a:t>
            </a:r>
          </a:p>
        </p:txBody>
      </p:sp>
      <p:sp>
        <p:nvSpPr>
          <p:cNvPr id="156" name="Shape"/>
          <p:cNvSpPr/>
          <p:nvPr/>
        </p:nvSpPr>
        <p:spPr>
          <a:xfrm>
            <a:off x="320040" y="1308640"/>
            <a:ext cx="3667760" cy="69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7" name="TextBox"/>
          <p:cNvSpPr txBox="1"/>
          <p:nvPr/>
        </p:nvSpPr>
        <p:spPr>
          <a:xfrm>
            <a:off x="365760" y="1308640"/>
            <a:ext cx="1005840" cy="6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A7AC2"/>
                </a:solidFill>
                <a:latin typeface="Times New Roman"/>
                <a:cs typeface="Times New Roman"/>
              </a:rPr>
              <a:t>649</a:t>
            </a:r>
          </a:p>
        </p:txBody>
      </p:sp>
      <p:sp>
        <p:nvSpPr>
          <p:cNvPr id="158" name="TextBox"/>
          <p:cNvSpPr txBox="1"/>
          <p:nvPr/>
        </p:nvSpPr>
        <p:spPr>
          <a:xfrm>
            <a:off x="1417320" y="1308640"/>
            <a:ext cx="2524760" cy="695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Авиация муҳандислиги</a:t>
            </a:r>
          </a:p>
        </p:txBody>
      </p:sp>
      <p:sp>
        <p:nvSpPr>
          <p:cNvPr id="159" name="Shape"/>
          <p:cNvSpPr/>
          <p:nvPr/>
        </p:nvSpPr>
        <p:spPr>
          <a:xfrm>
            <a:off x="320040" y="2072220"/>
            <a:ext cx="3667760" cy="69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0" name="TextBox"/>
          <p:cNvSpPr txBox="1"/>
          <p:nvPr/>
        </p:nvSpPr>
        <p:spPr>
          <a:xfrm>
            <a:off x="365760" y="2072220"/>
            <a:ext cx="1005840" cy="6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A7AC2"/>
                </a:solidFill>
                <a:latin typeface="Times New Roman"/>
                <a:cs typeface="Times New Roman"/>
              </a:rPr>
              <a:t>316</a:t>
            </a:r>
          </a:p>
        </p:txBody>
      </p:sp>
      <p:sp>
        <p:nvSpPr>
          <p:cNvPr id="161" name="TextBox"/>
          <p:cNvSpPr txBox="1"/>
          <p:nvPr/>
        </p:nvSpPr>
        <p:spPr>
          <a:xfrm>
            <a:off x="1417320" y="2072220"/>
            <a:ext cx="2524760" cy="695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Ҳаводаги ҳаракатни бошқариш</a:t>
            </a:r>
          </a:p>
        </p:txBody>
      </p:sp>
      <p:sp>
        <p:nvSpPr>
          <p:cNvPr id="162" name="Shape"/>
          <p:cNvSpPr/>
          <p:nvPr/>
        </p:nvSpPr>
        <p:spPr>
          <a:xfrm>
            <a:off x="320040" y="2835800"/>
            <a:ext cx="3667760" cy="69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3" name="TextBox"/>
          <p:cNvSpPr txBox="1"/>
          <p:nvPr/>
        </p:nvSpPr>
        <p:spPr>
          <a:xfrm>
            <a:off x="365760" y="2835800"/>
            <a:ext cx="1005840" cy="6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A7AC2"/>
                </a:solidFill>
                <a:latin typeface="Times New Roman"/>
                <a:cs typeface="Times New Roman"/>
              </a:rPr>
              <a:t>185</a:t>
            </a:r>
          </a:p>
        </p:txBody>
      </p:sp>
      <p:sp>
        <p:nvSpPr>
          <p:cNvPr id="164" name="TextBox"/>
          <p:cNvSpPr txBox="1"/>
          <p:nvPr/>
        </p:nvSpPr>
        <p:spPr>
          <a:xfrm>
            <a:off x="1417320" y="2835800"/>
            <a:ext cx="2524760" cy="695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Радиоэлектрон қурилмалар ва тизимлар (авиацияда)</a:t>
            </a:r>
          </a:p>
        </p:txBody>
      </p:sp>
      <p:sp>
        <p:nvSpPr>
          <p:cNvPr id="165" name="Shape"/>
          <p:cNvSpPr/>
          <p:nvPr/>
        </p:nvSpPr>
        <p:spPr>
          <a:xfrm>
            <a:off x="320040" y="3599380"/>
            <a:ext cx="3667760" cy="69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6" name="TextBox"/>
          <p:cNvSpPr txBox="1"/>
          <p:nvPr/>
        </p:nvSpPr>
        <p:spPr>
          <a:xfrm>
            <a:off x="365760" y="3599380"/>
            <a:ext cx="1005840" cy="6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A7AC2"/>
                </a:solidFill>
                <a:latin typeface="Times New Roman"/>
                <a:cs typeface="Times New Roman"/>
              </a:rPr>
              <a:t>175</a:t>
            </a:r>
          </a:p>
        </p:txBody>
      </p:sp>
      <p:sp>
        <p:nvSpPr>
          <p:cNvPr id="167" name="TextBox"/>
          <p:cNvSpPr txBox="1"/>
          <p:nvPr/>
        </p:nvSpPr>
        <p:spPr>
          <a:xfrm>
            <a:off x="1417320" y="3599380"/>
            <a:ext cx="2524760" cy="695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Ҳаво кемаларининг парвоз эксплуатацияси</a:t>
            </a:r>
          </a:p>
        </p:txBody>
      </p:sp>
      <p:sp>
        <p:nvSpPr>
          <p:cNvPr id="168" name="Shape"/>
          <p:cNvSpPr/>
          <p:nvPr/>
        </p:nvSpPr>
        <p:spPr>
          <a:xfrm>
            <a:off x="320040" y="4362960"/>
            <a:ext cx="3667760" cy="69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9" name="TextBox"/>
          <p:cNvSpPr txBox="1"/>
          <p:nvPr/>
        </p:nvSpPr>
        <p:spPr>
          <a:xfrm>
            <a:off x="365760" y="4362960"/>
            <a:ext cx="1005840" cy="6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A7AC2"/>
                </a:solidFill>
                <a:latin typeface="Times New Roman"/>
                <a:cs typeface="Times New Roman"/>
              </a:rPr>
              <a:t>158</a:t>
            </a:r>
          </a:p>
        </p:txBody>
      </p:sp>
      <p:sp>
        <p:nvSpPr>
          <p:cNvPr id="170" name="TextBox"/>
          <p:cNvSpPr txBox="1"/>
          <p:nvPr/>
        </p:nvSpPr>
        <p:spPr>
          <a:xfrm>
            <a:off x="1417320" y="4362960"/>
            <a:ext cx="2524760" cy="695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Ҳаво кемаларининг техник эксплуатацияси</a:t>
            </a:r>
          </a:p>
        </p:txBody>
      </p:sp>
      <p:sp>
        <p:nvSpPr>
          <p:cNvPr id="171" name="Shape"/>
          <p:cNvSpPr/>
          <p:nvPr/>
        </p:nvSpPr>
        <p:spPr>
          <a:xfrm>
            <a:off x="320040" y="5126540"/>
            <a:ext cx="3667760" cy="69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2" name="TextBox"/>
          <p:cNvSpPr txBox="1"/>
          <p:nvPr/>
        </p:nvSpPr>
        <p:spPr>
          <a:xfrm>
            <a:off x="365760" y="5126540"/>
            <a:ext cx="1005840" cy="6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A7AC2"/>
                </a:solidFill>
                <a:latin typeface="Times New Roman"/>
                <a:cs typeface="Times New Roman"/>
              </a:rPr>
              <a:t>157</a:t>
            </a:r>
          </a:p>
        </p:txBody>
      </p:sp>
      <p:sp>
        <p:nvSpPr>
          <p:cNvPr id="173" name="TextBox"/>
          <p:cNvSpPr txBox="1"/>
          <p:nvPr/>
        </p:nvSpPr>
        <p:spPr>
          <a:xfrm>
            <a:off x="1417320" y="5126540"/>
            <a:ext cx="2524760" cy="695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Авиация инжиниринги</a:t>
            </a:r>
          </a:p>
        </p:txBody>
      </p:sp>
      <p:sp>
        <p:nvSpPr>
          <p:cNvPr id="174" name="Shape"/>
          <p:cNvSpPr/>
          <p:nvPr/>
        </p:nvSpPr>
        <p:spPr>
          <a:xfrm>
            <a:off x="320040" y="5890120"/>
            <a:ext cx="3667760" cy="69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5" name="TextBox"/>
          <p:cNvSpPr txBox="1"/>
          <p:nvPr/>
        </p:nvSpPr>
        <p:spPr>
          <a:xfrm>
            <a:off x="365760" y="5890120"/>
            <a:ext cx="1005840" cy="6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A7AC2"/>
                </a:solidFill>
                <a:latin typeface="Times New Roman"/>
                <a:cs typeface="Times New Roman"/>
              </a:rPr>
              <a:t>72</a:t>
            </a:r>
          </a:p>
        </p:txBody>
      </p:sp>
      <p:sp>
        <p:nvSpPr>
          <p:cNvPr id="176" name="TextBox"/>
          <p:cNvSpPr txBox="1"/>
          <p:nvPr/>
        </p:nvSpPr>
        <p:spPr>
          <a:xfrm>
            <a:off x="1417320" y="5890120"/>
            <a:ext cx="2524760" cy="695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Амалий космик технологиялари</a:t>
            </a:r>
          </a:p>
        </p:txBody>
      </p:sp>
      <p:sp>
        <p:nvSpPr>
          <p:cNvPr id="177" name="Card"/>
          <p:cNvSpPr/>
          <p:nvPr/>
        </p:nvSpPr>
        <p:spPr>
          <a:xfrm>
            <a:off x="421640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78" name="Pill"/>
          <p:cNvSpPr/>
          <p:nvPr/>
        </p:nvSpPr>
        <p:spPr>
          <a:xfrm>
            <a:off x="4262120" y="805720"/>
            <a:ext cx="3667760" cy="411480"/>
          </a:xfrm>
          <a:prstGeom prst="roundRect">
            <a:avLst>
              <a:gd name="adj" fmla="val 18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МАГИСТРАТУРА ЙЎНАЛИШЛАРИ — 63 талаба</a:t>
            </a:r>
          </a:p>
        </p:txBody>
      </p:sp>
      <p:sp>
        <p:nvSpPr>
          <p:cNvPr id="179" name="Shape"/>
          <p:cNvSpPr/>
          <p:nvPr/>
        </p:nvSpPr>
        <p:spPr>
          <a:xfrm>
            <a:off x="4262120" y="1308640"/>
            <a:ext cx="3667760" cy="10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0" name="TextBox"/>
          <p:cNvSpPr txBox="1"/>
          <p:nvPr/>
        </p:nvSpPr>
        <p:spPr>
          <a:xfrm>
            <a:off x="4307840" y="1308640"/>
            <a:ext cx="1005840" cy="10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20</a:t>
            </a:r>
          </a:p>
        </p:txBody>
      </p:sp>
      <p:sp>
        <p:nvSpPr>
          <p:cNvPr id="181" name="TextBox"/>
          <p:cNvSpPr txBox="1"/>
          <p:nvPr/>
        </p:nvSpPr>
        <p:spPr>
          <a:xfrm>
            <a:off x="5359400" y="1308640"/>
            <a:ext cx="2524760" cy="1000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Учиш аппаратлари двигателлари ва энергетик қурилмалари</a:t>
            </a:r>
          </a:p>
        </p:txBody>
      </p:sp>
      <p:sp>
        <p:nvSpPr>
          <p:cNvPr id="182" name="Shape"/>
          <p:cNvSpPr/>
          <p:nvPr/>
        </p:nvSpPr>
        <p:spPr>
          <a:xfrm>
            <a:off x="4262120" y="2377220"/>
            <a:ext cx="3667760" cy="10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3" name="TextBox"/>
          <p:cNvSpPr txBox="1"/>
          <p:nvPr/>
        </p:nvSpPr>
        <p:spPr>
          <a:xfrm>
            <a:off x="4307840" y="2377220"/>
            <a:ext cx="1005840" cy="10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15</a:t>
            </a:r>
          </a:p>
        </p:txBody>
      </p:sp>
      <p:sp>
        <p:nvSpPr>
          <p:cNvPr id="184" name="TextBox"/>
          <p:cNvSpPr txBox="1"/>
          <p:nvPr/>
        </p:nvSpPr>
        <p:spPr>
          <a:xfrm>
            <a:off x="5359400" y="2377220"/>
            <a:ext cx="2524760" cy="1000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Авиация муҳандислиги</a:t>
            </a:r>
          </a:p>
        </p:txBody>
      </p:sp>
      <p:sp>
        <p:nvSpPr>
          <p:cNvPr id="185" name="Shape"/>
          <p:cNvSpPr/>
          <p:nvPr/>
        </p:nvSpPr>
        <p:spPr>
          <a:xfrm>
            <a:off x="4262120" y="3445800"/>
            <a:ext cx="3667760" cy="10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6" name="TextBox"/>
          <p:cNvSpPr txBox="1"/>
          <p:nvPr/>
        </p:nvSpPr>
        <p:spPr>
          <a:xfrm>
            <a:off x="4307840" y="3445800"/>
            <a:ext cx="1005840" cy="10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10</a:t>
            </a:r>
          </a:p>
        </p:txBody>
      </p:sp>
      <p:sp>
        <p:nvSpPr>
          <p:cNvPr id="187" name="TextBox"/>
          <p:cNvSpPr txBox="1"/>
          <p:nvPr/>
        </p:nvSpPr>
        <p:spPr>
          <a:xfrm>
            <a:off x="5359400" y="3445800"/>
            <a:ext cx="2524760" cy="1000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Парвоз хавфсизлиги</a:t>
            </a:r>
          </a:p>
        </p:txBody>
      </p:sp>
      <p:sp>
        <p:nvSpPr>
          <p:cNvPr id="188" name="Shape"/>
          <p:cNvSpPr/>
          <p:nvPr/>
        </p:nvSpPr>
        <p:spPr>
          <a:xfrm>
            <a:off x="4262120" y="4514380"/>
            <a:ext cx="3667760" cy="10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9" name="TextBox"/>
          <p:cNvSpPr txBox="1"/>
          <p:nvPr/>
        </p:nvSpPr>
        <p:spPr>
          <a:xfrm>
            <a:off x="4307840" y="4514380"/>
            <a:ext cx="1005840" cy="10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9</a:t>
            </a:r>
          </a:p>
        </p:txBody>
      </p:sp>
      <p:sp>
        <p:nvSpPr>
          <p:cNvPr id="190" name="TextBox"/>
          <p:cNvSpPr txBox="1"/>
          <p:nvPr/>
        </p:nvSpPr>
        <p:spPr>
          <a:xfrm>
            <a:off x="5359400" y="4514380"/>
            <a:ext cx="2524760" cy="1000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Ҳаводаги ҳаракатни бошқариш ва аэронавигация</a:t>
            </a:r>
          </a:p>
        </p:txBody>
      </p:sp>
      <p:sp>
        <p:nvSpPr>
          <p:cNvPr id="191" name="Shape"/>
          <p:cNvSpPr/>
          <p:nvPr/>
        </p:nvSpPr>
        <p:spPr>
          <a:xfrm>
            <a:off x="4262120" y="5582960"/>
            <a:ext cx="3667760" cy="10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2" name="TextBox"/>
          <p:cNvSpPr txBox="1"/>
          <p:nvPr/>
        </p:nvSpPr>
        <p:spPr>
          <a:xfrm>
            <a:off x="4307840" y="5582960"/>
            <a:ext cx="1005840" cy="10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9</a:t>
            </a:r>
          </a:p>
        </p:txBody>
      </p:sp>
      <p:sp>
        <p:nvSpPr>
          <p:cNvPr id="193" name="TextBox"/>
          <p:cNvSpPr txBox="1"/>
          <p:nvPr/>
        </p:nvSpPr>
        <p:spPr>
          <a:xfrm>
            <a:off x="5359400" y="5582960"/>
            <a:ext cx="2524760" cy="10000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Амалий космик технологиялари</a:t>
            </a:r>
          </a:p>
        </p:txBody>
      </p:sp>
      <p:sp>
        <p:nvSpPr>
          <p:cNvPr id="194" name="Card"/>
          <p:cNvSpPr/>
          <p:nvPr/>
        </p:nvSpPr>
        <p:spPr>
          <a:xfrm>
            <a:off x="815848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95" name="Pill"/>
          <p:cNvSpPr/>
          <p:nvPr/>
        </p:nvSpPr>
        <p:spPr>
          <a:xfrm>
            <a:off x="8204200" y="805720"/>
            <a:ext cx="3667760" cy="41148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ТАЛАБАЛАР ТАРКИБИ</a:t>
            </a:r>
          </a:p>
        </p:txBody>
      </p:sp>
      <p:sp>
        <p:nvSpPr>
          <p:cNvPr id="196" name="Shape"/>
          <p:cNvSpPr/>
          <p:nvPr/>
        </p:nvSpPr>
        <p:spPr>
          <a:xfrm>
            <a:off x="8432800" y="1354360"/>
            <a:ext cx="3210560" cy="822960"/>
          </a:xfrm>
          <a:prstGeom prst="roundRect">
            <a:avLst>
              <a:gd name="adj" fmla="val 12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18288" tIns="27432" rIns="18288" bIns="27432" rtlCol="0" anchor="ctr"/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Times New Roman"/>
                <a:cs typeface="Times New Roman"/>
              </a:rPr>
              <a:t>1775</a:t>
            </a:r>
          </a:p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нафар талаба (жами)</a:t>
            </a:r>
          </a:p>
        </p:txBody>
      </p:sp>
      <p:sp>
        <p:nvSpPr>
          <p:cNvPr id="197" name="Shape"/>
          <p:cNvSpPr/>
          <p:nvPr/>
        </p:nvSpPr>
        <p:spPr>
          <a:xfrm>
            <a:off x="8295640" y="2360200"/>
            <a:ext cx="348488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8" name="TextBox"/>
          <p:cNvSpPr txBox="1"/>
          <p:nvPr/>
        </p:nvSpPr>
        <p:spPr>
          <a:xfrm>
            <a:off x="8341360" y="2360200"/>
            <a:ext cx="118872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A7AC2"/>
                </a:solidFill>
                <a:latin typeface="Times New Roman"/>
                <a:cs typeface="Times New Roman"/>
              </a:rPr>
              <a:t>1195</a:t>
            </a:r>
          </a:p>
        </p:txBody>
      </p:sp>
      <p:sp>
        <p:nvSpPr>
          <p:cNvPr id="199" name="TextBox"/>
          <p:cNvSpPr txBox="1"/>
          <p:nvPr/>
        </p:nvSpPr>
        <p:spPr>
          <a:xfrm>
            <a:off x="9575800" y="2360200"/>
            <a:ext cx="2159000" cy="5943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кундузги таълим</a:t>
            </a:r>
          </a:p>
        </p:txBody>
      </p:sp>
      <p:sp>
        <p:nvSpPr>
          <p:cNvPr id="200" name="Shape"/>
          <p:cNvSpPr/>
          <p:nvPr/>
        </p:nvSpPr>
        <p:spPr>
          <a:xfrm>
            <a:off x="8295640" y="3046000"/>
            <a:ext cx="348488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1" name="TextBox"/>
          <p:cNvSpPr txBox="1"/>
          <p:nvPr/>
        </p:nvSpPr>
        <p:spPr>
          <a:xfrm>
            <a:off x="8341360" y="3046000"/>
            <a:ext cx="118872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E87722"/>
                </a:solidFill>
                <a:latin typeface="Times New Roman"/>
                <a:cs typeface="Times New Roman"/>
              </a:rPr>
              <a:t>465</a:t>
            </a:r>
          </a:p>
        </p:txBody>
      </p:sp>
      <p:sp>
        <p:nvSpPr>
          <p:cNvPr id="202" name="TextBox"/>
          <p:cNvSpPr txBox="1"/>
          <p:nvPr/>
        </p:nvSpPr>
        <p:spPr>
          <a:xfrm>
            <a:off x="9575800" y="3046000"/>
            <a:ext cx="2159000" cy="5943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сиртқи таълим</a:t>
            </a:r>
          </a:p>
        </p:txBody>
      </p:sp>
      <p:sp>
        <p:nvSpPr>
          <p:cNvPr id="203" name="Shape"/>
          <p:cNvSpPr/>
          <p:nvPr/>
        </p:nvSpPr>
        <p:spPr>
          <a:xfrm>
            <a:off x="8295640" y="3731800"/>
            <a:ext cx="348488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4" name="TextBox"/>
          <p:cNvSpPr txBox="1"/>
          <p:nvPr/>
        </p:nvSpPr>
        <p:spPr>
          <a:xfrm>
            <a:off x="8341360" y="3731800"/>
            <a:ext cx="118872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38A7A"/>
                </a:solidFill>
                <a:latin typeface="Times New Roman"/>
                <a:cs typeface="Times New Roman"/>
              </a:rPr>
              <a:t>115</a:t>
            </a:r>
          </a:p>
        </p:txBody>
      </p:sp>
      <p:sp>
        <p:nvSpPr>
          <p:cNvPr id="205" name="TextBox"/>
          <p:cNvSpPr txBox="1"/>
          <p:nvPr/>
        </p:nvSpPr>
        <p:spPr>
          <a:xfrm>
            <a:off x="9575800" y="3731800"/>
            <a:ext cx="2159000" cy="5943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кечки таълим</a:t>
            </a:r>
          </a:p>
        </p:txBody>
      </p:sp>
      <p:sp>
        <p:nvSpPr>
          <p:cNvPr id="206" name="Divider"/>
          <p:cNvSpPr/>
          <p:nvPr/>
        </p:nvSpPr>
        <p:spPr>
          <a:xfrm>
            <a:off x="8295640" y="4463320"/>
            <a:ext cx="3484880" cy="0"/>
          </a:xfrm>
          <a:prstGeom prst="line">
            <a:avLst/>
          </a:prstGeom>
          <a:ln w="19050">
            <a:solidFill>
              <a:srgbClr val="9AA8BF"/>
            </a:solidFill>
            <a:prstDash val="sysDot"/>
          </a:ln>
        </p:spPr>
        <p:txBody>
          <a:bodyPr/>
          <a:lstStyle/>
          <a:p>
            <a:endParaRPr/>
          </a:p>
        </p:txBody>
      </p:sp>
      <p:sp>
        <p:nvSpPr>
          <p:cNvPr id="207" name="Shape"/>
          <p:cNvSpPr/>
          <p:nvPr/>
        </p:nvSpPr>
        <p:spPr>
          <a:xfrm>
            <a:off x="8295640" y="4577620"/>
            <a:ext cx="170815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27432" rIns="18288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A7AC2"/>
                </a:solidFill>
                <a:latin typeface="Times New Roman"/>
                <a:cs typeface="Times New Roman"/>
              </a:rPr>
              <a:t>7 та</a:t>
            </a:r>
          </a:p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900" b="1" i="0">
                <a:solidFill>
                  <a:srgbClr val="1A1F36"/>
                </a:solidFill>
                <a:latin typeface="Times New Roman"/>
                <a:cs typeface="Times New Roman"/>
              </a:rPr>
              <a:t>бакалавриат йўналиши</a:t>
            </a:r>
          </a:p>
        </p:txBody>
      </p:sp>
      <p:sp>
        <p:nvSpPr>
          <p:cNvPr id="208" name="Shape"/>
          <p:cNvSpPr/>
          <p:nvPr/>
        </p:nvSpPr>
        <p:spPr>
          <a:xfrm>
            <a:off x="10072370" y="4577620"/>
            <a:ext cx="170815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27432" rIns="18288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A7AC2"/>
                </a:solidFill>
                <a:latin typeface="Times New Roman"/>
                <a:cs typeface="Times New Roman"/>
              </a:rPr>
              <a:t>5 та</a:t>
            </a:r>
          </a:p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900" b="1" i="0">
                <a:solidFill>
                  <a:srgbClr val="1A1F36"/>
                </a:solidFill>
                <a:latin typeface="Times New Roman"/>
                <a:cs typeface="Times New Roman"/>
              </a:rPr>
              <a:t>магистратура йўналиши</a:t>
            </a:r>
          </a:p>
        </p:txBody>
      </p:sp>
      <p:sp>
        <p:nvSpPr>
          <p:cNvPr id="209" name="Shape"/>
          <p:cNvSpPr/>
          <p:nvPr/>
        </p:nvSpPr>
        <p:spPr>
          <a:xfrm>
            <a:off x="8295640" y="5240560"/>
            <a:ext cx="170815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27432" rIns="18288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A7AC2"/>
                </a:solidFill>
                <a:latin typeface="Times New Roman"/>
                <a:cs typeface="Times New Roman"/>
              </a:rPr>
              <a:t>36 нафар</a:t>
            </a:r>
          </a:p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900" b="1" i="0">
                <a:solidFill>
                  <a:srgbClr val="1A1F36"/>
                </a:solidFill>
                <a:latin typeface="Times New Roman"/>
                <a:cs typeface="Times New Roman"/>
              </a:rPr>
              <a:t>профессор-ўқитувчи</a:t>
            </a:r>
          </a:p>
        </p:txBody>
      </p:sp>
      <p:sp>
        <p:nvSpPr>
          <p:cNvPr id="210" name="Shape"/>
          <p:cNvSpPr/>
          <p:nvPr/>
        </p:nvSpPr>
        <p:spPr>
          <a:xfrm>
            <a:off x="10072370" y="5240560"/>
            <a:ext cx="170815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27432" rIns="18288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A7AC2"/>
                </a:solidFill>
                <a:latin typeface="Times New Roman"/>
                <a:cs typeface="Times New Roman"/>
              </a:rPr>
              <a:t>49 нафар</a:t>
            </a:r>
          </a:p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900" b="1" i="0">
                <a:solidFill>
                  <a:srgbClr val="1A1F36"/>
                </a:solidFill>
                <a:latin typeface="Times New Roman"/>
                <a:cs typeface="Times New Roman"/>
              </a:rPr>
              <a:t>талаба 1 ПЎга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ФАКУЛЬТЕТНИНГ ЮТУҚЛАРИ</a:t>
            </a:r>
          </a:p>
        </p:txBody>
      </p:sp>
      <p:sp>
        <p:nvSpPr>
          <p:cNvPr id="212" name="Card"/>
          <p:cNvSpPr/>
          <p:nvPr/>
        </p:nvSpPr>
        <p:spPr>
          <a:xfrm>
            <a:off x="274320" y="760000"/>
            <a:ext cx="2807970" cy="28735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3" name="Badge"/>
          <p:cNvSpPr/>
          <p:nvPr/>
        </p:nvSpPr>
        <p:spPr>
          <a:xfrm>
            <a:off x="342900" y="828580"/>
            <a:ext cx="548640" cy="548640"/>
          </a:xfrm>
          <a:prstGeom prst="ellipse">
            <a:avLst/>
          </a:prstGeom>
          <a:solidFill>
            <a:srgbClr val="239B45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214" name="TextBox"/>
          <p:cNvSpPr txBox="1"/>
          <p:nvPr/>
        </p:nvSpPr>
        <p:spPr>
          <a:xfrm>
            <a:off x="960120" y="828580"/>
            <a:ext cx="2053590" cy="54864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>ЎҚУВ-ЛАБОРАТОРИЯ БАЗАСИ</a:t>
            </a:r>
          </a:p>
        </p:txBody>
      </p:sp>
      <p:sp>
        <p:nvSpPr>
          <p:cNvPr id="215" name="TextBox"/>
          <p:cNvSpPr txBox="1"/>
          <p:nvPr/>
        </p:nvSpPr>
        <p:spPr>
          <a:xfrm>
            <a:off x="310896" y="1445800"/>
            <a:ext cx="2734818" cy="2114608"/>
          </a:xfrm>
          <a:prstGeom prst="rect">
            <a:avLst/>
          </a:prstGeom>
          <a:noFill/>
        </p:spPr>
        <p:txBody>
          <a:bodyPr wrap="square" lIns="54864" tIns="27432" rIns="54864" bIns="27432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«O‘zaeronavigatsiya»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маркази ДУК кўмагида факультетга ўқув ва лаборатория жиҳозлари, жумладан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диспетчерлик тренажёри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беғараз етказиб берилди</a:t>
            </a:r>
          </a:p>
        </p:txBody>
      </p:sp>
      <p:sp>
        <p:nvSpPr>
          <p:cNvPr id="216" name="Card"/>
          <p:cNvSpPr/>
          <p:nvPr/>
        </p:nvSpPr>
        <p:spPr>
          <a:xfrm>
            <a:off x="3219450" y="760000"/>
            <a:ext cx="2807970" cy="28735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7" name="Badge"/>
          <p:cNvSpPr/>
          <p:nvPr/>
        </p:nvSpPr>
        <p:spPr>
          <a:xfrm>
            <a:off x="3288030" y="828580"/>
            <a:ext cx="548640" cy="54864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218" name="TextBox"/>
          <p:cNvSpPr txBox="1"/>
          <p:nvPr/>
        </p:nvSpPr>
        <p:spPr>
          <a:xfrm>
            <a:off x="3905250" y="828580"/>
            <a:ext cx="2053590" cy="54864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>ФУҚАРО АВИАЦИЯСИ УЧУВЧИЛАРИ</a:t>
            </a:r>
          </a:p>
        </p:txBody>
      </p:sp>
      <p:sp>
        <p:nvSpPr>
          <p:cNvPr id="219" name="TextBox"/>
          <p:cNvSpPr txBox="1"/>
          <p:nvPr/>
        </p:nvSpPr>
        <p:spPr>
          <a:xfrm>
            <a:off x="3256026" y="1445800"/>
            <a:ext cx="2734818" cy="2114608"/>
          </a:xfrm>
          <a:prstGeom prst="rect">
            <a:avLst/>
          </a:prstGeom>
          <a:noFill/>
        </p:spPr>
        <p:txBody>
          <a:bodyPr wrap="square" lIns="54864" tIns="27432" rIns="54864" bIns="27432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«Uzbekistan Airways» АЖ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«Ўқув-машқ маркази» МЧЖ билан ҳамкорликда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2+2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тизими бўйича учувчилар тайёрлаш йўлга қўйилди</a:t>
            </a:r>
          </a:p>
        </p:txBody>
      </p:sp>
      <p:sp>
        <p:nvSpPr>
          <p:cNvPr id="220" name="Card"/>
          <p:cNvSpPr/>
          <p:nvPr/>
        </p:nvSpPr>
        <p:spPr>
          <a:xfrm>
            <a:off x="6164580" y="760000"/>
            <a:ext cx="2807970" cy="28735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21" name="Badge"/>
          <p:cNvSpPr/>
          <p:nvPr/>
        </p:nvSpPr>
        <p:spPr>
          <a:xfrm>
            <a:off x="6233160" y="828580"/>
            <a:ext cx="548640" cy="54864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222" name="TextBox"/>
          <p:cNvSpPr txBox="1"/>
          <p:nvPr/>
        </p:nvSpPr>
        <p:spPr>
          <a:xfrm>
            <a:off x="6850380" y="828580"/>
            <a:ext cx="2053590" cy="54864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>ҲАВО КЕМАСИ БАЗАСИ</a:t>
            </a:r>
          </a:p>
        </p:txBody>
      </p:sp>
      <p:sp>
        <p:nvSpPr>
          <p:cNvPr id="223" name="TextBox"/>
          <p:cNvSpPr txBox="1"/>
          <p:nvPr/>
        </p:nvSpPr>
        <p:spPr>
          <a:xfrm>
            <a:off x="6201156" y="1445800"/>
            <a:ext cx="2734818" cy="2114608"/>
          </a:xfrm>
          <a:prstGeom prst="rect">
            <a:avLst/>
          </a:prstGeom>
          <a:noFill/>
        </p:spPr>
        <p:txBody>
          <a:bodyPr wrap="square" lIns="54864" tIns="27432" rIns="54864" bIns="27432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«Uzbekistan Airways» АЖ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кўмагида факультетга ўқув жиҳозлари ва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Ил-114-100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ҳаво кемасини беғараз етказиб бериш ишлари олиб борилмоқда</a:t>
            </a:r>
          </a:p>
        </p:txBody>
      </p:sp>
      <p:sp>
        <p:nvSpPr>
          <p:cNvPr id="224" name="Card"/>
          <p:cNvSpPr/>
          <p:nvPr/>
        </p:nvSpPr>
        <p:spPr>
          <a:xfrm>
            <a:off x="9109710" y="760000"/>
            <a:ext cx="2807970" cy="28735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25" name="Badge"/>
          <p:cNvSpPr/>
          <p:nvPr/>
        </p:nvSpPr>
        <p:spPr>
          <a:xfrm>
            <a:off x="9178290" y="828580"/>
            <a:ext cx="548640" cy="5486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226" name="TextBox"/>
          <p:cNvSpPr txBox="1"/>
          <p:nvPr/>
        </p:nvSpPr>
        <p:spPr>
          <a:xfrm>
            <a:off x="9795510" y="828580"/>
            <a:ext cx="2053590" cy="54864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>КОРЕЯ АЭРОКОСМИК УНИВЕРСИТЕТИ</a:t>
            </a:r>
          </a:p>
        </p:txBody>
      </p:sp>
      <p:sp>
        <p:nvSpPr>
          <p:cNvPr id="227" name="TextBox"/>
          <p:cNvSpPr txBox="1"/>
          <p:nvPr/>
        </p:nvSpPr>
        <p:spPr>
          <a:xfrm>
            <a:off x="9146286" y="1445800"/>
            <a:ext cx="2734818" cy="2114608"/>
          </a:xfrm>
          <a:prstGeom prst="rect">
            <a:avLst/>
          </a:prstGeom>
          <a:noFill/>
        </p:spPr>
        <p:txBody>
          <a:bodyPr wrap="square" lIns="54864" tIns="27432" rIns="54864" bIns="27432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1+2+1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ва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2+2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тизимлари асосида қўшма дастурлар: учувчилар, авиация менежменти ва логистикаси мутахассислари</a:t>
            </a:r>
          </a:p>
        </p:txBody>
      </p:sp>
      <p:sp>
        <p:nvSpPr>
          <p:cNvPr id="228" name="Card"/>
          <p:cNvSpPr/>
          <p:nvPr/>
        </p:nvSpPr>
        <p:spPr>
          <a:xfrm>
            <a:off x="274320" y="3816440"/>
            <a:ext cx="2807970" cy="28735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29" name="Badge"/>
          <p:cNvSpPr/>
          <p:nvPr/>
        </p:nvSpPr>
        <p:spPr>
          <a:xfrm>
            <a:off x="342900" y="3885020"/>
            <a:ext cx="548640" cy="54864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5</a:t>
            </a:r>
          </a:p>
        </p:txBody>
      </p:sp>
      <p:sp>
        <p:nvSpPr>
          <p:cNvPr id="230" name="TextBox"/>
          <p:cNvSpPr txBox="1"/>
          <p:nvPr/>
        </p:nvSpPr>
        <p:spPr>
          <a:xfrm>
            <a:off x="960120" y="3885020"/>
            <a:ext cx="2053590" cy="54864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>МОСКВА АВИАЦИЯ ИНСТИТУТИ</a:t>
            </a:r>
          </a:p>
        </p:txBody>
      </p:sp>
      <p:sp>
        <p:nvSpPr>
          <p:cNvPr id="231" name="TextBox"/>
          <p:cNvSpPr txBox="1"/>
          <p:nvPr/>
        </p:nvSpPr>
        <p:spPr>
          <a:xfrm>
            <a:off x="310896" y="4502240"/>
            <a:ext cx="2734818" cy="2114608"/>
          </a:xfrm>
          <a:prstGeom prst="rect">
            <a:avLst/>
          </a:prstGeom>
          <a:noFill/>
        </p:spPr>
        <p:txBody>
          <a:bodyPr wrap="square" lIns="54864" tIns="27432" rIns="54864" bIns="27432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«Авиация инжиниринги (авиасозлик)»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йўналишида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2+2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қўшма дастури доирасида ҳамкорлик йўлга қўйилган</a:t>
            </a:r>
          </a:p>
        </p:txBody>
      </p:sp>
      <p:sp>
        <p:nvSpPr>
          <p:cNvPr id="232" name="Card"/>
          <p:cNvSpPr/>
          <p:nvPr/>
        </p:nvSpPr>
        <p:spPr>
          <a:xfrm>
            <a:off x="3219450" y="3816440"/>
            <a:ext cx="2807970" cy="28735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33" name="Badge"/>
          <p:cNvSpPr/>
          <p:nvPr/>
        </p:nvSpPr>
        <p:spPr>
          <a:xfrm>
            <a:off x="3288030" y="3885020"/>
            <a:ext cx="548640" cy="548640"/>
          </a:xfrm>
          <a:prstGeom prst="ellipse">
            <a:avLst/>
          </a:prstGeom>
          <a:solidFill>
            <a:srgbClr val="138A7A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6</a:t>
            </a:r>
          </a:p>
        </p:txBody>
      </p:sp>
      <p:sp>
        <p:nvSpPr>
          <p:cNvPr id="234" name="TextBox"/>
          <p:cNvSpPr txBox="1"/>
          <p:nvPr/>
        </p:nvSpPr>
        <p:spPr>
          <a:xfrm>
            <a:off x="3905250" y="3885020"/>
            <a:ext cx="2053590" cy="54864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1" i="0">
                <a:solidFill>
                  <a:srgbClr val="138A7A"/>
                </a:solidFill>
                <a:latin typeface="Times New Roman"/>
                <a:cs typeface="Times New Roman"/>
              </a:rPr>
              <a:t>БЕЛАРУС ДАВЛАТ АВИАЦИЯ АКАДЕМИЯСИ</a:t>
            </a:r>
          </a:p>
        </p:txBody>
      </p:sp>
      <p:sp>
        <p:nvSpPr>
          <p:cNvPr id="235" name="TextBox"/>
          <p:cNvSpPr txBox="1"/>
          <p:nvPr/>
        </p:nvSpPr>
        <p:spPr>
          <a:xfrm>
            <a:off x="3256026" y="4502240"/>
            <a:ext cx="2734818" cy="2114608"/>
          </a:xfrm>
          <a:prstGeom prst="rect">
            <a:avLst/>
          </a:prstGeom>
          <a:noFill/>
        </p:spPr>
        <p:txBody>
          <a:bodyPr wrap="square" lIns="54864" tIns="27432" rIns="54864" bIns="27432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«Авиация инжиниринги (УУА мажмуалари)»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ва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«Ҳаводаги ҳаракатни бошқариш»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йўналишларида 2+2 қўшма дастури</a:t>
            </a:r>
          </a:p>
        </p:txBody>
      </p:sp>
      <p:sp>
        <p:nvSpPr>
          <p:cNvPr id="236" name="Card"/>
          <p:cNvSpPr/>
          <p:nvPr/>
        </p:nvSpPr>
        <p:spPr>
          <a:xfrm>
            <a:off x="6164580" y="3816440"/>
            <a:ext cx="2807970" cy="28735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37" name="Badge"/>
          <p:cNvSpPr/>
          <p:nvPr/>
        </p:nvSpPr>
        <p:spPr>
          <a:xfrm>
            <a:off x="6233160" y="3885020"/>
            <a:ext cx="548640" cy="548640"/>
          </a:xfrm>
          <a:prstGeom prst="ellipse">
            <a:avLst/>
          </a:prstGeom>
          <a:solidFill>
            <a:srgbClr val="1B2A6B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7</a:t>
            </a:r>
          </a:p>
        </p:txBody>
      </p:sp>
      <p:sp>
        <p:nvSpPr>
          <p:cNvPr id="238" name="TextBox"/>
          <p:cNvSpPr txBox="1"/>
          <p:nvPr/>
        </p:nvSpPr>
        <p:spPr>
          <a:xfrm>
            <a:off x="6850380" y="3885020"/>
            <a:ext cx="2053590" cy="54864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1" i="0">
                <a:solidFill>
                  <a:srgbClr val="1B2A6B"/>
                </a:solidFill>
                <a:latin typeface="Times New Roman"/>
                <a:cs typeface="Times New Roman"/>
              </a:rPr>
              <a:t>ИЛМИЙ КЕНГАШ ВА ЁЗГИ МАКТАБЛАР</a:t>
            </a:r>
          </a:p>
        </p:txBody>
      </p:sp>
      <p:sp>
        <p:nvSpPr>
          <p:cNvPr id="239" name="TextBox"/>
          <p:cNvSpPr txBox="1"/>
          <p:nvPr/>
        </p:nvSpPr>
        <p:spPr>
          <a:xfrm>
            <a:off x="6201156" y="4502240"/>
            <a:ext cx="2734818" cy="2114608"/>
          </a:xfrm>
          <a:prstGeom prst="rect">
            <a:avLst/>
          </a:prstGeom>
          <a:noFill/>
        </p:spPr>
        <p:txBody>
          <a:bodyPr wrap="square" lIns="54864" tIns="27432" rIns="54864" bIns="27432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PhD.15/08.05.2025.T.73.10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рақамли илмий Кенгаш фаолияти ҳамда КАУ билан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Ёзги ва Қишки мактаблар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йўлга қўйилди</a:t>
            </a:r>
          </a:p>
        </p:txBody>
      </p:sp>
      <p:sp>
        <p:nvSpPr>
          <p:cNvPr id="240" name="Card"/>
          <p:cNvSpPr/>
          <p:nvPr/>
        </p:nvSpPr>
        <p:spPr>
          <a:xfrm>
            <a:off x="9109710" y="3816440"/>
            <a:ext cx="2807970" cy="2873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41" name="Pill"/>
          <p:cNvSpPr/>
          <p:nvPr/>
        </p:nvSpPr>
        <p:spPr>
          <a:xfrm>
            <a:off x="9155430" y="3885020"/>
            <a:ext cx="2716530" cy="457200"/>
          </a:xfrm>
          <a:prstGeom prst="roundRect">
            <a:avLst>
              <a:gd name="adj" fmla="val 18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ЯКУНИЙ НАТИЖА</a:t>
            </a:r>
          </a:p>
        </p:txBody>
      </p:sp>
      <p:sp>
        <p:nvSpPr>
          <p:cNvPr id="242" name="Shape"/>
          <p:cNvSpPr/>
          <p:nvPr/>
        </p:nvSpPr>
        <p:spPr>
          <a:xfrm>
            <a:off x="9178290" y="4456520"/>
            <a:ext cx="2670810" cy="471502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4 та  </a:t>
            </a: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қўшма дастур (2+2 / 1+2+1)</a:t>
            </a:r>
          </a:p>
        </p:txBody>
      </p:sp>
      <p:sp>
        <p:nvSpPr>
          <p:cNvPr id="243" name="Shape"/>
          <p:cNvSpPr/>
          <p:nvPr/>
        </p:nvSpPr>
        <p:spPr>
          <a:xfrm>
            <a:off x="9178290" y="4996602"/>
            <a:ext cx="2670810" cy="471502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1 та  </a:t>
            </a: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илмий Кенгаш</a:t>
            </a:r>
          </a:p>
        </p:txBody>
      </p:sp>
      <p:sp>
        <p:nvSpPr>
          <p:cNvPr id="244" name="Shape"/>
          <p:cNvSpPr/>
          <p:nvPr/>
        </p:nvSpPr>
        <p:spPr>
          <a:xfrm>
            <a:off x="9178290" y="5536684"/>
            <a:ext cx="2670810" cy="471502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9 та  </a:t>
            </a: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ҳамкор ташкилот</a:t>
            </a:r>
          </a:p>
        </p:txBody>
      </p:sp>
      <p:sp>
        <p:nvSpPr>
          <p:cNvPr id="245" name="Shape"/>
          <p:cNvSpPr/>
          <p:nvPr/>
        </p:nvSpPr>
        <p:spPr>
          <a:xfrm>
            <a:off x="9178290" y="6076766"/>
            <a:ext cx="2670810" cy="471502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6 та  </a:t>
            </a: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ҳамкор хорижий ОТМ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ХАЛҚАРО ҲАМКОРЛИК ВА ҚЎШМА ДАСТУРЛАР</a:t>
            </a:r>
          </a:p>
        </p:txBody>
      </p:sp>
      <p:sp>
        <p:nvSpPr>
          <p:cNvPr id="247" name="Pill"/>
          <p:cNvSpPr/>
          <p:nvPr/>
        </p:nvSpPr>
        <p:spPr>
          <a:xfrm>
            <a:off x="274320" y="760000"/>
            <a:ext cx="740664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ҲАМКОР ХОРИЖИЙ ОЛИЙГОҲЛАР ВА ҚЎШМА ДАСТУРЛАР</a:t>
            </a:r>
          </a:p>
        </p:txBody>
      </p:sp>
      <p:sp>
        <p:nvSpPr>
          <p:cNvPr id="248" name="Card"/>
          <p:cNvSpPr/>
          <p:nvPr/>
        </p:nvSpPr>
        <p:spPr>
          <a:xfrm>
            <a:off x="274320" y="1354360"/>
            <a:ext cx="7406640" cy="7772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49" name="Shape"/>
          <p:cNvSpPr/>
          <p:nvPr/>
        </p:nvSpPr>
        <p:spPr>
          <a:xfrm>
            <a:off x="320040" y="140008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1+2+1 · 2+2</a:t>
            </a:r>
          </a:p>
        </p:txBody>
      </p:sp>
      <p:sp>
        <p:nvSpPr>
          <p:cNvPr id="250" name="TextBox"/>
          <p:cNvSpPr txBox="1"/>
          <p:nvPr/>
        </p:nvSpPr>
        <p:spPr>
          <a:xfrm>
            <a:off x="1965960" y="1400080"/>
            <a:ext cx="5623560" cy="6858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>КОРЕЯ АЭРОКОСМИК УНИВЕРСИТЕТИ</a:t>
            </a:r>
          </a:p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Учувчилар, авиация менежменти ва логистикаси; Ёзги ва Қишки мактаблар</a:t>
            </a:r>
          </a:p>
        </p:txBody>
      </p:sp>
      <p:sp>
        <p:nvSpPr>
          <p:cNvPr id="251" name="Card"/>
          <p:cNvSpPr/>
          <p:nvPr/>
        </p:nvSpPr>
        <p:spPr>
          <a:xfrm>
            <a:off x="274320" y="2223040"/>
            <a:ext cx="7406640" cy="7772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52" name="Shape"/>
          <p:cNvSpPr/>
          <p:nvPr/>
        </p:nvSpPr>
        <p:spPr>
          <a:xfrm>
            <a:off x="320040" y="226876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2+2</a:t>
            </a:r>
          </a:p>
        </p:txBody>
      </p:sp>
      <p:sp>
        <p:nvSpPr>
          <p:cNvPr id="253" name="TextBox"/>
          <p:cNvSpPr txBox="1"/>
          <p:nvPr/>
        </p:nvSpPr>
        <p:spPr>
          <a:xfrm>
            <a:off x="1965960" y="2268760"/>
            <a:ext cx="5623560" cy="6858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>МОСКВА АВИАЦИЯ ИНСТИТУТИ (МАИ)</a:t>
            </a:r>
          </a:p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«Авиация инжиниринги (авиасозлик)» йўналиши</a:t>
            </a:r>
          </a:p>
        </p:txBody>
      </p:sp>
      <p:sp>
        <p:nvSpPr>
          <p:cNvPr id="254" name="Card"/>
          <p:cNvSpPr/>
          <p:nvPr/>
        </p:nvSpPr>
        <p:spPr>
          <a:xfrm>
            <a:off x="274320" y="3091720"/>
            <a:ext cx="7406640" cy="7772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55" name="Shape"/>
          <p:cNvSpPr/>
          <p:nvPr/>
        </p:nvSpPr>
        <p:spPr>
          <a:xfrm>
            <a:off x="320040" y="313744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2+2</a:t>
            </a:r>
          </a:p>
        </p:txBody>
      </p:sp>
      <p:sp>
        <p:nvSpPr>
          <p:cNvPr id="256" name="TextBox"/>
          <p:cNvSpPr txBox="1"/>
          <p:nvPr/>
        </p:nvSpPr>
        <p:spPr>
          <a:xfrm>
            <a:off x="1965960" y="3137440"/>
            <a:ext cx="5623560" cy="6858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250" b="1" i="0">
                <a:solidFill>
                  <a:srgbClr val="E87722"/>
                </a:solidFill>
                <a:latin typeface="Times New Roman"/>
                <a:cs typeface="Times New Roman"/>
              </a:rPr>
              <a:t>БЕЛАРУС ДАВЛАТ АВИАЦИЯ АКАДЕМИЯСИ</a:t>
            </a:r>
          </a:p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«УУА авиация мажмуалари» ва «Ҳаводаги ҳаракатни бошқариш»</a:t>
            </a:r>
          </a:p>
        </p:txBody>
      </p:sp>
      <p:sp>
        <p:nvSpPr>
          <p:cNvPr id="257" name="Card"/>
          <p:cNvSpPr/>
          <p:nvPr/>
        </p:nvSpPr>
        <p:spPr>
          <a:xfrm>
            <a:off x="274320" y="3960400"/>
            <a:ext cx="7406640" cy="7772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58" name="Shape"/>
          <p:cNvSpPr/>
          <p:nvPr/>
        </p:nvSpPr>
        <p:spPr>
          <a:xfrm>
            <a:off x="320040" y="400612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Ҳамкорлик</a:t>
            </a:r>
          </a:p>
        </p:txBody>
      </p:sp>
      <p:sp>
        <p:nvSpPr>
          <p:cNvPr id="259" name="TextBox"/>
          <p:cNvSpPr txBox="1"/>
          <p:nvPr/>
        </p:nvSpPr>
        <p:spPr>
          <a:xfrm>
            <a:off x="1965960" y="4006120"/>
            <a:ext cx="5623560" cy="6858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250" b="1" i="0">
                <a:solidFill>
                  <a:srgbClr val="C00000"/>
                </a:solidFill>
                <a:latin typeface="Times New Roman"/>
                <a:cs typeface="Times New Roman"/>
              </a:rPr>
              <a:t>МОСКВА ДАВЛАТ ФУҚАРО АВИАЦИЯСИ УНИВЕРСИТЕТИ</a:t>
            </a:r>
          </a:p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Фуқаро авиацияси мутахассисларини тайёрлаш</a:t>
            </a:r>
          </a:p>
        </p:txBody>
      </p:sp>
      <p:sp>
        <p:nvSpPr>
          <p:cNvPr id="260" name="Card"/>
          <p:cNvSpPr/>
          <p:nvPr/>
        </p:nvSpPr>
        <p:spPr>
          <a:xfrm>
            <a:off x="274320" y="4829080"/>
            <a:ext cx="7406640" cy="7772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61" name="Shape"/>
          <p:cNvSpPr/>
          <p:nvPr/>
        </p:nvSpPr>
        <p:spPr>
          <a:xfrm>
            <a:off x="320040" y="487480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Ҳамкорлик</a:t>
            </a:r>
          </a:p>
        </p:txBody>
      </p:sp>
      <p:sp>
        <p:nvSpPr>
          <p:cNvPr id="262" name="TextBox"/>
          <p:cNvSpPr txBox="1"/>
          <p:nvPr/>
        </p:nvSpPr>
        <p:spPr>
          <a:xfrm>
            <a:off x="1965960" y="4874800"/>
            <a:ext cx="5623560" cy="6858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250" b="1" i="0">
                <a:solidFill>
                  <a:srgbClr val="7A4FA3"/>
                </a:solidFill>
                <a:latin typeface="Times New Roman"/>
                <a:cs typeface="Times New Roman"/>
              </a:rPr>
              <a:t>ФРАНЦИЯ ФУҚАРО АВИАЦИЯСИ МИЛЛИЙ МАКТАБИ (ENAC)</a:t>
            </a:r>
          </a:p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Аэронавигация ва учувчилар тайёрлаш тажрибаси</a:t>
            </a:r>
          </a:p>
        </p:txBody>
      </p:sp>
      <p:sp>
        <p:nvSpPr>
          <p:cNvPr id="263" name="Card"/>
          <p:cNvSpPr/>
          <p:nvPr/>
        </p:nvSpPr>
        <p:spPr>
          <a:xfrm>
            <a:off x="274320" y="5697760"/>
            <a:ext cx="7406640" cy="7772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64" name="Shape"/>
          <p:cNvSpPr/>
          <p:nvPr/>
        </p:nvSpPr>
        <p:spPr>
          <a:xfrm>
            <a:off x="320040" y="574348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138A7A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Ҳамкорлик</a:t>
            </a:r>
          </a:p>
        </p:txBody>
      </p:sp>
      <p:sp>
        <p:nvSpPr>
          <p:cNvPr id="265" name="TextBox"/>
          <p:cNvSpPr txBox="1"/>
          <p:nvPr/>
        </p:nvSpPr>
        <p:spPr>
          <a:xfrm>
            <a:off x="1965960" y="5743480"/>
            <a:ext cx="5623560" cy="6858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>ФУҚАРО АВИАЦИЯСИ УНИВЕРСИТЕТИ (САНКТ-ПЕТЕРБУРГ)</a:t>
            </a:r>
          </a:p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Парвоз эксплуатацияси ва хавфсизлиги</a:t>
            </a:r>
          </a:p>
        </p:txBody>
      </p:sp>
      <p:sp>
        <p:nvSpPr>
          <p:cNvPr id="266" name="Divider"/>
          <p:cNvSpPr/>
          <p:nvPr/>
        </p:nvSpPr>
        <p:spPr>
          <a:xfrm>
            <a:off x="7955280" y="760000"/>
            <a:ext cx="0" cy="5930000"/>
          </a:xfrm>
          <a:prstGeom prst="line">
            <a:avLst/>
          </a:prstGeom>
          <a:ln w="19050">
            <a:solidFill>
              <a:srgbClr val="9AA8BF"/>
            </a:solidFill>
            <a:prstDash val="sysDot"/>
          </a:ln>
        </p:spPr>
        <p:txBody>
          <a:bodyPr/>
          <a:lstStyle/>
          <a:p>
            <a:endParaRPr/>
          </a:p>
        </p:txBody>
      </p:sp>
      <p:sp>
        <p:nvSpPr>
          <p:cNvPr id="267" name="Pill"/>
          <p:cNvSpPr/>
          <p:nvPr/>
        </p:nvSpPr>
        <p:spPr>
          <a:xfrm>
            <a:off x="8229600" y="760000"/>
            <a:ext cx="3688080" cy="457200"/>
          </a:xfrm>
          <a:prstGeom prst="roundRect">
            <a:avLst>
              <a:gd name="adj" fmla="val 18000"/>
            </a:avLst>
          </a:prstGeom>
          <a:solidFill>
            <a:srgbClr val="138A7A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ҲАМКОР ТАШКИЛОТЛАР</a:t>
            </a:r>
          </a:p>
        </p:txBody>
      </p:sp>
      <p:sp>
        <p:nvSpPr>
          <p:cNvPr id="268" name="Card"/>
          <p:cNvSpPr/>
          <p:nvPr/>
        </p:nvSpPr>
        <p:spPr>
          <a:xfrm>
            <a:off x="8229600" y="1354360"/>
            <a:ext cx="3688080" cy="32461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69" name="TextBox"/>
          <p:cNvSpPr txBox="1"/>
          <p:nvPr/>
        </p:nvSpPr>
        <p:spPr>
          <a:xfrm>
            <a:off x="8266176" y="1445800"/>
            <a:ext cx="3614928" cy="3063240"/>
          </a:xfrm>
          <a:prstGeom prst="rect">
            <a:avLst/>
          </a:prstGeom>
          <a:noFill/>
        </p:spPr>
        <p:txBody>
          <a:bodyPr wrap="square" lIns="54864" tIns="27432" rIns="54864" bIns="27432" anchor="t"/>
          <a:lstStyle/>
          <a:p>
            <a:pPr algn="l">
              <a:spcAft>
                <a:spcPts val="26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«Uzbekistan Airways» АЖ</a:t>
            </a:r>
          </a:p>
          <a:p>
            <a:pPr algn="l">
              <a:spcAft>
                <a:spcPts val="26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«Uzbekistan Airports» АЖ</a:t>
            </a:r>
          </a:p>
          <a:p>
            <a:pPr algn="l">
              <a:spcAft>
                <a:spcPts val="26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«O‘zaeronavigatsiya» маркази ДУК</a:t>
            </a:r>
          </a:p>
          <a:p>
            <a:pPr algn="l">
              <a:spcAft>
                <a:spcPts val="26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«Ўқув-машқ маркази» МЧЖ (Training Center)</a:t>
            </a:r>
          </a:p>
          <a:p>
            <a:pPr algn="l">
              <a:spcAft>
                <a:spcPts val="26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«Uzbekistan Airways Technics» (UAT)</a:t>
            </a:r>
          </a:p>
          <a:p>
            <a:pPr algn="l">
              <a:spcAft>
                <a:spcPts val="26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«Centrum Air» авиакомпанияси</a:t>
            </a:r>
          </a:p>
          <a:p>
            <a:pPr algn="l">
              <a:spcAft>
                <a:spcPts val="26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«My Freighter» авиакомпанияси</a:t>
            </a:r>
          </a:p>
          <a:p>
            <a:pPr algn="l">
              <a:spcAft>
                <a:spcPts val="26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«Тошкент механика заводи» (TMZ)</a:t>
            </a:r>
          </a:p>
          <a:p>
            <a:pPr algn="l">
              <a:spcAft>
                <a:spcPts val="260"/>
              </a:spcAft>
            </a:pPr>
            <a:r>
              <a:rPr sz="1250" b="1" i="0">
                <a:solidFill>
                  <a:srgbClr val="138A7A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«Ўзбеккосмос» агентлиги</a:t>
            </a:r>
          </a:p>
        </p:txBody>
      </p:sp>
      <p:sp>
        <p:nvSpPr>
          <p:cNvPr id="270" name="Pill"/>
          <p:cNvSpPr/>
          <p:nvPr/>
        </p:nvSpPr>
        <p:spPr>
          <a:xfrm>
            <a:off x="8229600" y="4737640"/>
            <a:ext cx="3688080" cy="457200"/>
          </a:xfrm>
          <a:prstGeom prst="roundRect">
            <a:avLst>
              <a:gd name="adj" fmla="val 18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ҲАМКОРЛИК НАТИЖАЛАРИ</a:t>
            </a:r>
          </a:p>
        </p:txBody>
      </p:sp>
      <p:sp>
        <p:nvSpPr>
          <p:cNvPr id="271" name="Shape"/>
          <p:cNvSpPr/>
          <p:nvPr/>
        </p:nvSpPr>
        <p:spPr>
          <a:xfrm>
            <a:off x="8229600" y="5331880"/>
            <a:ext cx="3688080" cy="457200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4 та  </a:t>
            </a: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қўшма таълим дастури</a:t>
            </a:r>
          </a:p>
        </p:txBody>
      </p:sp>
      <p:sp>
        <p:nvSpPr>
          <p:cNvPr id="272" name="Shape"/>
          <p:cNvSpPr/>
          <p:nvPr/>
        </p:nvSpPr>
        <p:spPr>
          <a:xfrm>
            <a:off x="8229600" y="5834800"/>
            <a:ext cx="3688080" cy="457200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9 та  </a:t>
            </a: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ҳамкор ташкилот</a:t>
            </a:r>
          </a:p>
        </p:txBody>
      </p:sp>
      <p:sp>
        <p:nvSpPr>
          <p:cNvPr id="273" name="Shape"/>
          <p:cNvSpPr/>
          <p:nvPr/>
        </p:nvSpPr>
        <p:spPr>
          <a:xfrm>
            <a:off x="8229600" y="6337720"/>
            <a:ext cx="3688080" cy="457200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6 та  </a:t>
            </a: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ҳамкор хорижий ОТМ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ЛАБОРАТОРИЯ БАЗАСИ: УМУМИЙ ЭҲТИЁЖ</a:t>
            </a:r>
          </a:p>
        </p:txBody>
      </p:sp>
      <p:sp>
        <p:nvSpPr>
          <p:cNvPr id="275" name="Shape"/>
          <p:cNvSpPr/>
          <p:nvPr/>
        </p:nvSpPr>
        <p:spPr>
          <a:xfrm>
            <a:off x="274320" y="760000"/>
            <a:ext cx="3383280" cy="82296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wrap="square" lIns="36576" tIns="18288" rIns="36576" bIns="18288" rtlCol="0" anchor="ctr"/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Times New Roman"/>
                <a:cs typeface="Times New Roman"/>
              </a:rPr>
              <a:t>$391 752</a:t>
            </a:r>
          </a:p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жами лаборатория жиҳозлари эҳтиёжи</a:t>
            </a:r>
          </a:p>
        </p:txBody>
      </p:sp>
      <p:sp>
        <p:nvSpPr>
          <p:cNvPr id="276" name="Card"/>
          <p:cNvSpPr/>
          <p:nvPr/>
        </p:nvSpPr>
        <p:spPr>
          <a:xfrm>
            <a:off x="3749040" y="760000"/>
            <a:ext cx="8168640" cy="8229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77" name="TextBox"/>
          <p:cNvSpPr txBox="1"/>
          <p:nvPr/>
        </p:nvSpPr>
        <p:spPr>
          <a:xfrm>
            <a:off x="3840480" y="760000"/>
            <a:ext cx="8031480" cy="8229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Эҳтиёж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2 та кафедра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ва </a:t>
            </a: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11 та лаборатория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 xml:space="preserve"> бўйича шакллантирилган. Қуйида йўналишлар кесимида талаб этиладиган маблағ келтирилган.</a:t>
            </a:r>
          </a:p>
        </p:txBody>
      </p:sp>
      <p:sp>
        <p:nvSpPr>
          <p:cNvPr id="278" name="Card"/>
          <p:cNvSpPr/>
          <p:nvPr/>
        </p:nvSpPr>
        <p:spPr>
          <a:xfrm>
            <a:off x="274320" y="1720120"/>
            <a:ext cx="2218944" cy="40554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79" name="Pill"/>
          <p:cNvSpPr/>
          <p:nvPr/>
        </p:nvSpPr>
        <p:spPr>
          <a:xfrm>
            <a:off x="320040" y="1765840"/>
            <a:ext cx="2127504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АВИАЦИЯ ИНЖИНИРИНГИ</a:t>
            </a:r>
          </a:p>
        </p:txBody>
      </p:sp>
      <p:sp>
        <p:nvSpPr>
          <p:cNvPr id="280" name="Shape"/>
          <p:cNvSpPr/>
          <p:nvPr/>
        </p:nvSpPr>
        <p:spPr>
          <a:xfrm>
            <a:off x="411480" y="2314480"/>
            <a:ext cx="1944624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2A6B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B2A6B"/>
                </a:solidFill>
                <a:latin typeface="Times New Roman"/>
                <a:cs typeface="Times New Roman"/>
              </a:rPr>
              <a:t>$54 880</a:t>
            </a:r>
          </a:p>
        </p:txBody>
      </p:sp>
      <p:sp>
        <p:nvSpPr>
          <p:cNvPr id="281" name="TextBox"/>
          <p:cNvSpPr txBox="1"/>
          <p:nvPr/>
        </p:nvSpPr>
        <p:spPr>
          <a:xfrm>
            <a:off x="310896" y="3046000"/>
            <a:ext cx="2145792" cy="265644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Ҳаво кемалари жиҳозлари ва диагностикаси — $21 650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Учувчисиз учиш аппаратлари — $18 830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Учиш аппаратлари куч қурилмалари — $14 400</a:t>
            </a:r>
          </a:p>
        </p:txBody>
      </p:sp>
      <p:sp>
        <p:nvSpPr>
          <p:cNvPr id="282" name="Card"/>
          <p:cNvSpPr/>
          <p:nvPr/>
        </p:nvSpPr>
        <p:spPr>
          <a:xfrm>
            <a:off x="2630424" y="1720120"/>
            <a:ext cx="2218944" cy="40554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83" name="Pill"/>
          <p:cNvSpPr/>
          <p:nvPr/>
        </p:nvSpPr>
        <p:spPr>
          <a:xfrm>
            <a:off x="2676144" y="1765840"/>
            <a:ext cx="2127504" cy="457200"/>
          </a:xfrm>
          <a:prstGeom prst="roundRect">
            <a:avLst>
              <a:gd name="adj" fmla="val 18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АВИАСОЗЛИК</a:t>
            </a:r>
          </a:p>
        </p:txBody>
      </p:sp>
      <p:sp>
        <p:nvSpPr>
          <p:cNvPr id="284" name="Shape"/>
          <p:cNvSpPr/>
          <p:nvPr/>
        </p:nvSpPr>
        <p:spPr>
          <a:xfrm>
            <a:off x="2767584" y="2314480"/>
            <a:ext cx="1944624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39B45"/>
                </a:solidFill>
                <a:latin typeface="Times New Roman"/>
                <a:cs typeface="Times New Roman"/>
              </a:rPr>
              <a:t>$192 360</a:t>
            </a:r>
          </a:p>
        </p:txBody>
      </p:sp>
      <p:sp>
        <p:nvSpPr>
          <p:cNvPr id="285" name="TextBox"/>
          <p:cNvSpPr txBox="1"/>
          <p:nvPr/>
        </p:nvSpPr>
        <p:spPr>
          <a:xfrm>
            <a:off x="2667000" y="3046000"/>
            <a:ext cx="2145792" cy="265644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Компьютерли лойиҳалаш — $60 600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Авиасозлик лабораторияси — $59 400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Учиш аппаратлари конструкцияси — $37 760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Аэродинамика ва парвоз динамикаси — $23 400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Газогидравлик аналогия — $11 200</a:t>
            </a:r>
          </a:p>
        </p:txBody>
      </p:sp>
      <p:sp>
        <p:nvSpPr>
          <p:cNvPr id="286" name="Card"/>
          <p:cNvSpPr/>
          <p:nvPr/>
        </p:nvSpPr>
        <p:spPr>
          <a:xfrm>
            <a:off x="4986528" y="1720120"/>
            <a:ext cx="2218944" cy="40554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87" name="Pill"/>
          <p:cNvSpPr/>
          <p:nvPr/>
        </p:nvSpPr>
        <p:spPr>
          <a:xfrm>
            <a:off x="5032248" y="1765840"/>
            <a:ext cx="2127504" cy="457200"/>
          </a:xfrm>
          <a:prstGeom prst="roundRect">
            <a:avLst>
              <a:gd name="adj" fmla="val 18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РАДИОЭЛЕКТРОНИКА</a:t>
            </a:r>
          </a:p>
        </p:txBody>
      </p:sp>
      <p:sp>
        <p:nvSpPr>
          <p:cNvPr id="288" name="Shape"/>
          <p:cNvSpPr/>
          <p:nvPr/>
        </p:nvSpPr>
        <p:spPr>
          <a:xfrm>
            <a:off x="5123688" y="2314480"/>
            <a:ext cx="1944624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E87722"/>
                </a:solidFill>
                <a:latin typeface="Times New Roman"/>
                <a:cs typeface="Times New Roman"/>
              </a:rPr>
              <a:t>$32 012</a:t>
            </a:r>
          </a:p>
        </p:txBody>
      </p:sp>
      <p:sp>
        <p:nvSpPr>
          <p:cNvPr id="289" name="TextBox"/>
          <p:cNvSpPr txBox="1"/>
          <p:nvPr/>
        </p:nvSpPr>
        <p:spPr>
          <a:xfrm>
            <a:off x="5023104" y="3046000"/>
            <a:ext cx="2145792" cy="265644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Радиоэлектрон қурилмалар — $10 550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Электроника ва схематехника — $21 462</a:t>
            </a:r>
          </a:p>
        </p:txBody>
      </p:sp>
      <p:sp>
        <p:nvSpPr>
          <p:cNvPr id="290" name="Card"/>
          <p:cNvSpPr/>
          <p:nvPr/>
        </p:nvSpPr>
        <p:spPr>
          <a:xfrm>
            <a:off x="7342632" y="1720120"/>
            <a:ext cx="2218944" cy="40554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91" name="Pill"/>
          <p:cNvSpPr/>
          <p:nvPr/>
        </p:nvSpPr>
        <p:spPr>
          <a:xfrm>
            <a:off x="7388352" y="1765840"/>
            <a:ext cx="2127504" cy="457200"/>
          </a:xfrm>
          <a:prstGeom prst="roundRect">
            <a:avLst>
              <a:gd name="adj" fmla="val 18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КОМПЬЮТЕРЛИ ЛОЙИҲАЛАШ (КОСМИК)</a:t>
            </a:r>
          </a:p>
        </p:txBody>
      </p:sp>
      <p:sp>
        <p:nvSpPr>
          <p:cNvPr id="292" name="Shape"/>
          <p:cNvSpPr/>
          <p:nvPr/>
        </p:nvSpPr>
        <p:spPr>
          <a:xfrm>
            <a:off x="7479792" y="2314480"/>
            <a:ext cx="1944624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A7AC2"/>
                </a:solidFill>
                <a:latin typeface="Times New Roman"/>
                <a:cs typeface="Times New Roman"/>
              </a:rPr>
              <a:t>$52 500</a:t>
            </a:r>
          </a:p>
        </p:txBody>
      </p:sp>
      <p:sp>
        <p:nvSpPr>
          <p:cNvPr id="293" name="TextBox"/>
          <p:cNvSpPr txBox="1"/>
          <p:nvPr/>
        </p:nvSpPr>
        <p:spPr>
          <a:xfrm>
            <a:off x="7379208" y="3046000"/>
            <a:ext cx="2145792" cy="265644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48 та компьютер, 2 та лазер принтер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3D принтер ва 3D сканер, проектор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Колонкалар ва роутерлар</a:t>
            </a:r>
          </a:p>
        </p:txBody>
      </p:sp>
      <p:sp>
        <p:nvSpPr>
          <p:cNvPr id="294" name="Card"/>
          <p:cNvSpPr/>
          <p:nvPr/>
        </p:nvSpPr>
        <p:spPr>
          <a:xfrm>
            <a:off x="9698736" y="1720120"/>
            <a:ext cx="2218944" cy="40554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95" name="Pill"/>
          <p:cNvSpPr/>
          <p:nvPr/>
        </p:nvSpPr>
        <p:spPr>
          <a:xfrm>
            <a:off x="9744456" y="1765840"/>
            <a:ext cx="2127504" cy="457200"/>
          </a:xfrm>
          <a:prstGeom prst="roundRect">
            <a:avLst>
              <a:gd name="adj" fmla="val 18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КИЧИК СУНЪИЙ ЙЎЛДОШЛАР</a:t>
            </a:r>
          </a:p>
        </p:txBody>
      </p:sp>
      <p:sp>
        <p:nvSpPr>
          <p:cNvPr id="296" name="Shape"/>
          <p:cNvSpPr/>
          <p:nvPr/>
        </p:nvSpPr>
        <p:spPr>
          <a:xfrm>
            <a:off x="9835896" y="2314480"/>
            <a:ext cx="1944624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7A4FA3"/>
                </a:solidFill>
                <a:latin typeface="Times New Roman"/>
                <a:cs typeface="Times New Roman"/>
              </a:rPr>
              <a:t>$60 000</a:t>
            </a:r>
          </a:p>
        </p:txBody>
      </p:sp>
      <p:sp>
        <p:nvSpPr>
          <p:cNvPr id="297" name="TextBox"/>
          <p:cNvSpPr txBox="1"/>
          <p:nvPr/>
        </p:nvSpPr>
        <p:spPr>
          <a:xfrm>
            <a:off x="9735312" y="3046000"/>
            <a:ext cx="2145792" cy="265644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CubeSat кичик спутник — $30 000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Ярим табиий моделлаштириш стенди — $12 000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Қуёш датчиклари калибрлаш стенди — $10 000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Плазма двигатели VERA МИФИ — $8 000</a:t>
            </a:r>
          </a:p>
        </p:txBody>
      </p:sp>
      <p:sp>
        <p:nvSpPr>
          <p:cNvPr id="298" name="Divider"/>
          <p:cNvSpPr/>
          <p:nvPr/>
        </p:nvSpPr>
        <p:spPr>
          <a:xfrm>
            <a:off x="274320" y="5958480"/>
            <a:ext cx="11643360" cy="0"/>
          </a:xfrm>
          <a:prstGeom prst="line">
            <a:avLst/>
          </a:prstGeom>
          <a:ln w="19050">
            <a:solidFill>
              <a:srgbClr val="9AA8BF"/>
            </a:solidFill>
            <a:prstDash val="sysDot"/>
          </a:ln>
        </p:spPr>
        <p:txBody>
          <a:bodyPr/>
          <a:lstStyle/>
          <a:p>
            <a:endParaRPr/>
          </a:p>
        </p:txBody>
      </p:sp>
      <p:sp>
        <p:nvSpPr>
          <p:cNvPr id="299" name="Card"/>
          <p:cNvSpPr/>
          <p:nvPr/>
        </p:nvSpPr>
        <p:spPr>
          <a:xfrm>
            <a:off x="274320" y="6049920"/>
            <a:ext cx="3789680" cy="6400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00" name="TextBox"/>
          <p:cNvSpPr txBox="1"/>
          <p:nvPr/>
        </p:nvSpPr>
        <p:spPr>
          <a:xfrm>
            <a:off x="310896" y="6049920"/>
            <a:ext cx="2349601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«АВИАЦИЯ ИНЖИНИРИНГИ» КАФЕДРАСИ</a:t>
            </a:r>
          </a:p>
        </p:txBody>
      </p:sp>
      <p:sp>
        <p:nvSpPr>
          <p:cNvPr id="301" name="TextBox"/>
          <p:cNvSpPr txBox="1"/>
          <p:nvPr/>
        </p:nvSpPr>
        <p:spPr>
          <a:xfrm>
            <a:off x="2623921" y="6049920"/>
            <a:ext cx="1403502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1B2A6B"/>
                </a:solidFill>
                <a:latin typeface="Times New Roman"/>
                <a:cs typeface="Times New Roman"/>
              </a:rPr>
              <a:t>$247 240</a:t>
            </a:r>
          </a:p>
        </p:txBody>
      </p:sp>
      <p:sp>
        <p:nvSpPr>
          <p:cNvPr id="302" name="Card"/>
          <p:cNvSpPr/>
          <p:nvPr/>
        </p:nvSpPr>
        <p:spPr>
          <a:xfrm>
            <a:off x="4201160" y="6049920"/>
            <a:ext cx="3789680" cy="6400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03" name="TextBox"/>
          <p:cNvSpPr txBox="1"/>
          <p:nvPr/>
        </p:nvSpPr>
        <p:spPr>
          <a:xfrm>
            <a:off x="4237736" y="6049920"/>
            <a:ext cx="2349601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«АЭРОНАВИГАЦИЯ ТИЗИМЛАРИ» КАФЕДРАСИ</a:t>
            </a:r>
          </a:p>
        </p:txBody>
      </p:sp>
      <p:sp>
        <p:nvSpPr>
          <p:cNvPr id="304" name="TextBox"/>
          <p:cNvSpPr txBox="1"/>
          <p:nvPr/>
        </p:nvSpPr>
        <p:spPr>
          <a:xfrm>
            <a:off x="6550761" y="6049920"/>
            <a:ext cx="1403502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239B45"/>
                </a:solidFill>
                <a:latin typeface="Times New Roman"/>
                <a:cs typeface="Times New Roman"/>
              </a:rPr>
              <a:t>$144 512</a:t>
            </a:r>
          </a:p>
        </p:txBody>
      </p:sp>
      <p:sp>
        <p:nvSpPr>
          <p:cNvPr id="305" name="Card"/>
          <p:cNvSpPr/>
          <p:nvPr/>
        </p:nvSpPr>
        <p:spPr>
          <a:xfrm>
            <a:off x="8128000" y="6049920"/>
            <a:ext cx="3789680" cy="6400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06" name="TextBox"/>
          <p:cNvSpPr txBox="1"/>
          <p:nvPr/>
        </p:nvSpPr>
        <p:spPr>
          <a:xfrm>
            <a:off x="8164576" y="6049920"/>
            <a:ext cx="2349601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ЖАМИ ЛАБОРАТОРИЯ ЭҲТИЁЖИ</a:t>
            </a:r>
          </a:p>
        </p:txBody>
      </p:sp>
      <p:sp>
        <p:nvSpPr>
          <p:cNvPr id="307" name="TextBox"/>
          <p:cNvSpPr txBox="1"/>
          <p:nvPr/>
        </p:nvSpPr>
        <p:spPr>
          <a:xfrm>
            <a:off x="10477601" y="6049920"/>
            <a:ext cx="1403502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C00000"/>
                </a:solidFill>
                <a:latin typeface="Times New Roman"/>
                <a:cs typeface="Times New Roman"/>
              </a:rPr>
              <a:t>$391 752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«АВИАЦИЯ ИНЖИНИРИНГИ» КАФЕДРАСИ ЛАБОРАТОРИЯЛАРИ</a:t>
            </a:r>
          </a:p>
        </p:txBody>
      </p:sp>
      <p:sp>
        <p:nvSpPr>
          <p:cNvPr id="309" name="Shape"/>
          <p:cNvSpPr/>
          <p:nvPr/>
        </p:nvSpPr>
        <p:spPr>
          <a:xfrm>
            <a:off x="274320" y="760000"/>
            <a:ext cx="3200400" cy="548640"/>
          </a:xfrm>
          <a:prstGeom prst="roundRect">
            <a:avLst>
              <a:gd name="adj" fmla="val 12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36576" tIns="0" rIns="36576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 xml:space="preserve">ЖАМИ: </a:t>
            </a: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$54 880</a:t>
            </a:r>
          </a:p>
        </p:txBody>
      </p:sp>
      <p:sp>
        <p:nvSpPr>
          <p:cNvPr id="310" name="TextBox"/>
          <p:cNvSpPr txBox="1"/>
          <p:nvPr/>
        </p:nvSpPr>
        <p:spPr>
          <a:xfrm>
            <a:off x="3566160" y="760000"/>
            <a:ext cx="8351520" cy="5486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00" b="1" i="0">
                <a:solidFill>
                  <a:srgbClr val="1A1F36"/>
                </a:solidFill>
                <a:latin typeface="Times New Roman"/>
                <a:cs typeface="Times New Roman"/>
              </a:rPr>
              <a:t>«Ҳаво кемаларининг техник эксплуатацияси» — $36 050  ·  «Авиация инжиниринги (учувчисиз авиация мажмуалари)» — $18 830</a:t>
            </a:r>
          </a:p>
        </p:txBody>
      </p:sp>
      <p:sp>
        <p:nvSpPr>
          <p:cNvPr id="311" name="Card"/>
          <p:cNvSpPr/>
          <p:nvPr/>
        </p:nvSpPr>
        <p:spPr>
          <a:xfrm>
            <a:off x="274320" y="1445800"/>
            <a:ext cx="375920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12" name="Pill"/>
          <p:cNvSpPr/>
          <p:nvPr/>
        </p:nvSpPr>
        <p:spPr>
          <a:xfrm>
            <a:off x="320040" y="1491520"/>
            <a:ext cx="3667760" cy="594360"/>
          </a:xfrm>
          <a:prstGeom prst="roundRect">
            <a:avLst>
              <a:gd name="adj" fmla="val 14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«ҲАВО КЕМАЛАРИ ЖИҲОЗЛАРИ ВА ДИАГНОСТИКАСИ» ЛАБОРАТОРИЯСИ</a:t>
            </a:r>
          </a:p>
        </p:txBody>
      </p:sp>
      <p:sp>
        <p:nvSpPr>
          <p:cNvPr id="313" name="Shape"/>
          <p:cNvSpPr/>
          <p:nvPr/>
        </p:nvSpPr>
        <p:spPr>
          <a:xfrm>
            <a:off x="960120" y="2177320"/>
            <a:ext cx="23876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2A7AC2"/>
                </a:solidFill>
                <a:latin typeface="Times New Roman"/>
                <a:cs typeface="Times New Roman"/>
              </a:rPr>
              <a:t>$21 650</a:t>
            </a:r>
          </a:p>
        </p:txBody>
      </p:sp>
      <p:sp>
        <p:nvSpPr>
          <p:cNvPr id="314" name="TextBox"/>
          <p:cNvSpPr txBox="1"/>
          <p:nvPr/>
        </p:nvSpPr>
        <p:spPr>
          <a:xfrm>
            <a:off x="310896" y="2863120"/>
            <a:ext cx="3686048" cy="3753728"/>
          </a:xfrm>
          <a:prstGeom prst="rect">
            <a:avLst/>
          </a:prstGeom>
          <a:noFill/>
        </p:spPr>
        <p:txBody>
          <a:bodyPr wrap="square" lIns="54864" tIns="27432" rIns="54864" bIns="27432" anchor="ctr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Видео эндоскоп PCE-VE-1034N-F — $4 800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Бороскоп PCE-IVE-320 — $1 800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Вихретоковый дефектоскоп ВД-70 — $2 500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Ультразвуковой дефектоскоп А1212 МАСТЕР — $3 750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Универсал юқори тезликдаги синов машинаси AG-X PLUS (5 кН) — $8 800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Муфель печи SNOL 8,2/1100 LSM01 — $1 150</a:t>
            </a:r>
          </a:p>
        </p:txBody>
      </p:sp>
      <p:sp>
        <p:nvSpPr>
          <p:cNvPr id="315" name="Card"/>
          <p:cNvSpPr/>
          <p:nvPr/>
        </p:nvSpPr>
        <p:spPr>
          <a:xfrm>
            <a:off x="4216400" y="1445800"/>
            <a:ext cx="375920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16" name="Pill"/>
          <p:cNvSpPr/>
          <p:nvPr/>
        </p:nvSpPr>
        <p:spPr>
          <a:xfrm>
            <a:off x="4262120" y="1491520"/>
            <a:ext cx="3667760" cy="594360"/>
          </a:xfrm>
          <a:prstGeom prst="roundRect">
            <a:avLst>
              <a:gd name="adj" fmla="val 14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«УЧУВЧИСИЗ УЧИШ АППАРАТЛАРИ» ЛАБОРАТОРИЯСИ</a:t>
            </a:r>
          </a:p>
        </p:txBody>
      </p:sp>
      <p:sp>
        <p:nvSpPr>
          <p:cNvPr id="317" name="Shape"/>
          <p:cNvSpPr/>
          <p:nvPr/>
        </p:nvSpPr>
        <p:spPr>
          <a:xfrm>
            <a:off x="4902200" y="2177320"/>
            <a:ext cx="23876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239B45"/>
                </a:solidFill>
                <a:latin typeface="Times New Roman"/>
                <a:cs typeface="Times New Roman"/>
              </a:rPr>
              <a:t>$18 830</a:t>
            </a:r>
          </a:p>
        </p:txBody>
      </p:sp>
      <p:sp>
        <p:nvSpPr>
          <p:cNvPr id="318" name="TextBox"/>
          <p:cNvSpPr txBox="1"/>
          <p:nvPr/>
        </p:nvSpPr>
        <p:spPr>
          <a:xfrm>
            <a:off x="4252976" y="2863120"/>
            <a:ext cx="3686048" cy="3753728"/>
          </a:xfrm>
          <a:prstGeom prst="rect">
            <a:avLst/>
          </a:prstGeom>
          <a:noFill/>
        </p:spPr>
        <p:txBody>
          <a:bodyPr wrap="square" lIns="54864" tIns="27432" rIns="54864" bIns="27432" anchor="ctr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Ўқув-лаборатория мажмуаси «БПЛА йиғиш ва дастурлаш» — $4 900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Комплектация 3 — $4 300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Тренажёр «Самолёт типидаги БПЛА оператори» — $2 400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Стенд-планшет «Самолёт типидаги БПЛА электроникаси» — $2 400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Стенд-планшет «Мультиротор БПЛА электроникаси» — $2 000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Ўқув-лаборатория мажмуаси «Мультиротор БПЛА» — $980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Тренажёр «Мультиротор БПЛА оператори» — $700</a:t>
            </a:r>
          </a:p>
        </p:txBody>
      </p:sp>
      <p:sp>
        <p:nvSpPr>
          <p:cNvPr id="319" name="Card"/>
          <p:cNvSpPr/>
          <p:nvPr/>
        </p:nvSpPr>
        <p:spPr>
          <a:xfrm>
            <a:off x="8158480" y="1445800"/>
            <a:ext cx="375920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20" name="Pill"/>
          <p:cNvSpPr/>
          <p:nvPr/>
        </p:nvSpPr>
        <p:spPr>
          <a:xfrm>
            <a:off x="8204200" y="1491520"/>
            <a:ext cx="3667760" cy="594360"/>
          </a:xfrm>
          <a:prstGeom prst="roundRect">
            <a:avLst>
              <a:gd name="adj" fmla="val 14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«УЧИШ АППАРАТЛАРИ КУЧ ҚУРИЛМАЛАРИ» ЛАБОРАТОРИЯСИ</a:t>
            </a:r>
          </a:p>
        </p:txBody>
      </p:sp>
      <p:sp>
        <p:nvSpPr>
          <p:cNvPr id="321" name="Shape"/>
          <p:cNvSpPr/>
          <p:nvPr/>
        </p:nvSpPr>
        <p:spPr>
          <a:xfrm>
            <a:off x="8844280" y="2177320"/>
            <a:ext cx="23876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E87722"/>
                </a:solidFill>
                <a:latin typeface="Times New Roman"/>
                <a:cs typeface="Times New Roman"/>
              </a:rPr>
              <a:t>$14 400</a:t>
            </a:r>
          </a:p>
        </p:txBody>
      </p:sp>
      <p:sp>
        <p:nvSpPr>
          <p:cNvPr id="322" name="TextBox"/>
          <p:cNvSpPr txBox="1"/>
          <p:nvPr/>
        </p:nvSpPr>
        <p:spPr>
          <a:xfrm>
            <a:off x="8195056" y="2863120"/>
            <a:ext cx="3686048" cy="3753728"/>
          </a:xfrm>
          <a:prstGeom prst="rect">
            <a:avLst/>
          </a:prstGeom>
          <a:noFill/>
        </p:spPr>
        <p:txBody>
          <a:bodyPr wrap="square" lIns="54864" tIns="27432" rIns="54864" bIns="27432" anchor="ctr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 ўқув мажмуаси: турбореактив двигател тузилиши ва физик макети — $6 300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 дастурий мажмуа: ПС-90-А двигателининг иш жараёнлари — $4 800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 дастурий мажмуа: енгил моторли самолёт конструкцияси ва жиҳозлари — $3 300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«АВИАСОЗЛИК» ЙЎНАЛИШИ ЛАБОРАТОРИЯЛАРИ</a:t>
            </a:r>
          </a:p>
        </p:txBody>
      </p:sp>
      <p:sp>
        <p:nvSpPr>
          <p:cNvPr id="324" name="Shape"/>
          <p:cNvSpPr/>
          <p:nvPr/>
        </p:nvSpPr>
        <p:spPr>
          <a:xfrm>
            <a:off x="274320" y="7600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wrap="square" lIns="36576" tIns="0" rIns="36576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 xml:space="preserve">ЖАМИ: </a:t>
            </a: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$192 360</a:t>
            </a:r>
          </a:p>
        </p:txBody>
      </p:sp>
      <p:sp>
        <p:nvSpPr>
          <p:cNvPr id="325" name="TextBox"/>
          <p:cNvSpPr txBox="1"/>
          <p:nvPr/>
        </p:nvSpPr>
        <p:spPr>
          <a:xfrm>
            <a:off x="3200400" y="760000"/>
            <a:ext cx="8717280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«Авиация инжиниринги (авиасозлик)» йўналиши бўйича 5 та лаборатория базасини ривожлантириш</a:t>
            </a:r>
          </a:p>
        </p:txBody>
      </p:sp>
      <p:sp>
        <p:nvSpPr>
          <p:cNvPr id="326" name="Card"/>
          <p:cNvSpPr/>
          <p:nvPr/>
        </p:nvSpPr>
        <p:spPr>
          <a:xfrm>
            <a:off x="274320" y="1400080"/>
            <a:ext cx="2233574" cy="52899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27" name="Pill"/>
          <p:cNvSpPr/>
          <p:nvPr/>
        </p:nvSpPr>
        <p:spPr>
          <a:xfrm>
            <a:off x="310896" y="1445800"/>
            <a:ext cx="2160422" cy="548640"/>
          </a:xfrm>
          <a:prstGeom prst="roundRect">
            <a:avLst>
              <a:gd name="adj" fmla="val 14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«КОМПЬЮТЕРЛИ ЛОЙИҲАЛАШ»</a:t>
            </a:r>
          </a:p>
        </p:txBody>
      </p:sp>
      <p:sp>
        <p:nvSpPr>
          <p:cNvPr id="328" name="Shape"/>
          <p:cNvSpPr/>
          <p:nvPr/>
        </p:nvSpPr>
        <p:spPr>
          <a:xfrm>
            <a:off x="548640" y="2085880"/>
            <a:ext cx="1684934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2A6B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B2A6B"/>
                </a:solidFill>
                <a:latin typeface="Times New Roman"/>
                <a:cs typeface="Times New Roman"/>
              </a:rPr>
              <a:t>$60 600</a:t>
            </a:r>
          </a:p>
        </p:txBody>
      </p:sp>
      <p:sp>
        <p:nvSpPr>
          <p:cNvPr id="329" name="TextBox"/>
          <p:cNvSpPr txBox="1"/>
          <p:nvPr/>
        </p:nvSpPr>
        <p:spPr>
          <a:xfrm>
            <a:off x="301752" y="2680240"/>
            <a:ext cx="2178710" cy="3936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Ўқув синфи учун компьютер (15 комплект) — $30 000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3D сканер — $18 000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3D принтер — $4 500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Плоттер Canon imagePROGRAF TM-300 — $2 500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Монитор — $2 400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Моноблок — $2 400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Проектор — $800</a:t>
            </a:r>
          </a:p>
        </p:txBody>
      </p:sp>
      <p:sp>
        <p:nvSpPr>
          <p:cNvPr id="330" name="Card"/>
          <p:cNvSpPr/>
          <p:nvPr/>
        </p:nvSpPr>
        <p:spPr>
          <a:xfrm>
            <a:off x="2626766" y="1400080"/>
            <a:ext cx="2233574" cy="52899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31" name="Pill"/>
          <p:cNvSpPr/>
          <p:nvPr/>
        </p:nvSpPr>
        <p:spPr>
          <a:xfrm>
            <a:off x="2663342" y="1445800"/>
            <a:ext cx="2160422" cy="548640"/>
          </a:xfrm>
          <a:prstGeom prst="roundRect">
            <a:avLst>
              <a:gd name="adj" fmla="val 14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«АВИАСОЗЛИК» ЛАБОРАТОРИЯСИ</a:t>
            </a:r>
          </a:p>
        </p:txBody>
      </p:sp>
      <p:sp>
        <p:nvSpPr>
          <p:cNvPr id="332" name="Shape"/>
          <p:cNvSpPr/>
          <p:nvPr/>
        </p:nvSpPr>
        <p:spPr>
          <a:xfrm>
            <a:off x="2901086" y="2085880"/>
            <a:ext cx="1684934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$59 400</a:t>
            </a:r>
          </a:p>
        </p:txBody>
      </p:sp>
      <p:sp>
        <p:nvSpPr>
          <p:cNvPr id="333" name="TextBox"/>
          <p:cNvSpPr txBox="1"/>
          <p:nvPr/>
        </p:nvSpPr>
        <p:spPr>
          <a:xfrm>
            <a:off x="2654198" y="2680240"/>
            <a:ext cx="2178710" cy="3936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Токарно-винторезный станок JET GHB-1330A DRO — $18 000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5 ўқли фрезер ЧПУ дастгоҳи «Микрон 5х-ЧПУ» — $10 300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Микроскоп ММН-120A Girmax — $8 400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Твердомер Роквелла ТР 5008А — $7 500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Ўқув токарлик ЧПУ дастгоҳи (PCNC) — $6 200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Радиально-сверлильный станок JET JRD-460 — $4 000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Универсал-фрезер дастгоҳи JET JUM-X2 — $4 000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Комбинированный станок JET JKM-300 — $1 000</a:t>
            </a:r>
          </a:p>
        </p:txBody>
      </p:sp>
      <p:sp>
        <p:nvSpPr>
          <p:cNvPr id="334" name="Card"/>
          <p:cNvSpPr/>
          <p:nvPr/>
        </p:nvSpPr>
        <p:spPr>
          <a:xfrm>
            <a:off x="4979212" y="1400080"/>
            <a:ext cx="2233574" cy="52899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35" name="Pill"/>
          <p:cNvSpPr/>
          <p:nvPr/>
        </p:nvSpPr>
        <p:spPr>
          <a:xfrm>
            <a:off x="5015788" y="1445800"/>
            <a:ext cx="2160422" cy="548640"/>
          </a:xfrm>
          <a:prstGeom prst="roundRect">
            <a:avLst>
              <a:gd name="adj" fmla="val 14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«УЧИШ АППАРАТЛАРИ КОНСТРУКЦИЯСИ»</a:t>
            </a:r>
          </a:p>
        </p:txBody>
      </p:sp>
      <p:sp>
        <p:nvSpPr>
          <p:cNvPr id="336" name="Shape"/>
          <p:cNvSpPr/>
          <p:nvPr/>
        </p:nvSpPr>
        <p:spPr>
          <a:xfrm>
            <a:off x="5253532" y="2085880"/>
            <a:ext cx="1684934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E87722"/>
                </a:solidFill>
                <a:latin typeface="Times New Roman"/>
                <a:cs typeface="Times New Roman"/>
              </a:rPr>
              <a:t>$37 760</a:t>
            </a:r>
          </a:p>
        </p:txBody>
      </p:sp>
      <p:sp>
        <p:nvSpPr>
          <p:cNvPr id="337" name="TextBox"/>
          <p:cNvSpPr txBox="1"/>
          <p:nvPr/>
        </p:nvSpPr>
        <p:spPr>
          <a:xfrm>
            <a:off x="5006644" y="2680240"/>
            <a:ext cx="2178710" cy="3936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Стенд-тренажёр «Самолёт закрылоги» СТ-ГС-ЗС-016-6ЛР-ПК — $20 300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 мажмуа «Ми-8 ва Ми-24 вертолётлари тизимлари» — $8 100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Стенд-тренажёр «Самолёт шассиси» СТ-ГС-ШС-016-6ЛР-ПК — $3 800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 мажмуа «Енгил моторли самолёт компоновкаси» — $3 200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Стенд-планшет «Реверс створкалари бошқаруви» — $1 500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«Гидравлика ва гидропривод» плакатлар тўплами — $860</a:t>
            </a:r>
          </a:p>
        </p:txBody>
      </p:sp>
      <p:sp>
        <p:nvSpPr>
          <p:cNvPr id="338" name="Card"/>
          <p:cNvSpPr/>
          <p:nvPr/>
        </p:nvSpPr>
        <p:spPr>
          <a:xfrm>
            <a:off x="7331658" y="1400080"/>
            <a:ext cx="2233574" cy="52899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39" name="Pill"/>
          <p:cNvSpPr/>
          <p:nvPr/>
        </p:nvSpPr>
        <p:spPr>
          <a:xfrm>
            <a:off x="7368234" y="1445800"/>
            <a:ext cx="2160422" cy="548640"/>
          </a:xfrm>
          <a:prstGeom prst="roundRect">
            <a:avLst>
              <a:gd name="adj" fmla="val 14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«АЭРОДИНАМИКА ВА ПАРВОЗ ДИНАМИКАСИ»</a:t>
            </a:r>
          </a:p>
        </p:txBody>
      </p:sp>
      <p:sp>
        <p:nvSpPr>
          <p:cNvPr id="340" name="Shape"/>
          <p:cNvSpPr/>
          <p:nvPr/>
        </p:nvSpPr>
        <p:spPr>
          <a:xfrm>
            <a:off x="7605978" y="2085880"/>
            <a:ext cx="1684934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A7AC2"/>
                </a:solidFill>
                <a:latin typeface="Times New Roman"/>
                <a:cs typeface="Times New Roman"/>
              </a:rPr>
              <a:t>$23 400</a:t>
            </a:r>
          </a:p>
        </p:txBody>
      </p:sp>
      <p:sp>
        <p:nvSpPr>
          <p:cNvPr id="341" name="TextBox"/>
          <p:cNvSpPr txBox="1"/>
          <p:nvPr/>
        </p:nvSpPr>
        <p:spPr>
          <a:xfrm>
            <a:off x="7359090" y="2680240"/>
            <a:ext cx="2178710" cy="3936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Стенд «Жисмларни оқим билан ўраш — тутунли аэродинамик канал» — $6 400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Лаборатория «УА аэродинамикаси ва аэромеханикаси» — $6 200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Тўғри оқимли аэродинамик труба ЛК-ТАП-017-25-Р — $5 800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 мажмуа «Самолёт аэродинамикаси ва механизацияси» — $2 500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Стенд-планшет «Самолёт аэродинамик хусусиятлари» — $1 500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Стенд «Кўтариш кучини ўлчаш» — $1 000</a:t>
            </a:r>
          </a:p>
        </p:txBody>
      </p:sp>
      <p:sp>
        <p:nvSpPr>
          <p:cNvPr id="342" name="Card"/>
          <p:cNvSpPr/>
          <p:nvPr/>
        </p:nvSpPr>
        <p:spPr>
          <a:xfrm>
            <a:off x="9684104" y="1400080"/>
            <a:ext cx="2233574" cy="52899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43" name="Pill"/>
          <p:cNvSpPr/>
          <p:nvPr/>
        </p:nvSpPr>
        <p:spPr>
          <a:xfrm>
            <a:off x="9720680" y="1445800"/>
            <a:ext cx="2160422" cy="548640"/>
          </a:xfrm>
          <a:prstGeom prst="roundRect">
            <a:avLst>
              <a:gd name="adj" fmla="val 14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  <a:cs typeface="Times New Roman"/>
              </a:rPr>
              <a:t>«ГАЗОГИДРАВЛИК АНАЛОГИЯ»</a:t>
            </a:r>
          </a:p>
        </p:txBody>
      </p:sp>
      <p:sp>
        <p:nvSpPr>
          <p:cNvPr id="344" name="Shape"/>
          <p:cNvSpPr/>
          <p:nvPr/>
        </p:nvSpPr>
        <p:spPr>
          <a:xfrm>
            <a:off x="9958424" y="2085880"/>
            <a:ext cx="1684934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7A4FA3"/>
                </a:solidFill>
                <a:latin typeface="Times New Roman"/>
                <a:cs typeface="Times New Roman"/>
              </a:rPr>
              <a:t>$11 200</a:t>
            </a:r>
          </a:p>
        </p:txBody>
      </p:sp>
      <p:sp>
        <p:nvSpPr>
          <p:cNvPr id="345" name="TextBox"/>
          <p:cNvSpPr txBox="1"/>
          <p:nvPr/>
        </p:nvSpPr>
        <p:spPr>
          <a:xfrm>
            <a:off x="9711536" y="2680240"/>
            <a:ext cx="2178710" cy="3936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Рақамли камера Evercam 1000-4-М Макс — $4 200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Компьютер — $4 200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Телевизор — $1 800</a:t>
            </a:r>
          </a:p>
          <a:p>
            <a:pPr algn="l">
              <a:spcAft>
                <a:spcPts val="220"/>
              </a:spcAft>
            </a:pPr>
            <a:r>
              <a:rPr sz="10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Рақамли камера — $1 000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«АЭРОНАВИГАЦИЯ ТИЗИМЛАРИ» ЛАБОРАТОРИЯЛАРИ</a:t>
            </a:r>
          </a:p>
        </p:txBody>
      </p:sp>
      <p:sp>
        <p:nvSpPr>
          <p:cNvPr id="347" name="Shape"/>
          <p:cNvSpPr/>
          <p:nvPr/>
        </p:nvSpPr>
        <p:spPr>
          <a:xfrm>
            <a:off x="274320" y="760000"/>
            <a:ext cx="3017520" cy="502920"/>
          </a:xfrm>
          <a:prstGeom prst="roundRect">
            <a:avLst>
              <a:gd name="adj" fmla="val 12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36576" tIns="0" rIns="36576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 xml:space="preserve">ЖАМИ: </a:t>
            </a: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$144 512</a:t>
            </a:r>
          </a:p>
        </p:txBody>
      </p:sp>
      <p:sp>
        <p:nvSpPr>
          <p:cNvPr id="348" name="TextBox"/>
          <p:cNvSpPr txBox="1"/>
          <p:nvPr/>
        </p:nvSpPr>
        <p:spPr>
          <a:xfrm>
            <a:off x="3383280" y="760000"/>
            <a:ext cx="8534400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Радиоэлектрон қурилмалар ва тизимлар — $32 012  ·  Космик технологиялар — $112 500</a:t>
            </a:r>
          </a:p>
        </p:txBody>
      </p:sp>
      <p:sp>
        <p:nvSpPr>
          <p:cNvPr id="349" name="Card"/>
          <p:cNvSpPr/>
          <p:nvPr/>
        </p:nvSpPr>
        <p:spPr>
          <a:xfrm>
            <a:off x="274320" y="1400080"/>
            <a:ext cx="2807970" cy="52899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50" name="Pill"/>
          <p:cNvSpPr/>
          <p:nvPr/>
        </p:nvSpPr>
        <p:spPr>
          <a:xfrm>
            <a:off x="320040" y="1445800"/>
            <a:ext cx="2716530" cy="594360"/>
          </a:xfrm>
          <a:prstGeom prst="roundRect">
            <a:avLst>
              <a:gd name="adj" fmla="val 14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«РАДИОЭЛЕКТРОН ҚУРИЛМАЛАР» ЛАБОРАТОРИЯСИ</a:t>
            </a:r>
          </a:p>
        </p:txBody>
      </p:sp>
      <p:sp>
        <p:nvSpPr>
          <p:cNvPr id="351" name="Shape"/>
          <p:cNvSpPr/>
          <p:nvPr/>
        </p:nvSpPr>
        <p:spPr>
          <a:xfrm>
            <a:off x="731520" y="2131600"/>
            <a:ext cx="189357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A7AC2"/>
                </a:solidFill>
                <a:latin typeface="Times New Roman"/>
                <a:cs typeface="Times New Roman"/>
              </a:rPr>
              <a:t>$10 550</a:t>
            </a:r>
          </a:p>
        </p:txBody>
      </p:sp>
      <p:sp>
        <p:nvSpPr>
          <p:cNvPr id="352" name="TextBox"/>
          <p:cNvSpPr txBox="1"/>
          <p:nvPr/>
        </p:nvSpPr>
        <p:spPr>
          <a:xfrm>
            <a:off x="310896" y="2771680"/>
            <a:ext cx="2734818" cy="3845168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«Радиотехниканинг назарий асослари» ўқув жиҳозлари тўплами — $4 700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РА-Л-МРЦ «Радиоавтоматика — чизиқли ва импулсли тизимлар» — $2 593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ОЦиМПТ-МРЦ «Рақамли ва микропроцессор техникаси асослари» — $1 428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АНТ-ПАР «Параболик антенна» лаборатория стенди — $1 157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ЭЦ-ПТ-МР «Ўзгармас ток электр занжири» тўплами — $672</a:t>
            </a:r>
          </a:p>
        </p:txBody>
      </p:sp>
      <p:sp>
        <p:nvSpPr>
          <p:cNvPr id="353" name="Card"/>
          <p:cNvSpPr/>
          <p:nvPr/>
        </p:nvSpPr>
        <p:spPr>
          <a:xfrm>
            <a:off x="3219450" y="1400080"/>
            <a:ext cx="2807970" cy="52899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54" name="Pill"/>
          <p:cNvSpPr/>
          <p:nvPr/>
        </p:nvSpPr>
        <p:spPr>
          <a:xfrm>
            <a:off x="3265170" y="1445800"/>
            <a:ext cx="2716530" cy="594360"/>
          </a:xfrm>
          <a:prstGeom prst="roundRect">
            <a:avLst>
              <a:gd name="adj" fmla="val 14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«ЭЛЕКТРОНИКА ВА СХЕМАТЕХНИКА» ЛАБОРАТОРИЯСИ</a:t>
            </a:r>
          </a:p>
        </p:txBody>
      </p:sp>
      <p:sp>
        <p:nvSpPr>
          <p:cNvPr id="355" name="Shape"/>
          <p:cNvSpPr/>
          <p:nvPr/>
        </p:nvSpPr>
        <p:spPr>
          <a:xfrm>
            <a:off x="3676650" y="2131600"/>
            <a:ext cx="189357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39B45"/>
                </a:solidFill>
                <a:latin typeface="Times New Roman"/>
                <a:cs typeface="Times New Roman"/>
              </a:rPr>
              <a:t>$21 462</a:t>
            </a:r>
          </a:p>
        </p:txBody>
      </p:sp>
      <p:sp>
        <p:nvSpPr>
          <p:cNvPr id="356" name="TextBox"/>
          <p:cNvSpPr txBox="1"/>
          <p:nvPr/>
        </p:nvSpPr>
        <p:spPr>
          <a:xfrm>
            <a:off x="3256026" y="2771680"/>
            <a:ext cx="2734818" cy="3845168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Ўқув лаборатория стенди «Электроника ва схемотехника асослари» — $11 000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«Радиотехник занжирлар ва сигналлар» лаборатория жиҳозлари — $7 000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Пайвандлаш станцияси 1000W 861DW (4 та) — $1 555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Радиодеталлар тўплами EPOT ELECTRONICS — $1 157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ИТ-15Т2 DVB-T/T2 сигнал анализатори — $600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Ҳароратли пайвандлаш асбоблари тўплами «БУЛЕ» (20 та) — $150</a:t>
            </a:r>
          </a:p>
        </p:txBody>
      </p:sp>
      <p:sp>
        <p:nvSpPr>
          <p:cNvPr id="357" name="Card"/>
          <p:cNvSpPr/>
          <p:nvPr/>
        </p:nvSpPr>
        <p:spPr>
          <a:xfrm>
            <a:off x="6164580" y="1400080"/>
            <a:ext cx="2807970" cy="52899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58" name="Pill"/>
          <p:cNvSpPr/>
          <p:nvPr/>
        </p:nvSpPr>
        <p:spPr>
          <a:xfrm>
            <a:off x="6210300" y="1445800"/>
            <a:ext cx="2716530" cy="594360"/>
          </a:xfrm>
          <a:prstGeom prst="roundRect">
            <a:avLst>
              <a:gd name="adj" fmla="val 14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«КОМПЬЮТЕРЛИ ЛОЙИҲАЛАШ ВА ДАСТУРЛАШ» (КОСМИК)</a:t>
            </a:r>
          </a:p>
        </p:txBody>
      </p:sp>
      <p:sp>
        <p:nvSpPr>
          <p:cNvPr id="359" name="Shape"/>
          <p:cNvSpPr/>
          <p:nvPr/>
        </p:nvSpPr>
        <p:spPr>
          <a:xfrm>
            <a:off x="6621780" y="2131600"/>
            <a:ext cx="189357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E87722"/>
                </a:solidFill>
                <a:latin typeface="Times New Roman"/>
                <a:cs typeface="Times New Roman"/>
              </a:rPr>
              <a:t>$52 500</a:t>
            </a:r>
          </a:p>
        </p:txBody>
      </p:sp>
      <p:sp>
        <p:nvSpPr>
          <p:cNvPr id="360" name="TextBox"/>
          <p:cNvSpPr txBox="1"/>
          <p:nvPr/>
        </p:nvSpPr>
        <p:spPr>
          <a:xfrm>
            <a:off x="6201156" y="2771680"/>
            <a:ext cx="2734818" cy="3845168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Ўқув аудиторияга компьютерлар (48 та) — $48 000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3D сканер (1 та) — $6 000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3D принтер (1 та) — $6 000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Проектор (2 та) — $2 000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Лазер принтер (2 та) — $2 000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Колонкалар (1 комплект) — $1 500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Роутер (2 та) — $1 000</a:t>
            </a:r>
          </a:p>
        </p:txBody>
      </p:sp>
      <p:sp>
        <p:nvSpPr>
          <p:cNvPr id="361" name="Card"/>
          <p:cNvSpPr/>
          <p:nvPr/>
        </p:nvSpPr>
        <p:spPr>
          <a:xfrm>
            <a:off x="9109710" y="1400080"/>
            <a:ext cx="2807970" cy="52899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62" name="Pill"/>
          <p:cNvSpPr/>
          <p:nvPr/>
        </p:nvSpPr>
        <p:spPr>
          <a:xfrm>
            <a:off x="9155430" y="1445800"/>
            <a:ext cx="2716530" cy="594360"/>
          </a:xfrm>
          <a:prstGeom prst="roundRect">
            <a:avLst>
              <a:gd name="adj" fmla="val 14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«КИЧИК СУНЪИЙ ЙЎЛДОШЛАР КОНСТРУКЦИЯСИ» (КОСМИК)</a:t>
            </a:r>
          </a:p>
        </p:txBody>
      </p:sp>
      <p:sp>
        <p:nvSpPr>
          <p:cNvPr id="363" name="Shape"/>
          <p:cNvSpPr/>
          <p:nvPr/>
        </p:nvSpPr>
        <p:spPr>
          <a:xfrm>
            <a:off x="9566910" y="2131600"/>
            <a:ext cx="189357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7A4FA3"/>
                </a:solidFill>
                <a:latin typeface="Times New Roman"/>
                <a:cs typeface="Times New Roman"/>
              </a:rPr>
              <a:t>$60 000</a:t>
            </a:r>
          </a:p>
        </p:txBody>
      </p:sp>
      <p:sp>
        <p:nvSpPr>
          <p:cNvPr id="364" name="TextBox"/>
          <p:cNvSpPr txBox="1"/>
          <p:nvPr/>
        </p:nvSpPr>
        <p:spPr>
          <a:xfrm>
            <a:off x="9146286" y="2771680"/>
            <a:ext cx="2734818" cy="3845168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Кичик спутник CubeSat (1 та) — $30 000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Йўналиш, барқарорлаш ва навигация тизимларини синаш стенди (2 та) — $12 000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Қуёш датчикларини калибрлаш стенди (1 та) — $10 000</a:t>
            </a:r>
          </a:p>
          <a:p>
            <a:pPr algn="l">
              <a:spcAft>
                <a:spcPts val="26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Плазма двигатели VERA МИФИ (1 та) — $8 000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УЧУВЧИЛАРНИ ТАЙЁРЛАШ: ХОРИЖИЙ ТАЖРИБА</a:t>
            </a:r>
          </a:p>
        </p:txBody>
      </p:sp>
      <p:sp>
        <p:nvSpPr>
          <p:cNvPr id="366" name="Pill"/>
          <p:cNvSpPr/>
          <p:nvPr/>
        </p:nvSpPr>
        <p:spPr>
          <a:xfrm>
            <a:off x="274320" y="760000"/>
            <a:ext cx="1164336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ЕТАКЧИ ХОРИЖИЙ АВИАЦИЯ ОЛИЙГОҲЛАРИДА УЧУВЧИЛАРНИ ТАЙЁРЛАШ ТИЗИМИ</a:t>
            </a:r>
          </a:p>
        </p:txBody>
      </p:sp>
      <p:sp>
        <p:nvSpPr>
          <p:cNvPr id="367" name="Card"/>
          <p:cNvSpPr/>
          <p:nvPr/>
        </p:nvSpPr>
        <p:spPr>
          <a:xfrm>
            <a:off x="274320" y="135436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68" name="Pill"/>
          <p:cNvSpPr/>
          <p:nvPr/>
        </p:nvSpPr>
        <p:spPr>
          <a:xfrm>
            <a:off x="320040" y="140008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EMBRY-RIDDLE AERONAUTICAL UNIVERSITY</a:t>
            </a:r>
          </a:p>
        </p:txBody>
      </p:sp>
      <p:sp>
        <p:nvSpPr>
          <p:cNvPr id="369" name="Shape"/>
          <p:cNvSpPr/>
          <p:nvPr/>
        </p:nvSpPr>
        <p:spPr>
          <a:xfrm>
            <a:off x="320040" y="194872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2A7AC2"/>
                </a:solidFill>
                <a:latin typeface="Times New Roman"/>
                <a:cs typeface="Times New Roman"/>
              </a:rPr>
              <a:t>4 ЙИЛ</a:t>
            </a:r>
          </a:p>
        </p:txBody>
      </p:sp>
      <p:sp>
        <p:nvSpPr>
          <p:cNvPr id="370" name="Shape"/>
          <p:cNvSpPr/>
          <p:nvPr/>
        </p:nvSpPr>
        <p:spPr>
          <a:xfrm>
            <a:off x="2176780" y="194872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2A7AC2"/>
                </a:solidFill>
                <a:latin typeface="Times New Roman"/>
                <a:cs typeface="Times New Roman"/>
              </a:rPr>
              <a:t>240 КРЕДИТ</a:t>
            </a:r>
          </a:p>
        </p:txBody>
      </p:sp>
      <p:sp>
        <p:nvSpPr>
          <p:cNvPr id="371" name="TextBox"/>
          <p:cNvSpPr txBox="1"/>
          <p:nvPr/>
        </p:nvSpPr>
        <p:spPr>
          <a:xfrm>
            <a:off x="310896" y="2588800"/>
            <a:ext cx="3686048" cy="548640"/>
          </a:xfrm>
          <a:prstGeom prst="rect">
            <a:avLst/>
          </a:prstGeom>
          <a:noFill/>
        </p:spPr>
        <p:txBody>
          <a:bodyPr wrap="square" lIns="54864" tIns="0" rIns="54864" bIns="0" anchor="ctr"/>
          <a:lstStyle/>
          <a:p>
            <a:pPr algn="ctr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2 йил назарий таълим + 2 йил амалиёт</a:t>
            </a:r>
          </a:p>
        </p:txBody>
      </p:sp>
      <p:sp>
        <p:nvSpPr>
          <p:cNvPr id="372" name="Card"/>
          <p:cNvSpPr/>
          <p:nvPr/>
        </p:nvSpPr>
        <p:spPr>
          <a:xfrm>
            <a:off x="4216400" y="135436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73" name="Pill"/>
          <p:cNvSpPr/>
          <p:nvPr/>
        </p:nvSpPr>
        <p:spPr>
          <a:xfrm>
            <a:off x="4262120" y="140008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КОРЕЯ АЭРОКОСМИК УНИВЕРСИТЕТИ</a:t>
            </a:r>
          </a:p>
        </p:txBody>
      </p:sp>
      <p:sp>
        <p:nvSpPr>
          <p:cNvPr id="374" name="Shape"/>
          <p:cNvSpPr/>
          <p:nvPr/>
        </p:nvSpPr>
        <p:spPr>
          <a:xfrm>
            <a:off x="4262120" y="194872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239B45"/>
                </a:solidFill>
                <a:latin typeface="Times New Roman"/>
                <a:cs typeface="Times New Roman"/>
              </a:rPr>
              <a:t>4 ЙИЛ</a:t>
            </a:r>
          </a:p>
        </p:txBody>
      </p:sp>
      <p:sp>
        <p:nvSpPr>
          <p:cNvPr id="375" name="Shape"/>
          <p:cNvSpPr/>
          <p:nvPr/>
        </p:nvSpPr>
        <p:spPr>
          <a:xfrm>
            <a:off x="6118860" y="194872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239B45"/>
                </a:solidFill>
                <a:latin typeface="Times New Roman"/>
                <a:cs typeface="Times New Roman"/>
              </a:rPr>
              <a:t>120 КРЕДИТ</a:t>
            </a:r>
          </a:p>
        </p:txBody>
      </p:sp>
      <p:sp>
        <p:nvSpPr>
          <p:cNvPr id="376" name="TextBox"/>
          <p:cNvSpPr txBox="1"/>
          <p:nvPr/>
        </p:nvSpPr>
        <p:spPr>
          <a:xfrm>
            <a:off x="4252976" y="2588800"/>
            <a:ext cx="3686048" cy="548640"/>
          </a:xfrm>
          <a:prstGeom prst="rect">
            <a:avLst/>
          </a:prstGeom>
          <a:noFill/>
        </p:spPr>
        <p:txBody>
          <a:bodyPr wrap="square" lIns="54864" tIns="0" rIns="54864" bIns="0" anchor="ctr"/>
          <a:lstStyle/>
          <a:p>
            <a:pPr algn="ctr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2 йил назарий таълим + 2 йил амалиёт</a:t>
            </a:r>
          </a:p>
        </p:txBody>
      </p:sp>
      <p:sp>
        <p:nvSpPr>
          <p:cNvPr id="377" name="Card"/>
          <p:cNvSpPr/>
          <p:nvPr/>
        </p:nvSpPr>
        <p:spPr>
          <a:xfrm>
            <a:off x="8158480" y="135436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78" name="Pill"/>
          <p:cNvSpPr/>
          <p:nvPr/>
        </p:nvSpPr>
        <p:spPr>
          <a:xfrm>
            <a:off x="8204200" y="140008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ФУҚАРО АВИАЦИЯСИ УНИВЕРСИТЕТИ</a:t>
            </a:r>
          </a:p>
        </p:txBody>
      </p:sp>
      <p:sp>
        <p:nvSpPr>
          <p:cNvPr id="379" name="Shape"/>
          <p:cNvSpPr/>
          <p:nvPr/>
        </p:nvSpPr>
        <p:spPr>
          <a:xfrm>
            <a:off x="8204200" y="194872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87722"/>
                </a:solidFill>
                <a:latin typeface="Times New Roman"/>
                <a:cs typeface="Times New Roman"/>
              </a:rPr>
              <a:t>4 ЙИЛ</a:t>
            </a:r>
          </a:p>
        </p:txBody>
      </p:sp>
      <p:sp>
        <p:nvSpPr>
          <p:cNvPr id="380" name="Shape"/>
          <p:cNvSpPr/>
          <p:nvPr/>
        </p:nvSpPr>
        <p:spPr>
          <a:xfrm>
            <a:off x="10060940" y="194872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87722"/>
                </a:solidFill>
                <a:latin typeface="Times New Roman"/>
                <a:cs typeface="Times New Roman"/>
              </a:rPr>
              <a:t>120 КРЕДИТ</a:t>
            </a:r>
          </a:p>
        </p:txBody>
      </p:sp>
      <p:sp>
        <p:nvSpPr>
          <p:cNvPr id="381" name="TextBox"/>
          <p:cNvSpPr txBox="1"/>
          <p:nvPr/>
        </p:nvSpPr>
        <p:spPr>
          <a:xfrm>
            <a:off x="8195056" y="2588800"/>
            <a:ext cx="3686048" cy="548640"/>
          </a:xfrm>
          <a:prstGeom prst="rect">
            <a:avLst/>
          </a:prstGeom>
          <a:noFill/>
        </p:spPr>
        <p:txBody>
          <a:bodyPr wrap="square" lIns="54864" tIns="0" rIns="54864" bIns="0" anchor="ctr"/>
          <a:lstStyle/>
          <a:p>
            <a:pPr algn="ctr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2 йил назарий таълим + 2 йил амалиёт</a:t>
            </a:r>
          </a:p>
        </p:txBody>
      </p:sp>
      <p:sp>
        <p:nvSpPr>
          <p:cNvPr id="382" name="Card"/>
          <p:cNvSpPr/>
          <p:nvPr/>
        </p:nvSpPr>
        <p:spPr>
          <a:xfrm>
            <a:off x="274320" y="336604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83" name="Pill"/>
          <p:cNvSpPr/>
          <p:nvPr/>
        </p:nvSpPr>
        <p:spPr>
          <a:xfrm>
            <a:off x="320040" y="341176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GRIFFITH UNIVERSITY</a:t>
            </a:r>
          </a:p>
        </p:txBody>
      </p:sp>
      <p:sp>
        <p:nvSpPr>
          <p:cNvPr id="384" name="Shape"/>
          <p:cNvSpPr/>
          <p:nvPr/>
        </p:nvSpPr>
        <p:spPr>
          <a:xfrm>
            <a:off x="320040" y="396040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4 ЙИЛ</a:t>
            </a:r>
          </a:p>
        </p:txBody>
      </p:sp>
      <p:sp>
        <p:nvSpPr>
          <p:cNvPr id="385" name="Shape"/>
          <p:cNvSpPr/>
          <p:nvPr/>
        </p:nvSpPr>
        <p:spPr>
          <a:xfrm>
            <a:off x="2176780" y="396040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120 КРЕДИТ</a:t>
            </a:r>
          </a:p>
        </p:txBody>
      </p:sp>
      <p:sp>
        <p:nvSpPr>
          <p:cNvPr id="386" name="TextBox"/>
          <p:cNvSpPr txBox="1"/>
          <p:nvPr/>
        </p:nvSpPr>
        <p:spPr>
          <a:xfrm>
            <a:off x="310896" y="4600480"/>
            <a:ext cx="3686048" cy="548640"/>
          </a:xfrm>
          <a:prstGeom prst="rect">
            <a:avLst/>
          </a:prstGeom>
          <a:noFill/>
        </p:spPr>
        <p:txBody>
          <a:bodyPr wrap="square" lIns="54864" tIns="0" rIns="54864" bIns="0" anchor="ctr"/>
          <a:lstStyle/>
          <a:p>
            <a:pPr algn="ctr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Назарий ва амалий таълим интеграцияси</a:t>
            </a:r>
          </a:p>
        </p:txBody>
      </p:sp>
      <p:sp>
        <p:nvSpPr>
          <p:cNvPr id="387" name="Card"/>
          <p:cNvSpPr/>
          <p:nvPr/>
        </p:nvSpPr>
        <p:spPr>
          <a:xfrm>
            <a:off x="4216400" y="336604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88" name="Pill"/>
          <p:cNvSpPr/>
          <p:nvPr/>
        </p:nvSpPr>
        <p:spPr>
          <a:xfrm>
            <a:off x="4262120" y="341176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МОСКВА АВИАЦИЯ ИНСТИТУТИ</a:t>
            </a:r>
          </a:p>
        </p:txBody>
      </p:sp>
      <p:sp>
        <p:nvSpPr>
          <p:cNvPr id="389" name="Shape"/>
          <p:cNvSpPr/>
          <p:nvPr/>
        </p:nvSpPr>
        <p:spPr>
          <a:xfrm>
            <a:off x="4262120" y="396040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7A4FA3"/>
                </a:solidFill>
                <a:latin typeface="Times New Roman"/>
                <a:cs typeface="Times New Roman"/>
              </a:rPr>
              <a:t>2 ЙИЛ</a:t>
            </a:r>
          </a:p>
        </p:txBody>
      </p:sp>
      <p:sp>
        <p:nvSpPr>
          <p:cNvPr id="390" name="Shape"/>
          <p:cNvSpPr/>
          <p:nvPr/>
        </p:nvSpPr>
        <p:spPr>
          <a:xfrm>
            <a:off x="6118860" y="396040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7A4FA3"/>
                </a:solidFill>
                <a:latin typeface="Times New Roman"/>
                <a:cs typeface="Times New Roman"/>
              </a:rPr>
              <a:t>120 КРЕДИТ</a:t>
            </a:r>
          </a:p>
        </p:txBody>
      </p:sp>
      <p:sp>
        <p:nvSpPr>
          <p:cNvPr id="391" name="TextBox"/>
          <p:cNvSpPr txBox="1"/>
          <p:nvPr/>
        </p:nvSpPr>
        <p:spPr>
          <a:xfrm>
            <a:off x="4252976" y="4600480"/>
            <a:ext cx="3686048" cy="548640"/>
          </a:xfrm>
          <a:prstGeom prst="rect">
            <a:avLst/>
          </a:prstGeom>
          <a:noFill/>
        </p:spPr>
        <p:txBody>
          <a:bodyPr wrap="square" lIns="54864" tIns="0" rIns="54864" bIns="0" anchor="ctr"/>
          <a:lstStyle/>
          <a:p>
            <a:pPr algn="ctr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Қисқартирилган дастур</a:t>
            </a:r>
          </a:p>
        </p:txBody>
      </p:sp>
      <p:sp>
        <p:nvSpPr>
          <p:cNvPr id="392" name="Card"/>
          <p:cNvSpPr/>
          <p:nvPr/>
        </p:nvSpPr>
        <p:spPr>
          <a:xfrm>
            <a:off x="8158480" y="336604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93" name="Pill"/>
          <p:cNvSpPr/>
          <p:nvPr/>
        </p:nvSpPr>
        <p:spPr>
          <a:xfrm>
            <a:off x="8204200" y="341176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138A7A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ФУҚАРО АВИАЦИЯСИ МИЛЛИЙ МАКТАБИ (ENAC)</a:t>
            </a:r>
          </a:p>
        </p:txBody>
      </p:sp>
      <p:sp>
        <p:nvSpPr>
          <p:cNvPr id="394" name="Shape"/>
          <p:cNvSpPr/>
          <p:nvPr/>
        </p:nvSpPr>
        <p:spPr>
          <a:xfrm>
            <a:off x="8204200" y="396040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38A7A"/>
                </a:solidFill>
                <a:latin typeface="Times New Roman"/>
                <a:cs typeface="Times New Roman"/>
              </a:rPr>
              <a:t>2 ЙИЛ</a:t>
            </a:r>
          </a:p>
        </p:txBody>
      </p:sp>
      <p:sp>
        <p:nvSpPr>
          <p:cNvPr id="395" name="Shape"/>
          <p:cNvSpPr/>
          <p:nvPr/>
        </p:nvSpPr>
        <p:spPr>
          <a:xfrm>
            <a:off x="10060940" y="3960400"/>
            <a:ext cx="18110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38A7A"/>
                </a:solidFill>
                <a:latin typeface="Times New Roman"/>
                <a:cs typeface="Times New Roman"/>
              </a:rPr>
              <a:t>120 КРЕДИТ</a:t>
            </a:r>
          </a:p>
        </p:txBody>
      </p:sp>
      <p:sp>
        <p:nvSpPr>
          <p:cNvPr id="396" name="TextBox"/>
          <p:cNvSpPr txBox="1"/>
          <p:nvPr/>
        </p:nvSpPr>
        <p:spPr>
          <a:xfrm>
            <a:off x="8195056" y="4600480"/>
            <a:ext cx="3686048" cy="548640"/>
          </a:xfrm>
          <a:prstGeom prst="rect">
            <a:avLst/>
          </a:prstGeom>
          <a:noFill/>
        </p:spPr>
        <p:txBody>
          <a:bodyPr wrap="square" lIns="54864" tIns="0" rIns="54864" bIns="0" anchor="ctr"/>
          <a:lstStyle/>
          <a:p>
            <a:pPr algn="ctr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Қисқартирилган дастур</a:t>
            </a:r>
          </a:p>
        </p:txBody>
      </p:sp>
      <p:sp>
        <p:nvSpPr>
          <p:cNvPr id="397" name="Divider"/>
          <p:cNvSpPr/>
          <p:nvPr/>
        </p:nvSpPr>
        <p:spPr>
          <a:xfrm>
            <a:off x="274320" y="5332000"/>
            <a:ext cx="11643360" cy="0"/>
          </a:xfrm>
          <a:prstGeom prst="line">
            <a:avLst/>
          </a:prstGeom>
          <a:ln w="19050">
            <a:solidFill>
              <a:srgbClr val="9AA8BF"/>
            </a:solidFill>
            <a:prstDash val="sysDot"/>
          </a:ln>
        </p:spPr>
        <p:txBody>
          <a:bodyPr/>
          <a:lstStyle/>
          <a:p>
            <a:endParaRPr/>
          </a:p>
        </p:txBody>
      </p:sp>
      <p:sp>
        <p:nvSpPr>
          <p:cNvPr id="398" name="Shape"/>
          <p:cNvSpPr/>
          <p:nvPr/>
        </p:nvSpPr>
        <p:spPr>
          <a:xfrm>
            <a:off x="274320" y="5423440"/>
            <a:ext cx="4023360" cy="731520"/>
          </a:xfrm>
          <a:prstGeom prst="roundRect">
            <a:avLst>
              <a:gd name="adj" fmla="val 12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36576" tIns="0" rIns="36576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DUAL ШАКЛИДА ТАШКИЛ ЭТИЛАЁТГАН ТИЗИМ</a:t>
            </a:r>
          </a:p>
        </p:txBody>
      </p:sp>
      <p:sp>
        <p:nvSpPr>
          <p:cNvPr id="399" name="Card"/>
          <p:cNvSpPr/>
          <p:nvPr/>
        </p:nvSpPr>
        <p:spPr>
          <a:xfrm>
            <a:off x="4480560" y="5423440"/>
            <a:ext cx="2387600" cy="731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00" name="TextBox"/>
          <p:cNvSpPr txBox="1"/>
          <p:nvPr/>
        </p:nvSpPr>
        <p:spPr>
          <a:xfrm>
            <a:off x="4480560" y="5423440"/>
            <a:ext cx="2387600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120  </a:t>
            </a: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КРЕДИТ — назарий таълим</a:t>
            </a:r>
          </a:p>
        </p:txBody>
      </p:sp>
      <p:sp>
        <p:nvSpPr>
          <p:cNvPr id="401" name="Card"/>
          <p:cNvSpPr/>
          <p:nvPr/>
        </p:nvSpPr>
        <p:spPr>
          <a:xfrm>
            <a:off x="7005320" y="5423440"/>
            <a:ext cx="2387600" cy="731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02" name="TextBox"/>
          <p:cNvSpPr txBox="1"/>
          <p:nvPr/>
        </p:nvSpPr>
        <p:spPr>
          <a:xfrm>
            <a:off x="7005320" y="5423440"/>
            <a:ext cx="2387600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3600  </a:t>
            </a: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СОАТ — амалий тайёргарлик</a:t>
            </a:r>
          </a:p>
        </p:txBody>
      </p:sp>
      <p:sp>
        <p:nvSpPr>
          <p:cNvPr id="403" name="Card"/>
          <p:cNvSpPr/>
          <p:nvPr/>
        </p:nvSpPr>
        <p:spPr>
          <a:xfrm>
            <a:off x="9530080" y="5423440"/>
            <a:ext cx="2387600" cy="731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04" name="TextBox"/>
          <p:cNvSpPr txBox="1"/>
          <p:nvPr/>
        </p:nvSpPr>
        <p:spPr>
          <a:xfrm>
            <a:off x="9530080" y="5423440"/>
            <a:ext cx="2387600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200  </a:t>
            </a: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СОАТ — парвоз амалиёти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УЧУВЧИЛАР ТАЙЁРЛАШ: ИНФРАТУЗИЛМА ВА ХОДИМЛАР</a:t>
            </a:r>
          </a:p>
        </p:txBody>
      </p:sp>
      <p:sp>
        <p:nvSpPr>
          <p:cNvPr id="406" name="Card"/>
          <p:cNvSpPr/>
          <p:nvPr/>
        </p:nvSpPr>
        <p:spPr>
          <a:xfrm>
            <a:off x="27432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07" name="Pill"/>
          <p:cNvSpPr/>
          <p:nvPr/>
        </p:nvSpPr>
        <p:spPr>
          <a:xfrm>
            <a:off x="320040" y="805720"/>
            <a:ext cx="3667760" cy="457200"/>
          </a:xfrm>
          <a:prstGeom prst="roundRect">
            <a:avLst>
              <a:gd name="adj" fmla="val 18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ИНФРАТУЗИЛМА</a:t>
            </a:r>
          </a:p>
        </p:txBody>
      </p:sp>
      <p:sp>
        <p:nvSpPr>
          <p:cNvPr id="408" name="Shape"/>
          <p:cNvSpPr/>
          <p:nvPr/>
        </p:nvSpPr>
        <p:spPr>
          <a:xfrm>
            <a:off x="320040" y="135436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4 та аудитория (назарий фанлар учун)</a:t>
            </a:r>
          </a:p>
        </p:txBody>
      </p:sp>
      <p:sp>
        <p:nvSpPr>
          <p:cNvPr id="409" name="Shape"/>
          <p:cNvSpPr/>
          <p:nvPr/>
        </p:nvSpPr>
        <p:spPr>
          <a:xfrm>
            <a:off x="320040" y="217732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1 та ICAO English лабораторияси</a:t>
            </a:r>
          </a:p>
        </p:txBody>
      </p:sp>
      <p:sp>
        <p:nvSpPr>
          <p:cNvPr id="410" name="Shape"/>
          <p:cNvSpPr/>
          <p:nvPr/>
        </p:nvSpPr>
        <p:spPr>
          <a:xfrm>
            <a:off x="320040" y="300028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2 та симулятор (FNPT) хонаси</a:t>
            </a:r>
          </a:p>
        </p:txBody>
      </p:sp>
      <p:sp>
        <p:nvSpPr>
          <p:cNvPr id="411" name="Shape"/>
          <p:cNvSpPr/>
          <p:nvPr/>
        </p:nvSpPr>
        <p:spPr>
          <a:xfrm>
            <a:off x="320040" y="382324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2 та симулятор (BITD) хонаси</a:t>
            </a:r>
          </a:p>
        </p:txBody>
      </p:sp>
      <p:sp>
        <p:nvSpPr>
          <p:cNvPr id="412" name="Shape"/>
          <p:cNvSpPr/>
          <p:nvPr/>
        </p:nvSpPr>
        <p:spPr>
          <a:xfrm>
            <a:off x="320040" y="464620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Аэродром, талабалар яшаш ва овқатланиш хоналари</a:t>
            </a:r>
          </a:p>
        </p:txBody>
      </p:sp>
      <p:sp>
        <p:nvSpPr>
          <p:cNvPr id="413" name="Shape"/>
          <p:cNvSpPr/>
          <p:nvPr/>
        </p:nvSpPr>
        <p:spPr>
          <a:xfrm>
            <a:off x="320040" y="546916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Учувчилар учун брифинг ва де-брифинг хоналари</a:t>
            </a:r>
          </a:p>
        </p:txBody>
      </p:sp>
      <p:sp>
        <p:nvSpPr>
          <p:cNvPr id="414" name="Card"/>
          <p:cNvSpPr/>
          <p:nvPr/>
        </p:nvSpPr>
        <p:spPr>
          <a:xfrm>
            <a:off x="421640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15" name="Pill"/>
          <p:cNvSpPr/>
          <p:nvPr/>
        </p:nvSpPr>
        <p:spPr>
          <a:xfrm>
            <a:off x="4262120" y="805720"/>
            <a:ext cx="3667760" cy="457200"/>
          </a:xfrm>
          <a:prstGeom prst="roundRect">
            <a:avLst>
              <a:gd name="adj" fmla="val 18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ХОДИМЛАР — 21 НАФАР</a:t>
            </a:r>
          </a:p>
        </p:txBody>
      </p:sp>
      <p:sp>
        <p:nvSpPr>
          <p:cNvPr id="416" name="Shape"/>
          <p:cNvSpPr/>
          <p:nvPr/>
        </p:nvSpPr>
        <p:spPr>
          <a:xfrm>
            <a:off x="4262120" y="135436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7" name="TextBox"/>
          <p:cNvSpPr txBox="1"/>
          <p:nvPr/>
        </p:nvSpPr>
        <p:spPr>
          <a:xfrm>
            <a:off x="4307840" y="13543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6</a:t>
            </a:r>
          </a:p>
        </p:txBody>
      </p:sp>
      <p:sp>
        <p:nvSpPr>
          <p:cNvPr id="418" name="TextBox"/>
          <p:cNvSpPr txBox="1"/>
          <p:nvPr/>
        </p:nvSpPr>
        <p:spPr>
          <a:xfrm>
            <a:off x="5085080" y="1354360"/>
            <a:ext cx="2799080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Инструктор-учувчи</a:t>
            </a:r>
          </a:p>
        </p:txBody>
      </p:sp>
      <p:sp>
        <p:nvSpPr>
          <p:cNvPr id="419" name="Shape"/>
          <p:cNvSpPr/>
          <p:nvPr/>
        </p:nvSpPr>
        <p:spPr>
          <a:xfrm>
            <a:off x="4262120" y="217732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0" name="TextBox"/>
          <p:cNvSpPr txBox="1"/>
          <p:nvPr/>
        </p:nvSpPr>
        <p:spPr>
          <a:xfrm>
            <a:off x="4307840" y="217732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5</a:t>
            </a:r>
          </a:p>
        </p:txBody>
      </p:sp>
      <p:sp>
        <p:nvSpPr>
          <p:cNvPr id="421" name="TextBox"/>
          <p:cNvSpPr txBox="1"/>
          <p:nvPr/>
        </p:nvSpPr>
        <p:spPr>
          <a:xfrm>
            <a:off x="5085080" y="2177320"/>
            <a:ext cx="2799080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Назарий фанлардан ПЎ</a:t>
            </a:r>
          </a:p>
        </p:txBody>
      </p:sp>
      <p:sp>
        <p:nvSpPr>
          <p:cNvPr id="422" name="Shape"/>
          <p:cNvSpPr/>
          <p:nvPr/>
        </p:nvSpPr>
        <p:spPr>
          <a:xfrm>
            <a:off x="4262120" y="300028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3" name="TextBox"/>
          <p:cNvSpPr txBox="1"/>
          <p:nvPr/>
        </p:nvSpPr>
        <p:spPr>
          <a:xfrm>
            <a:off x="4307840" y="300028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424" name="TextBox"/>
          <p:cNvSpPr txBox="1"/>
          <p:nvPr/>
        </p:nvSpPr>
        <p:spPr>
          <a:xfrm>
            <a:off x="5085080" y="3000280"/>
            <a:ext cx="2799080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Диспетчер ва ёрдамчи ходимлар</a:t>
            </a:r>
          </a:p>
        </p:txBody>
      </p:sp>
      <p:sp>
        <p:nvSpPr>
          <p:cNvPr id="425" name="Shape"/>
          <p:cNvSpPr/>
          <p:nvPr/>
        </p:nvSpPr>
        <p:spPr>
          <a:xfrm>
            <a:off x="4262120" y="382324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6" name="TextBox"/>
          <p:cNvSpPr txBox="1"/>
          <p:nvPr/>
        </p:nvSpPr>
        <p:spPr>
          <a:xfrm>
            <a:off x="4307840" y="382324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427" name="TextBox"/>
          <p:cNvSpPr txBox="1"/>
          <p:nvPr/>
        </p:nvSpPr>
        <p:spPr>
          <a:xfrm>
            <a:off x="5085080" y="3823240"/>
            <a:ext cx="2799080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Техник муҳандислар</a:t>
            </a:r>
          </a:p>
        </p:txBody>
      </p:sp>
      <p:sp>
        <p:nvSpPr>
          <p:cNvPr id="428" name="Shape"/>
          <p:cNvSpPr/>
          <p:nvPr/>
        </p:nvSpPr>
        <p:spPr>
          <a:xfrm>
            <a:off x="4262120" y="464620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9" name="TextBox"/>
          <p:cNvSpPr txBox="1"/>
          <p:nvPr/>
        </p:nvSpPr>
        <p:spPr>
          <a:xfrm>
            <a:off x="4307840" y="464620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430" name="TextBox"/>
          <p:cNvSpPr txBox="1"/>
          <p:nvPr/>
        </p:nvSpPr>
        <p:spPr>
          <a:xfrm>
            <a:off x="5085080" y="4646200"/>
            <a:ext cx="2799080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Симулятор инструктори</a:t>
            </a:r>
          </a:p>
        </p:txBody>
      </p:sp>
      <p:sp>
        <p:nvSpPr>
          <p:cNvPr id="431" name="Shape"/>
          <p:cNvSpPr/>
          <p:nvPr/>
        </p:nvSpPr>
        <p:spPr>
          <a:xfrm>
            <a:off x="4262120" y="5469160"/>
            <a:ext cx="3667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2" name="TextBox"/>
          <p:cNvSpPr txBox="1"/>
          <p:nvPr/>
        </p:nvSpPr>
        <p:spPr>
          <a:xfrm>
            <a:off x="4307840" y="54691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433" name="TextBox"/>
          <p:cNvSpPr txBox="1"/>
          <p:nvPr/>
        </p:nvSpPr>
        <p:spPr>
          <a:xfrm>
            <a:off x="5085080" y="5469160"/>
            <a:ext cx="2799080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Раҳбар</a:t>
            </a:r>
          </a:p>
        </p:txBody>
      </p:sp>
      <p:sp>
        <p:nvSpPr>
          <p:cNvPr id="434" name="Card"/>
          <p:cNvSpPr/>
          <p:nvPr/>
        </p:nvSpPr>
        <p:spPr>
          <a:xfrm>
            <a:off x="8158480" y="760000"/>
            <a:ext cx="3759200" cy="26974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35" name="Pill"/>
          <p:cNvSpPr/>
          <p:nvPr/>
        </p:nvSpPr>
        <p:spPr>
          <a:xfrm>
            <a:off x="8204200" y="805720"/>
            <a:ext cx="3667760" cy="457200"/>
          </a:xfrm>
          <a:prstGeom prst="roundRect">
            <a:avLst>
              <a:gd name="adj" fmla="val 18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ЎҚУВ САМОЛЁТЛАР</a:t>
            </a:r>
          </a:p>
        </p:txBody>
      </p:sp>
      <p:sp>
        <p:nvSpPr>
          <p:cNvPr id="436" name="Shape"/>
          <p:cNvSpPr/>
          <p:nvPr/>
        </p:nvSpPr>
        <p:spPr>
          <a:xfrm>
            <a:off x="8204200" y="1354360"/>
            <a:ext cx="36677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7" name="TextBox"/>
          <p:cNvSpPr txBox="1"/>
          <p:nvPr/>
        </p:nvSpPr>
        <p:spPr>
          <a:xfrm>
            <a:off x="8249920" y="1400080"/>
            <a:ext cx="3576320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Cessna 172</a:t>
            </a:r>
          </a:p>
        </p:txBody>
      </p:sp>
      <p:sp>
        <p:nvSpPr>
          <p:cNvPr id="438" name="TextBox"/>
          <p:cNvSpPr txBox="1"/>
          <p:nvPr/>
        </p:nvSpPr>
        <p:spPr>
          <a:xfrm>
            <a:off x="8249920" y="1857280"/>
            <a:ext cx="1788160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87722"/>
                </a:solidFill>
                <a:latin typeface="Times New Roman"/>
                <a:cs typeface="Times New Roman"/>
              </a:rPr>
              <a:t>6 та</a:t>
            </a:r>
          </a:p>
        </p:txBody>
      </p:sp>
      <p:sp>
        <p:nvSpPr>
          <p:cNvPr id="439" name="TextBox"/>
          <p:cNvSpPr txBox="1"/>
          <p:nvPr/>
        </p:nvSpPr>
        <p:spPr>
          <a:xfrm>
            <a:off x="10038080" y="1857280"/>
            <a:ext cx="1788160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250" b="1" i="0">
                <a:solidFill>
                  <a:srgbClr val="C00000"/>
                </a:solidFill>
                <a:latin typeface="Times New Roman"/>
                <a:cs typeface="Times New Roman"/>
              </a:rPr>
              <a:t>$600 000</a:t>
            </a:r>
          </a:p>
        </p:txBody>
      </p:sp>
      <p:sp>
        <p:nvSpPr>
          <p:cNvPr id="440" name="Shape"/>
          <p:cNvSpPr/>
          <p:nvPr/>
        </p:nvSpPr>
        <p:spPr>
          <a:xfrm>
            <a:off x="8204200" y="2451640"/>
            <a:ext cx="36677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1" name="TextBox"/>
          <p:cNvSpPr txBox="1"/>
          <p:nvPr/>
        </p:nvSpPr>
        <p:spPr>
          <a:xfrm>
            <a:off x="8249920" y="2497360"/>
            <a:ext cx="3576320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1A1F36"/>
                </a:solidFill>
                <a:latin typeface="Times New Roman"/>
                <a:cs typeface="Times New Roman"/>
              </a:rPr>
              <a:t>Tecnam P2006T (Multi-engine)</a:t>
            </a:r>
          </a:p>
        </p:txBody>
      </p:sp>
      <p:sp>
        <p:nvSpPr>
          <p:cNvPr id="442" name="TextBox"/>
          <p:cNvSpPr txBox="1"/>
          <p:nvPr/>
        </p:nvSpPr>
        <p:spPr>
          <a:xfrm>
            <a:off x="8249920" y="2954560"/>
            <a:ext cx="1788160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87722"/>
                </a:solidFill>
                <a:latin typeface="Times New Roman"/>
                <a:cs typeface="Times New Roman"/>
              </a:rPr>
              <a:t>2 та</a:t>
            </a:r>
          </a:p>
        </p:txBody>
      </p:sp>
      <p:sp>
        <p:nvSpPr>
          <p:cNvPr id="443" name="TextBox"/>
          <p:cNvSpPr txBox="1"/>
          <p:nvPr/>
        </p:nvSpPr>
        <p:spPr>
          <a:xfrm>
            <a:off x="10038080" y="2954560"/>
            <a:ext cx="1788160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250" b="1" i="0">
                <a:solidFill>
                  <a:srgbClr val="C00000"/>
                </a:solidFill>
                <a:latin typeface="Times New Roman"/>
                <a:cs typeface="Times New Roman"/>
              </a:rPr>
              <a:t>$800 000</a:t>
            </a:r>
          </a:p>
        </p:txBody>
      </p:sp>
      <p:sp>
        <p:nvSpPr>
          <p:cNvPr id="444" name="Card"/>
          <p:cNvSpPr/>
          <p:nvPr/>
        </p:nvSpPr>
        <p:spPr>
          <a:xfrm>
            <a:off x="8158480" y="3594640"/>
            <a:ext cx="3759200" cy="30953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45" name="Pill"/>
          <p:cNvSpPr/>
          <p:nvPr/>
        </p:nvSpPr>
        <p:spPr>
          <a:xfrm>
            <a:off x="8204200" y="3640360"/>
            <a:ext cx="3667760" cy="457200"/>
          </a:xfrm>
          <a:prstGeom prst="roundRect">
            <a:avLst>
              <a:gd name="adj" fmla="val 18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СИМУЛЯТОРЛАР (EASA)</a:t>
            </a:r>
          </a:p>
        </p:txBody>
      </p:sp>
      <p:sp>
        <p:nvSpPr>
          <p:cNvPr id="446" name="Shape"/>
          <p:cNvSpPr/>
          <p:nvPr/>
        </p:nvSpPr>
        <p:spPr>
          <a:xfrm>
            <a:off x="8204200" y="4189000"/>
            <a:ext cx="36677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7" name="TextBox"/>
          <p:cNvSpPr txBox="1"/>
          <p:nvPr/>
        </p:nvSpPr>
        <p:spPr>
          <a:xfrm>
            <a:off x="8249920" y="4189000"/>
            <a:ext cx="1788160" cy="5486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BITD</a:t>
            </a:r>
          </a:p>
        </p:txBody>
      </p:sp>
      <p:sp>
        <p:nvSpPr>
          <p:cNvPr id="448" name="TextBox"/>
          <p:cNvSpPr txBox="1"/>
          <p:nvPr/>
        </p:nvSpPr>
        <p:spPr>
          <a:xfrm>
            <a:off x="10038080" y="4189000"/>
            <a:ext cx="78679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>10 та</a:t>
            </a:r>
          </a:p>
        </p:txBody>
      </p:sp>
      <p:sp>
        <p:nvSpPr>
          <p:cNvPr id="449" name="TextBox"/>
          <p:cNvSpPr txBox="1"/>
          <p:nvPr/>
        </p:nvSpPr>
        <p:spPr>
          <a:xfrm>
            <a:off x="10824870" y="4189000"/>
            <a:ext cx="1001369" cy="5486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>$20 000</a:t>
            </a:r>
          </a:p>
        </p:txBody>
      </p:sp>
      <p:sp>
        <p:nvSpPr>
          <p:cNvPr id="450" name="Shape"/>
          <p:cNvSpPr/>
          <p:nvPr/>
        </p:nvSpPr>
        <p:spPr>
          <a:xfrm>
            <a:off x="8204200" y="4783360"/>
            <a:ext cx="36677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1" name="TextBox"/>
          <p:cNvSpPr txBox="1"/>
          <p:nvPr/>
        </p:nvSpPr>
        <p:spPr>
          <a:xfrm>
            <a:off x="8249920" y="4783360"/>
            <a:ext cx="1788160" cy="5486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BITD (Multi-engine)</a:t>
            </a:r>
          </a:p>
        </p:txBody>
      </p:sp>
      <p:sp>
        <p:nvSpPr>
          <p:cNvPr id="452" name="TextBox"/>
          <p:cNvSpPr txBox="1"/>
          <p:nvPr/>
        </p:nvSpPr>
        <p:spPr>
          <a:xfrm>
            <a:off x="10038080" y="4783360"/>
            <a:ext cx="78679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>10 та</a:t>
            </a:r>
          </a:p>
        </p:txBody>
      </p:sp>
      <p:sp>
        <p:nvSpPr>
          <p:cNvPr id="453" name="TextBox"/>
          <p:cNvSpPr txBox="1"/>
          <p:nvPr/>
        </p:nvSpPr>
        <p:spPr>
          <a:xfrm>
            <a:off x="10824870" y="4783360"/>
            <a:ext cx="1001369" cy="5486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>$50 000</a:t>
            </a:r>
          </a:p>
        </p:txBody>
      </p:sp>
      <p:sp>
        <p:nvSpPr>
          <p:cNvPr id="454" name="Shape"/>
          <p:cNvSpPr/>
          <p:nvPr/>
        </p:nvSpPr>
        <p:spPr>
          <a:xfrm>
            <a:off x="8204200" y="5377720"/>
            <a:ext cx="36677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5" name="TextBox"/>
          <p:cNvSpPr txBox="1"/>
          <p:nvPr/>
        </p:nvSpPr>
        <p:spPr>
          <a:xfrm>
            <a:off x="8249920" y="5377720"/>
            <a:ext cx="1788160" cy="5486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FNPT II</a:t>
            </a:r>
          </a:p>
        </p:txBody>
      </p:sp>
      <p:sp>
        <p:nvSpPr>
          <p:cNvPr id="456" name="TextBox"/>
          <p:cNvSpPr txBox="1"/>
          <p:nvPr/>
        </p:nvSpPr>
        <p:spPr>
          <a:xfrm>
            <a:off x="10038080" y="5377720"/>
            <a:ext cx="78679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>2 та</a:t>
            </a:r>
          </a:p>
        </p:txBody>
      </p:sp>
      <p:sp>
        <p:nvSpPr>
          <p:cNvPr id="457" name="TextBox"/>
          <p:cNvSpPr txBox="1"/>
          <p:nvPr/>
        </p:nvSpPr>
        <p:spPr>
          <a:xfrm>
            <a:off x="10824870" y="5377720"/>
            <a:ext cx="1001369" cy="5486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>$300 000</a:t>
            </a:r>
          </a:p>
        </p:txBody>
      </p:sp>
      <p:sp>
        <p:nvSpPr>
          <p:cNvPr id="458" name="Shape"/>
          <p:cNvSpPr/>
          <p:nvPr/>
        </p:nvSpPr>
        <p:spPr>
          <a:xfrm>
            <a:off x="8204200" y="5972080"/>
            <a:ext cx="36677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9" name="TextBox"/>
          <p:cNvSpPr txBox="1"/>
          <p:nvPr/>
        </p:nvSpPr>
        <p:spPr>
          <a:xfrm>
            <a:off x="8249920" y="5972080"/>
            <a:ext cx="1788160" cy="5486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FNPT II (Multi-engine)</a:t>
            </a:r>
          </a:p>
        </p:txBody>
      </p:sp>
      <p:sp>
        <p:nvSpPr>
          <p:cNvPr id="460" name="TextBox"/>
          <p:cNvSpPr txBox="1"/>
          <p:nvPr/>
        </p:nvSpPr>
        <p:spPr>
          <a:xfrm>
            <a:off x="10038080" y="5972080"/>
            <a:ext cx="78679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7A4FA3"/>
                </a:solidFill>
                <a:latin typeface="Times New Roman"/>
                <a:cs typeface="Times New Roman"/>
              </a:rPr>
              <a:t>2 та</a:t>
            </a:r>
          </a:p>
        </p:txBody>
      </p:sp>
      <p:sp>
        <p:nvSpPr>
          <p:cNvPr id="461" name="TextBox"/>
          <p:cNvSpPr txBox="1"/>
          <p:nvPr/>
        </p:nvSpPr>
        <p:spPr>
          <a:xfrm>
            <a:off x="10824870" y="5972080"/>
            <a:ext cx="1001369" cy="5486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>$500 000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ХАРИД ҚИЛИНАДИГАН САМОЛЁТЛАР ВА ТРЕНАЖЁРЛАР</a:t>
            </a:r>
          </a:p>
        </p:txBody>
      </p:sp>
      <p:sp>
        <p:nvSpPr>
          <p:cNvPr id="463" name="Pill"/>
          <p:cNvSpPr/>
          <p:nvPr/>
        </p:nvSpPr>
        <p:spPr>
          <a:xfrm>
            <a:off x="274320" y="760000"/>
            <a:ext cx="7406640" cy="457200"/>
          </a:xfrm>
          <a:prstGeom prst="roundRect">
            <a:avLst>
              <a:gd name="adj" fmla="val 18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ЎҚУВ САМОЛЁТЛАР</a:t>
            </a:r>
          </a:p>
        </p:txBody>
      </p:sp>
      <p:sp>
        <p:nvSpPr>
          <p:cNvPr id="464" name="Card"/>
          <p:cNvSpPr/>
          <p:nvPr/>
        </p:nvSpPr>
        <p:spPr>
          <a:xfrm>
            <a:off x="274320" y="1354360"/>
            <a:ext cx="2377440" cy="23774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65" name="Pill"/>
          <p:cNvSpPr/>
          <p:nvPr/>
        </p:nvSpPr>
        <p:spPr>
          <a:xfrm>
            <a:off x="320040" y="1400080"/>
            <a:ext cx="2286000" cy="457200"/>
          </a:xfrm>
          <a:prstGeom prst="roundRect">
            <a:avLst>
              <a:gd name="adj" fmla="val 18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CESSNA 172</a:t>
            </a:r>
          </a:p>
        </p:txBody>
      </p:sp>
      <p:sp>
        <p:nvSpPr>
          <p:cNvPr id="466" name="Shape"/>
          <p:cNvSpPr/>
          <p:nvPr/>
        </p:nvSpPr>
        <p:spPr>
          <a:xfrm>
            <a:off x="548640" y="1948720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Times New Roman"/>
                <a:cs typeface="Times New Roman"/>
              </a:rPr>
              <a:t>$600 000</a:t>
            </a:r>
          </a:p>
        </p:txBody>
      </p:sp>
      <p:sp>
        <p:nvSpPr>
          <p:cNvPr id="467" name="TextBox"/>
          <p:cNvSpPr txBox="1"/>
          <p:nvPr/>
        </p:nvSpPr>
        <p:spPr>
          <a:xfrm>
            <a:off x="310896" y="2543080"/>
            <a:ext cx="2304288" cy="1115568"/>
          </a:xfrm>
          <a:prstGeom prst="rect">
            <a:avLst/>
          </a:prstGeom>
          <a:noFill/>
        </p:spPr>
        <p:txBody>
          <a:bodyPr wrap="square" lIns="45720" tIns="18288" rIns="45720" bIns="18288" anchor="t"/>
          <a:lstStyle/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Мотор қуввати — 180 от кучи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Ёқилғи — авиация бензини 100LL Avgas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Максимал учиш масофаси — 1185 км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Ёқилғи сарфи — 30 л/соат</a:t>
            </a:r>
          </a:p>
        </p:txBody>
      </p:sp>
      <p:sp>
        <p:nvSpPr>
          <p:cNvPr id="468" name="Card"/>
          <p:cNvSpPr/>
          <p:nvPr/>
        </p:nvSpPr>
        <p:spPr>
          <a:xfrm>
            <a:off x="2788920" y="1354360"/>
            <a:ext cx="2377440" cy="23774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69" name="Pill"/>
          <p:cNvSpPr/>
          <p:nvPr/>
        </p:nvSpPr>
        <p:spPr>
          <a:xfrm>
            <a:off x="2834640" y="1400080"/>
            <a:ext cx="2286000" cy="457200"/>
          </a:xfrm>
          <a:prstGeom prst="roundRect">
            <a:avLst>
              <a:gd name="adj" fmla="val 18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TECNAM P2006 T</a:t>
            </a:r>
          </a:p>
        </p:txBody>
      </p:sp>
      <p:sp>
        <p:nvSpPr>
          <p:cNvPr id="470" name="Shape"/>
          <p:cNvSpPr/>
          <p:nvPr/>
        </p:nvSpPr>
        <p:spPr>
          <a:xfrm>
            <a:off x="3063240" y="1948720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Times New Roman"/>
                <a:cs typeface="Times New Roman"/>
              </a:rPr>
              <a:t>$800 000</a:t>
            </a:r>
          </a:p>
        </p:txBody>
      </p:sp>
      <p:sp>
        <p:nvSpPr>
          <p:cNvPr id="471" name="TextBox"/>
          <p:cNvSpPr txBox="1"/>
          <p:nvPr/>
        </p:nvSpPr>
        <p:spPr>
          <a:xfrm>
            <a:off x="2825496" y="2543080"/>
            <a:ext cx="2304288" cy="1115568"/>
          </a:xfrm>
          <a:prstGeom prst="rect">
            <a:avLst/>
          </a:prstGeom>
          <a:noFill/>
        </p:spPr>
        <p:txBody>
          <a:bodyPr wrap="square" lIns="45720" tIns="18288" rIns="45720" bIns="18288" anchor="t"/>
          <a:lstStyle/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Мотор қуввати — 200 от кучи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Ёқилғи — автомобил бензини АИ-95/98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Максимал учиш масофаси — 1240 км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Ёқилғи сарфи — 34 л/соат</a:t>
            </a:r>
          </a:p>
        </p:txBody>
      </p:sp>
      <p:sp>
        <p:nvSpPr>
          <p:cNvPr id="472" name="Card"/>
          <p:cNvSpPr/>
          <p:nvPr/>
        </p:nvSpPr>
        <p:spPr>
          <a:xfrm>
            <a:off x="5303520" y="1354360"/>
            <a:ext cx="2377440" cy="23774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73" name="Pill"/>
          <p:cNvSpPr/>
          <p:nvPr/>
        </p:nvSpPr>
        <p:spPr>
          <a:xfrm>
            <a:off x="5349240" y="1400080"/>
            <a:ext cx="2286000" cy="4572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TECNAM P2008 JC</a:t>
            </a:r>
          </a:p>
        </p:txBody>
      </p:sp>
      <p:sp>
        <p:nvSpPr>
          <p:cNvPr id="474" name="Shape"/>
          <p:cNvSpPr/>
          <p:nvPr/>
        </p:nvSpPr>
        <p:spPr>
          <a:xfrm>
            <a:off x="5577840" y="1948720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Times New Roman"/>
                <a:cs typeface="Times New Roman"/>
              </a:rPr>
              <a:t>$200 000</a:t>
            </a:r>
          </a:p>
        </p:txBody>
      </p:sp>
      <p:sp>
        <p:nvSpPr>
          <p:cNvPr id="475" name="TextBox"/>
          <p:cNvSpPr txBox="1"/>
          <p:nvPr/>
        </p:nvSpPr>
        <p:spPr>
          <a:xfrm>
            <a:off x="5340096" y="2543080"/>
            <a:ext cx="2304288" cy="1115568"/>
          </a:xfrm>
          <a:prstGeom prst="rect">
            <a:avLst/>
          </a:prstGeom>
          <a:noFill/>
        </p:spPr>
        <p:txBody>
          <a:bodyPr wrap="square" lIns="45720" tIns="18288" rIns="45720" bIns="18288" anchor="t"/>
          <a:lstStyle/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Мотор қуввати — 100 от кучи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Ёқилғи — автомобил бензини АИ-95/98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Максимал учиш масофаси — 1270 км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Ёқилғи сарфи — 17 л/соат</a:t>
            </a:r>
          </a:p>
        </p:txBody>
      </p:sp>
      <p:sp>
        <p:nvSpPr>
          <p:cNvPr id="476" name="Pill"/>
          <p:cNvSpPr/>
          <p:nvPr/>
        </p:nvSpPr>
        <p:spPr>
          <a:xfrm>
            <a:off x="274320" y="3914680"/>
            <a:ext cx="7406640" cy="457200"/>
          </a:xfrm>
          <a:prstGeom prst="roundRect">
            <a:avLst>
              <a:gd name="adj" fmla="val 18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ЎҚУВ ТРЕНАЖЁРЛАР</a:t>
            </a:r>
          </a:p>
        </p:txBody>
      </p:sp>
      <p:sp>
        <p:nvSpPr>
          <p:cNvPr id="477" name="Card"/>
          <p:cNvSpPr/>
          <p:nvPr/>
        </p:nvSpPr>
        <p:spPr>
          <a:xfrm>
            <a:off x="274320" y="4509040"/>
            <a:ext cx="7406640" cy="6660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78" name="Shape"/>
          <p:cNvSpPr/>
          <p:nvPr/>
        </p:nvSpPr>
        <p:spPr>
          <a:xfrm>
            <a:off x="320040" y="4554760"/>
            <a:ext cx="2011680" cy="574586"/>
          </a:xfrm>
          <a:prstGeom prst="roundRect">
            <a:avLst>
              <a:gd name="adj" fmla="val 12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BITD</a:t>
            </a:r>
          </a:p>
        </p:txBody>
      </p:sp>
      <p:sp>
        <p:nvSpPr>
          <p:cNvPr id="479" name="TextBox"/>
          <p:cNvSpPr txBox="1"/>
          <p:nvPr/>
        </p:nvSpPr>
        <p:spPr>
          <a:xfrm>
            <a:off x="2468880" y="4509040"/>
            <a:ext cx="4114800" cy="66602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BASIC INSTRUMENT TRAINING DEVICE</a:t>
            </a:r>
          </a:p>
        </p:txBody>
      </p:sp>
      <p:sp>
        <p:nvSpPr>
          <p:cNvPr id="480" name="TextBox"/>
          <p:cNvSpPr txBox="1"/>
          <p:nvPr/>
        </p:nvSpPr>
        <p:spPr>
          <a:xfrm>
            <a:off x="6583680" y="4509040"/>
            <a:ext cx="1097280" cy="66602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400" b="1" i="0">
                <a:solidFill>
                  <a:srgbClr val="C00000"/>
                </a:solidFill>
                <a:latin typeface="Times New Roman"/>
                <a:cs typeface="Times New Roman"/>
              </a:rPr>
              <a:t>$50 000</a:t>
            </a:r>
          </a:p>
        </p:txBody>
      </p:sp>
      <p:sp>
        <p:nvSpPr>
          <p:cNvPr id="481" name="Card"/>
          <p:cNvSpPr/>
          <p:nvPr/>
        </p:nvSpPr>
        <p:spPr>
          <a:xfrm>
            <a:off x="274320" y="5266506"/>
            <a:ext cx="7406640" cy="6660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82" name="Shape"/>
          <p:cNvSpPr/>
          <p:nvPr/>
        </p:nvSpPr>
        <p:spPr>
          <a:xfrm>
            <a:off x="320040" y="5312226"/>
            <a:ext cx="2011680" cy="574586"/>
          </a:xfrm>
          <a:prstGeom prst="roundRect">
            <a:avLst>
              <a:gd name="adj" fmla="val 12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FNPT TRC 3000</a:t>
            </a:r>
          </a:p>
        </p:txBody>
      </p:sp>
      <p:sp>
        <p:nvSpPr>
          <p:cNvPr id="483" name="TextBox"/>
          <p:cNvSpPr txBox="1"/>
          <p:nvPr/>
        </p:nvSpPr>
        <p:spPr>
          <a:xfrm>
            <a:off x="2468880" y="5266506"/>
            <a:ext cx="4114800" cy="66602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Бир моторлик — Flight Navigation and Procedure Trainer</a:t>
            </a:r>
          </a:p>
        </p:txBody>
      </p:sp>
      <p:sp>
        <p:nvSpPr>
          <p:cNvPr id="484" name="TextBox"/>
          <p:cNvSpPr txBox="1"/>
          <p:nvPr/>
        </p:nvSpPr>
        <p:spPr>
          <a:xfrm>
            <a:off x="6583680" y="5266506"/>
            <a:ext cx="1097280" cy="66602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400" b="1" i="0">
                <a:solidFill>
                  <a:srgbClr val="C00000"/>
                </a:solidFill>
                <a:latin typeface="Times New Roman"/>
                <a:cs typeface="Times New Roman"/>
              </a:rPr>
              <a:t>$300 000</a:t>
            </a:r>
          </a:p>
        </p:txBody>
      </p:sp>
      <p:sp>
        <p:nvSpPr>
          <p:cNvPr id="485" name="Card"/>
          <p:cNvSpPr/>
          <p:nvPr/>
        </p:nvSpPr>
        <p:spPr>
          <a:xfrm>
            <a:off x="274320" y="6023972"/>
            <a:ext cx="7406640" cy="6660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86" name="Shape"/>
          <p:cNvSpPr/>
          <p:nvPr/>
        </p:nvSpPr>
        <p:spPr>
          <a:xfrm>
            <a:off x="320040" y="6069692"/>
            <a:ext cx="2011680" cy="574586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FNPT ALSIM 250</a:t>
            </a:r>
          </a:p>
        </p:txBody>
      </p:sp>
      <p:sp>
        <p:nvSpPr>
          <p:cNvPr id="487" name="TextBox"/>
          <p:cNvSpPr txBox="1"/>
          <p:nvPr/>
        </p:nvSpPr>
        <p:spPr>
          <a:xfrm>
            <a:off x="2468880" y="6023972"/>
            <a:ext cx="4114800" cy="66602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Икки моторлик — Flight Navigation and Procedure Trainer</a:t>
            </a:r>
          </a:p>
        </p:txBody>
      </p:sp>
      <p:sp>
        <p:nvSpPr>
          <p:cNvPr id="488" name="TextBox"/>
          <p:cNvSpPr txBox="1"/>
          <p:nvPr/>
        </p:nvSpPr>
        <p:spPr>
          <a:xfrm>
            <a:off x="6583680" y="6023972"/>
            <a:ext cx="1097280" cy="66602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400" b="1" i="0">
                <a:solidFill>
                  <a:srgbClr val="C00000"/>
                </a:solidFill>
                <a:latin typeface="Times New Roman"/>
                <a:cs typeface="Times New Roman"/>
              </a:rPr>
              <a:t>$500 000</a:t>
            </a:r>
          </a:p>
        </p:txBody>
      </p:sp>
      <p:sp>
        <p:nvSpPr>
          <p:cNvPr id="489" name="Divider"/>
          <p:cNvSpPr/>
          <p:nvPr/>
        </p:nvSpPr>
        <p:spPr>
          <a:xfrm>
            <a:off x="7955280" y="760000"/>
            <a:ext cx="0" cy="5930000"/>
          </a:xfrm>
          <a:prstGeom prst="line">
            <a:avLst/>
          </a:prstGeom>
          <a:ln w="19050">
            <a:solidFill>
              <a:srgbClr val="9AA8BF"/>
            </a:solidFill>
            <a:prstDash val="sysDot"/>
          </a:ln>
        </p:spPr>
        <p:txBody>
          <a:bodyPr/>
          <a:lstStyle/>
          <a:p>
            <a:endParaRPr/>
          </a:p>
        </p:txBody>
      </p:sp>
      <p:sp>
        <p:nvSpPr>
          <p:cNvPr id="490" name="Pill"/>
          <p:cNvSpPr/>
          <p:nvPr/>
        </p:nvSpPr>
        <p:spPr>
          <a:xfrm>
            <a:off x="8229600" y="760000"/>
            <a:ext cx="368808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ЖАМИ ЭҲТИЁЖ</a:t>
            </a:r>
          </a:p>
        </p:txBody>
      </p:sp>
      <p:sp>
        <p:nvSpPr>
          <p:cNvPr id="491" name="Card"/>
          <p:cNvSpPr/>
          <p:nvPr/>
        </p:nvSpPr>
        <p:spPr>
          <a:xfrm>
            <a:off x="8229600" y="1354360"/>
            <a:ext cx="3688080" cy="99397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92" name="TextBox"/>
          <p:cNvSpPr txBox="1"/>
          <p:nvPr/>
        </p:nvSpPr>
        <p:spPr>
          <a:xfrm>
            <a:off x="8229600" y="1400080"/>
            <a:ext cx="3688080" cy="546686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C00000"/>
                </a:solidFill>
                <a:latin typeface="Times New Roman"/>
                <a:cs typeface="Times New Roman"/>
              </a:rPr>
              <a:t>$9 200 000</a:t>
            </a:r>
          </a:p>
        </p:txBody>
      </p:sp>
      <p:sp>
        <p:nvSpPr>
          <p:cNvPr id="493" name="TextBox"/>
          <p:cNvSpPr txBox="1"/>
          <p:nvPr/>
        </p:nvSpPr>
        <p:spPr>
          <a:xfrm>
            <a:off x="8229600" y="1901046"/>
            <a:ext cx="3688080" cy="417469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6 та Cessna 172 ва 2 та Tecnam P2006T</a:t>
            </a:r>
          </a:p>
        </p:txBody>
      </p:sp>
      <p:sp>
        <p:nvSpPr>
          <p:cNvPr id="494" name="Card"/>
          <p:cNvSpPr/>
          <p:nvPr/>
        </p:nvSpPr>
        <p:spPr>
          <a:xfrm>
            <a:off x="8229600" y="2439776"/>
            <a:ext cx="3688080" cy="99397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95" name="TextBox"/>
          <p:cNvSpPr txBox="1"/>
          <p:nvPr/>
        </p:nvSpPr>
        <p:spPr>
          <a:xfrm>
            <a:off x="8229600" y="2485496"/>
            <a:ext cx="3688080" cy="546686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7A4FA3"/>
                </a:solidFill>
                <a:latin typeface="Times New Roman"/>
                <a:cs typeface="Times New Roman"/>
              </a:rPr>
              <a:t>$2 300 000</a:t>
            </a:r>
          </a:p>
        </p:txBody>
      </p:sp>
      <p:sp>
        <p:nvSpPr>
          <p:cNvPr id="496" name="TextBox"/>
          <p:cNvSpPr txBox="1"/>
          <p:nvPr/>
        </p:nvSpPr>
        <p:spPr>
          <a:xfrm>
            <a:off x="8229600" y="2986462"/>
            <a:ext cx="3688080" cy="417469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24 та симулятор (BITD ва FNPT II)</a:t>
            </a:r>
          </a:p>
        </p:txBody>
      </p:sp>
      <p:sp>
        <p:nvSpPr>
          <p:cNvPr id="497" name="Card"/>
          <p:cNvSpPr/>
          <p:nvPr/>
        </p:nvSpPr>
        <p:spPr>
          <a:xfrm>
            <a:off x="8229600" y="3525192"/>
            <a:ext cx="3688080" cy="99397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98" name="TextBox"/>
          <p:cNvSpPr txBox="1"/>
          <p:nvPr/>
        </p:nvSpPr>
        <p:spPr>
          <a:xfrm>
            <a:off x="8229600" y="3570912"/>
            <a:ext cx="3688080" cy="546686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B2A6B"/>
                </a:solidFill>
                <a:latin typeface="Times New Roman"/>
                <a:cs typeface="Times New Roman"/>
              </a:rPr>
              <a:t>$11 500 000</a:t>
            </a:r>
          </a:p>
        </p:txBody>
      </p:sp>
      <p:sp>
        <p:nvSpPr>
          <p:cNvPr id="499" name="TextBox"/>
          <p:cNvSpPr txBox="1"/>
          <p:nvPr/>
        </p:nvSpPr>
        <p:spPr>
          <a:xfrm>
            <a:off x="8229600" y="4071878"/>
            <a:ext cx="3688080" cy="417469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учувчилар тайёрлаш базаси — жами</a:t>
            </a:r>
          </a:p>
        </p:txBody>
      </p:sp>
      <p:sp>
        <p:nvSpPr>
          <p:cNvPr id="500" name="Card"/>
          <p:cNvSpPr/>
          <p:nvPr/>
        </p:nvSpPr>
        <p:spPr>
          <a:xfrm>
            <a:off x="8229600" y="4610608"/>
            <a:ext cx="3688080" cy="99397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01" name="TextBox"/>
          <p:cNvSpPr txBox="1"/>
          <p:nvPr/>
        </p:nvSpPr>
        <p:spPr>
          <a:xfrm>
            <a:off x="8229600" y="4656328"/>
            <a:ext cx="3688080" cy="546686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39B45"/>
                </a:solidFill>
                <a:latin typeface="Times New Roman"/>
                <a:cs typeface="Times New Roman"/>
              </a:rPr>
              <a:t>21 нафар</a:t>
            </a:r>
          </a:p>
        </p:txBody>
      </p:sp>
      <p:sp>
        <p:nvSpPr>
          <p:cNvPr id="502" name="TextBox"/>
          <p:cNvSpPr txBox="1"/>
          <p:nvPr/>
        </p:nvSpPr>
        <p:spPr>
          <a:xfrm>
            <a:off x="8229600" y="5157294"/>
            <a:ext cx="3688080" cy="417469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ходим (инструктор, ПЎ, муҳандис)</a:t>
            </a:r>
          </a:p>
        </p:txBody>
      </p:sp>
      <p:sp>
        <p:nvSpPr>
          <p:cNvPr id="503" name="Card"/>
          <p:cNvSpPr/>
          <p:nvPr/>
        </p:nvSpPr>
        <p:spPr>
          <a:xfrm>
            <a:off x="8229600" y="5696024"/>
            <a:ext cx="3688080" cy="99397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04" name="TextBox"/>
          <p:cNvSpPr txBox="1"/>
          <p:nvPr/>
        </p:nvSpPr>
        <p:spPr>
          <a:xfrm>
            <a:off x="8229600" y="5741744"/>
            <a:ext cx="3688080" cy="546686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E87722"/>
                </a:solidFill>
                <a:latin typeface="Times New Roman"/>
                <a:cs typeface="Times New Roman"/>
              </a:rPr>
              <a:t>9 та</a:t>
            </a:r>
          </a:p>
        </p:txBody>
      </p:sp>
      <p:sp>
        <p:nvSpPr>
          <p:cNvPr id="505" name="TextBox"/>
          <p:cNvSpPr txBox="1"/>
          <p:nvPr/>
        </p:nvSpPr>
        <p:spPr>
          <a:xfrm>
            <a:off x="8229600" y="6242710"/>
            <a:ext cx="3688080" cy="417469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аудитория, лаборатория ва симулятор хонаси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 РИВОЖЛАНТИРИШ СТРАТЕГИЯСИ</a:t>
            </a:r>
          </a:p>
        </p:txBody>
      </p:sp>
      <p:sp>
        <p:nvSpPr>
          <p:cNvPr id="507" name="Card"/>
          <p:cNvSpPr/>
          <p:nvPr/>
        </p:nvSpPr>
        <p:spPr>
          <a:xfrm>
            <a:off x="274320" y="760000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08" name="Badge"/>
          <p:cNvSpPr/>
          <p:nvPr/>
        </p:nvSpPr>
        <p:spPr>
          <a:xfrm>
            <a:off x="342900" y="828580"/>
            <a:ext cx="457200" cy="45720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01</a:t>
            </a:r>
          </a:p>
        </p:txBody>
      </p:sp>
      <p:sp>
        <p:nvSpPr>
          <p:cNvPr id="509" name="TextBox"/>
          <p:cNvSpPr txBox="1"/>
          <p:nvPr/>
        </p:nvSpPr>
        <p:spPr>
          <a:xfrm>
            <a:off x="868680" y="828580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2A7AC2"/>
                </a:solidFill>
                <a:latin typeface="Times New Roman"/>
                <a:cs typeface="Times New Roman"/>
              </a:rPr>
              <a:t>ЎҚУВ-ИШЛАБ ЧИҚАРИШ УСТАХОНАСИ</a:t>
            </a:r>
          </a:p>
        </p:txBody>
      </p:sp>
      <p:sp>
        <p:nvSpPr>
          <p:cNvPr id="510" name="TextBox"/>
          <p:cNvSpPr txBox="1"/>
          <p:nvPr/>
        </p:nvSpPr>
        <p:spPr>
          <a:xfrm>
            <a:off x="310896" y="1354360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UAT базасида касбий кўникмаларни мустаҳкамлаш учун advanced workshop ташкил этиш</a:t>
            </a:r>
          </a:p>
        </p:txBody>
      </p:sp>
      <p:sp>
        <p:nvSpPr>
          <p:cNvPr id="511" name="Card"/>
          <p:cNvSpPr/>
          <p:nvPr/>
        </p:nvSpPr>
        <p:spPr>
          <a:xfrm>
            <a:off x="3219450" y="760000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12" name="Badge"/>
          <p:cNvSpPr/>
          <p:nvPr/>
        </p:nvSpPr>
        <p:spPr>
          <a:xfrm>
            <a:off x="3288030" y="828580"/>
            <a:ext cx="457200" cy="457200"/>
          </a:xfrm>
          <a:prstGeom prst="ellipse">
            <a:avLst/>
          </a:prstGeom>
          <a:solidFill>
            <a:srgbClr val="239B45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02</a:t>
            </a:r>
          </a:p>
        </p:txBody>
      </p:sp>
      <p:sp>
        <p:nvSpPr>
          <p:cNvPr id="513" name="TextBox"/>
          <p:cNvSpPr txBox="1"/>
          <p:nvPr/>
        </p:nvSpPr>
        <p:spPr>
          <a:xfrm>
            <a:off x="3813810" y="828580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239B45"/>
                </a:solidFill>
                <a:latin typeface="Times New Roman"/>
                <a:cs typeface="Times New Roman"/>
              </a:rPr>
              <a:t>БОШЛАНҒИЧ УСТАХОНА</a:t>
            </a:r>
          </a:p>
        </p:txBody>
      </p:sp>
      <p:sp>
        <p:nvSpPr>
          <p:cNvPr id="514" name="TextBox"/>
          <p:cNvSpPr txBox="1"/>
          <p:nvPr/>
        </p:nvSpPr>
        <p:spPr>
          <a:xfrm>
            <a:off x="3256026" y="1354360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1–2 курс талабалари учун амалий кўникмаларни шакллантирувчи beginner workshop</a:t>
            </a:r>
          </a:p>
        </p:txBody>
      </p:sp>
      <p:sp>
        <p:nvSpPr>
          <p:cNvPr id="515" name="Card"/>
          <p:cNvSpPr/>
          <p:nvPr/>
        </p:nvSpPr>
        <p:spPr>
          <a:xfrm>
            <a:off x="6164580" y="760000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16" name="Badge"/>
          <p:cNvSpPr/>
          <p:nvPr/>
        </p:nvSpPr>
        <p:spPr>
          <a:xfrm>
            <a:off x="6233160" y="828580"/>
            <a:ext cx="457200" cy="45720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03</a:t>
            </a:r>
          </a:p>
        </p:txBody>
      </p:sp>
      <p:sp>
        <p:nvSpPr>
          <p:cNvPr id="517" name="TextBox"/>
          <p:cNvSpPr txBox="1"/>
          <p:nvPr/>
        </p:nvSpPr>
        <p:spPr>
          <a:xfrm>
            <a:off x="6758940" y="828580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E87722"/>
                </a:solidFill>
                <a:latin typeface="Times New Roman"/>
                <a:cs typeface="Times New Roman"/>
              </a:rPr>
              <a:t>«КАУ ФАКУЛЬТЕТИ»НИ ОЧИШ</a:t>
            </a:r>
          </a:p>
        </p:txBody>
      </p:sp>
      <p:sp>
        <p:nvSpPr>
          <p:cNvPr id="518" name="TextBox"/>
          <p:cNvSpPr txBox="1"/>
          <p:nvPr/>
        </p:nvSpPr>
        <p:spPr>
          <a:xfrm>
            <a:off x="6201156" y="1354360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Корея аэрокосмик университети билан кадрлар тайёрлашни янги босқичга олиб чиқиш</a:t>
            </a:r>
          </a:p>
        </p:txBody>
      </p:sp>
      <p:sp>
        <p:nvSpPr>
          <p:cNvPr id="519" name="Card"/>
          <p:cNvSpPr/>
          <p:nvPr/>
        </p:nvSpPr>
        <p:spPr>
          <a:xfrm>
            <a:off x="9109710" y="760000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20" name="Badge"/>
          <p:cNvSpPr/>
          <p:nvPr/>
        </p:nvSpPr>
        <p:spPr>
          <a:xfrm>
            <a:off x="9178290" y="828580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04</a:t>
            </a:r>
          </a:p>
        </p:txBody>
      </p:sp>
      <p:sp>
        <p:nvSpPr>
          <p:cNvPr id="521" name="TextBox"/>
          <p:cNvSpPr txBox="1"/>
          <p:nvPr/>
        </p:nvSpPr>
        <p:spPr>
          <a:xfrm>
            <a:off x="9704070" y="828580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Times New Roman"/>
                <a:cs typeface="Times New Roman"/>
              </a:rPr>
              <a:t>ЗАМОНАВИЙ КОМПЬЮТЕР СИНФЛАРИ</a:t>
            </a:r>
          </a:p>
        </p:txBody>
      </p:sp>
      <p:sp>
        <p:nvSpPr>
          <p:cNvPr id="522" name="TextBox"/>
          <p:cNvSpPr txBox="1"/>
          <p:nvPr/>
        </p:nvSpPr>
        <p:spPr>
          <a:xfrm>
            <a:off x="9146286" y="1354360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Амалий ва виртуал лаборатория машғулотлари учун компьютер синфлари ва лингафон хоналари</a:t>
            </a:r>
          </a:p>
        </p:txBody>
      </p:sp>
      <p:sp>
        <p:nvSpPr>
          <p:cNvPr id="523" name="Card"/>
          <p:cNvSpPr/>
          <p:nvPr/>
        </p:nvSpPr>
        <p:spPr>
          <a:xfrm>
            <a:off x="274320" y="2782386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24" name="Badge"/>
          <p:cNvSpPr/>
          <p:nvPr/>
        </p:nvSpPr>
        <p:spPr>
          <a:xfrm>
            <a:off x="342900" y="2850966"/>
            <a:ext cx="457200" cy="45720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05</a:t>
            </a:r>
          </a:p>
        </p:txBody>
      </p:sp>
      <p:sp>
        <p:nvSpPr>
          <p:cNvPr id="525" name="TextBox"/>
          <p:cNvSpPr txBox="1"/>
          <p:nvPr/>
        </p:nvSpPr>
        <p:spPr>
          <a:xfrm>
            <a:off x="868680" y="2850966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7A4FA3"/>
                </a:solidFill>
                <a:latin typeface="Times New Roman"/>
                <a:cs typeface="Times New Roman"/>
              </a:rPr>
              <a:t>ХОРИЖИЙ ТАЛАБАЛАРНИ ЖАЛБ ЭТИШ</a:t>
            </a:r>
          </a:p>
        </p:txBody>
      </p:sp>
      <p:sp>
        <p:nvSpPr>
          <p:cNvPr id="526" name="TextBox"/>
          <p:cNvSpPr txBox="1"/>
          <p:nvPr/>
        </p:nvSpPr>
        <p:spPr>
          <a:xfrm>
            <a:off x="310896" y="3376746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Авиация йўналишларига хорижий талабаларни жалб этиш ва инглиз тилидаги таълимни босқичма-босқич йўлга қўйиш</a:t>
            </a:r>
          </a:p>
        </p:txBody>
      </p:sp>
      <p:sp>
        <p:nvSpPr>
          <p:cNvPr id="527" name="Card"/>
          <p:cNvSpPr/>
          <p:nvPr/>
        </p:nvSpPr>
        <p:spPr>
          <a:xfrm>
            <a:off x="3219450" y="2782386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28" name="Badge"/>
          <p:cNvSpPr/>
          <p:nvPr/>
        </p:nvSpPr>
        <p:spPr>
          <a:xfrm>
            <a:off x="3288030" y="2850966"/>
            <a:ext cx="457200" cy="457200"/>
          </a:xfrm>
          <a:prstGeom prst="ellipse">
            <a:avLst/>
          </a:prstGeom>
          <a:solidFill>
            <a:srgbClr val="138A7A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06</a:t>
            </a:r>
          </a:p>
        </p:txBody>
      </p:sp>
      <p:sp>
        <p:nvSpPr>
          <p:cNvPr id="529" name="TextBox"/>
          <p:cNvSpPr txBox="1"/>
          <p:nvPr/>
        </p:nvSpPr>
        <p:spPr>
          <a:xfrm>
            <a:off x="3813810" y="2850966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138A7A"/>
                </a:solidFill>
                <a:latin typeface="Times New Roman"/>
                <a:cs typeface="Times New Roman"/>
              </a:rPr>
              <a:t>ИНСОН ОМИЛИСИЗ НАЗОРАТ</a:t>
            </a:r>
          </a:p>
        </p:txBody>
      </p:sp>
      <p:sp>
        <p:nvSpPr>
          <p:cNvPr id="530" name="TextBox"/>
          <p:cNvSpPr txBox="1"/>
          <p:nvPr/>
        </p:nvSpPr>
        <p:spPr>
          <a:xfrm>
            <a:off x="3256026" y="3376746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Мутахассислик фанлари бўйича оралиқ ва якуний назоратларни инсон омилисиз топширишни йўлга қўйиш</a:t>
            </a:r>
          </a:p>
        </p:txBody>
      </p:sp>
      <p:sp>
        <p:nvSpPr>
          <p:cNvPr id="531" name="Card"/>
          <p:cNvSpPr/>
          <p:nvPr/>
        </p:nvSpPr>
        <p:spPr>
          <a:xfrm>
            <a:off x="6164580" y="2782386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32" name="Badge"/>
          <p:cNvSpPr/>
          <p:nvPr/>
        </p:nvSpPr>
        <p:spPr>
          <a:xfrm>
            <a:off x="6233160" y="2850966"/>
            <a:ext cx="457200" cy="457200"/>
          </a:xfrm>
          <a:prstGeom prst="ellipse">
            <a:avLst/>
          </a:prstGeom>
          <a:solidFill>
            <a:srgbClr val="1B2A6B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07</a:t>
            </a:r>
          </a:p>
        </p:txBody>
      </p:sp>
      <p:sp>
        <p:nvSpPr>
          <p:cNvPr id="533" name="TextBox"/>
          <p:cNvSpPr txBox="1"/>
          <p:nvPr/>
        </p:nvSpPr>
        <p:spPr>
          <a:xfrm>
            <a:off x="6758940" y="2850966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1B2A6B"/>
                </a:solidFill>
                <a:latin typeface="Times New Roman"/>
                <a:cs typeface="Times New Roman"/>
              </a:rPr>
              <a:t>ИЛМИЙ ЛАБОРАТОРИЯЛАРНИ ЖИҲОЗЛАШ</a:t>
            </a:r>
          </a:p>
        </p:txBody>
      </p:sp>
      <p:sp>
        <p:nvSpPr>
          <p:cNvPr id="534" name="TextBox"/>
          <p:cNvSpPr txBox="1"/>
          <p:nvPr/>
        </p:nvSpPr>
        <p:spPr>
          <a:xfrm>
            <a:off x="6201156" y="3376746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«Аэродинамика» ва «Газогидравлик аналогия» илмий лабораторияларини ускуналар билан жиҳозлаш</a:t>
            </a:r>
          </a:p>
        </p:txBody>
      </p:sp>
      <p:sp>
        <p:nvSpPr>
          <p:cNvPr id="535" name="Card"/>
          <p:cNvSpPr/>
          <p:nvPr/>
        </p:nvSpPr>
        <p:spPr>
          <a:xfrm>
            <a:off x="9109710" y="2782386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36" name="Badge"/>
          <p:cNvSpPr/>
          <p:nvPr/>
        </p:nvSpPr>
        <p:spPr>
          <a:xfrm>
            <a:off x="9178290" y="2850966"/>
            <a:ext cx="457200" cy="45720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08</a:t>
            </a:r>
          </a:p>
        </p:txBody>
      </p:sp>
      <p:sp>
        <p:nvSpPr>
          <p:cNvPr id="537" name="TextBox"/>
          <p:cNvSpPr txBox="1"/>
          <p:nvPr/>
        </p:nvSpPr>
        <p:spPr>
          <a:xfrm>
            <a:off x="9704070" y="2850966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2A7AC2"/>
                </a:solidFill>
                <a:latin typeface="Times New Roman"/>
                <a:cs typeface="Times New Roman"/>
              </a:rPr>
              <a:t>ICAO ТИЛ СЕРТИФИКАТИ</a:t>
            </a:r>
          </a:p>
        </p:txBody>
      </p:sp>
      <p:sp>
        <p:nvSpPr>
          <p:cNvPr id="538" name="TextBox"/>
          <p:cNvSpPr txBox="1"/>
          <p:nvPr/>
        </p:nvSpPr>
        <p:spPr>
          <a:xfrm>
            <a:off x="9146286" y="3376746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Ўқув жараёнида ICAO талаби доирасида 4-даражали авиацион инглиз тили сертификатига ўқитиш</a:t>
            </a:r>
          </a:p>
        </p:txBody>
      </p:sp>
      <p:sp>
        <p:nvSpPr>
          <p:cNvPr id="539" name="Card"/>
          <p:cNvSpPr/>
          <p:nvPr/>
        </p:nvSpPr>
        <p:spPr>
          <a:xfrm>
            <a:off x="274320" y="4804772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40" name="Badge"/>
          <p:cNvSpPr/>
          <p:nvPr/>
        </p:nvSpPr>
        <p:spPr>
          <a:xfrm>
            <a:off x="342900" y="4873352"/>
            <a:ext cx="457200" cy="457200"/>
          </a:xfrm>
          <a:prstGeom prst="ellipse">
            <a:avLst/>
          </a:prstGeom>
          <a:solidFill>
            <a:srgbClr val="239B45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09</a:t>
            </a:r>
          </a:p>
        </p:txBody>
      </p:sp>
      <p:sp>
        <p:nvSpPr>
          <p:cNvPr id="541" name="TextBox"/>
          <p:cNvSpPr txBox="1"/>
          <p:nvPr/>
        </p:nvSpPr>
        <p:spPr>
          <a:xfrm>
            <a:off x="868680" y="4873352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239B45"/>
                </a:solidFill>
                <a:latin typeface="Times New Roman"/>
                <a:cs typeface="Times New Roman"/>
              </a:rPr>
              <a:t>ЎҚУВ ПОЛИГОНИ</a:t>
            </a:r>
          </a:p>
        </p:txBody>
      </p:sp>
      <p:sp>
        <p:nvSpPr>
          <p:cNvPr id="542" name="TextBox"/>
          <p:cNvSpPr txBox="1"/>
          <p:nvPr/>
        </p:nvSpPr>
        <p:spPr>
          <a:xfrm>
            <a:off x="310896" y="5399132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Университет ҳудудида ўқув полигонини ташкил этиш ва замонавий техника билан жиҳозлаш</a:t>
            </a:r>
          </a:p>
        </p:txBody>
      </p:sp>
      <p:sp>
        <p:nvSpPr>
          <p:cNvPr id="543" name="Card"/>
          <p:cNvSpPr/>
          <p:nvPr/>
        </p:nvSpPr>
        <p:spPr>
          <a:xfrm>
            <a:off x="3219450" y="4804772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44" name="Badge"/>
          <p:cNvSpPr/>
          <p:nvPr/>
        </p:nvSpPr>
        <p:spPr>
          <a:xfrm>
            <a:off x="3288030" y="4873352"/>
            <a:ext cx="457200" cy="45720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10</a:t>
            </a:r>
          </a:p>
        </p:txBody>
      </p:sp>
      <p:sp>
        <p:nvSpPr>
          <p:cNvPr id="545" name="TextBox"/>
          <p:cNvSpPr txBox="1"/>
          <p:nvPr/>
        </p:nvSpPr>
        <p:spPr>
          <a:xfrm>
            <a:off x="3813810" y="4873352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E87722"/>
                </a:solidFill>
                <a:latin typeface="Times New Roman"/>
                <a:cs typeface="Times New Roman"/>
              </a:rPr>
              <a:t>ЖИҲОЗЛАР БИЛАН ТАЪМИНЛАШ</a:t>
            </a:r>
          </a:p>
        </p:txBody>
      </p:sp>
      <p:sp>
        <p:nvSpPr>
          <p:cNvPr id="546" name="TextBox"/>
          <p:cNvSpPr txBox="1"/>
          <p:nvPr/>
        </p:nvSpPr>
        <p:spPr>
          <a:xfrm>
            <a:off x="3256026" y="5399132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Ўқув самолётлар, тренажёрлар, дастгоҳлар ва авиация соҳасига доир жиҳозлар билан жиҳозлаш</a:t>
            </a:r>
          </a:p>
        </p:txBody>
      </p:sp>
      <p:sp>
        <p:nvSpPr>
          <p:cNvPr id="547" name="Card"/>
          <p:cNvSpPr/>
          <p:nvPr/>
        </p:nvSpPr>
        <p:spPr>
          <a:xfrm>
            <a:off x="6164580" y="4804772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48" name="Badge"/>
          <p:cNvSpPr/>
          <p:nvPr/>
        </p:nvSpPr>
        <p:spPr>
          <a:xfrm>
            <a:off x="6233160" y="4873352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11</a:t>
            </a:r>
          </a:p>
        </p:txBody>
      </p:sp>
      <p:sp>
        <p:nvSpPr>
          <p:cNvPr id="549" name="TextBox"/>
          <p:cNvSpPr txBox="1"/>
          <p:nvPr/>
        </p:nvSpPr>
        <p:spPr>
          <a:xfrm>
            <a:off x="6758940" y="4873352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Times New Roman"/>
                <a:cs typeface="Times New Roman"/>
              </a:rPr>
              <a:t>ПЎ МАЛАКАСИНИ ОШИРИШ</a:t>
            </a:r>
          </a:p>
        </p:txBody>
      </p:sp>
      <p:sp>
        <p:nvSpPr>
          <p:cNvPr id="550" name="TextBox"/>
          <p:cNvSpPr txBox="1"/>
          <p:nvPr/>
        </p:nvSpPr>
        <p:spPr>
          <a:xfrm>
            <a:off x="6201156" y="5399132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Профессор-ўқитувчиларни хорижда малака ошириш ва EASA сертификатини берувчи инструкторликка ўқитиш</a:t>
            </a:r>
          </a:p>
        </p:txBody>
      </p:sp>
      <p:sp>
        <p:nvSpPr>
          <p:cNvPr id="551" name="Card"/>
          <p:cNvSpPr/>
          <p:nvPr/>
        </p:nvSpPr>
        <p:spPr>
          <a:xfrm>
            <a:off x="9109710" y="4804772"/>
            <a:ext cx="2807970" cy="188522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52" name="Badge"/>
          <p:cNvSpPr/>
          <p:nvPr/>
        </p:nvSpPr>
        <p:spPr>
          <a:xfrm>
            <a:off x="9178290" y="4873352"/>
            <a:ext cx="457200" cy="45720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12</a:t>
            </a:r>
          </a:p>
        </p:txBody>
      </p:sp>
      <p:sp>
        <p:nvSpPr>
          <p:cNvPr id="553" name="TextBox"/>
          <p:cNvSpPr txBox="1"/>
          <p:nvPr/>
        </p:nvSpPr>
        <p:spPr>
          <a:xfrm>
            <a:off x="9704070" y="4873352"/>
            <a:ext cx="2145030" cy="45720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00" b="1" i="0">
                <a:solidFill>
                  <a:srgbClr val="7A4FA3"/>
                </a:solidFill>
                <a:latin typeface="Times New Roman"/>
                <a:cs typeface="Times New Roman"/>
              </a:rPr>
              <a:t>ЎҚУВ АЭРОДРОМИ</a:t>
            </a:r>
          </a:p>
        </p:txBody>
      </p:sp>
      <p:sp>
        <p:nvSpPr>
          <p:cNvPr id="554" name="TextBox"/>
          <p:cNvSpPr txBox="1"/>
          <p:nvPr/>
        </p:nvSpPr>
        <p:spPr>
          <a:xfrm>
            <a:off x="9146286" y="5399132"/>
            <a:ext cx="2734818" cy="1217714"/>
          </a:xfrm>
          <a:prstGeom prst="rect">
            <a:avLst/>
          </a:prstGeom>
          <a:noFill/>
        </p:spPr>
        <p:txBody>
          <a:bodyPr wrap="square" lIns="54864" tIns="18288" rIns="54864" bIns="18288" anchor="t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Ўқув аэродромини ташкил қилиш ва босқичма-босқич ҳаво кемалари билан таъминлаш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ЯКУНИЙ КЎРСАТКИЧЛАР ВА МОНИТОРИНГ ТИЗИМИ</a:t>
            </a:r>
          </a:p>
        </p:txBody>
      </p:sp>
      <p:sp>
        <p:nvSpPr>
          <p:cNvPr id="556" name="Card"/>
          <p:cNvSpPr/>
          <p:nvPr/>
        </p:nvSpPr>
        <p:spPr>
          <a:xfrm>
            <a:off x="274320" y="760000"/>
            <a:ext cx="2218944" cy="170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57" name="Badge"/>
          <p:cNvSpPr/>
          <p:nvPr/>
        </p:nvSpPr>
        <p:spPr>
          <a:xfrm>
            <a:off x="342900" y="828580"/>
            <a:ext cx="365760" cy="365760"/>
          </a:xfrm>
          <a:prstGeom prst="ellipse">
            <a:avLst/>
          </a:prstGeom>
          <a:solidFill>
            <a:srgbClr val="239B45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558" name="TextBox"/>
          <p:cNvSpPr txBox="1"/>
          <p:nvPr/>
        </p:nvSpPr>
        <p:spPr>
          <a:xfrm>
            <a:off x="274320" y="1217200"/>
            <a:ext cx="2218944" cy="64008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39B45"/>
                </a:solidFill>
                <a:latin typeface="Times New Roman"/>
                <a:cs typeface="Times New Roman"/>
              </a:rPr>
              <a:t>42% → 70%</a:t>
            </a:r>
          </a:p>
        </p:txBody>
      </p:sp>
      <p:sp>
        <p:nvSpPr>
          <p:cNvPr id="559" name="TextBox"/>
          <p:cNvSpPr txBox="1"/>
          <p:nvPr/>
        </p:nvSpPr>
        <p:spPr>
          <a:xfrm>
            <a:off x="274320" y="1857280"/>
            <a:ext cx="2218944" cy="41148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илмий салоҳият</a:t>
            </a:r>
          </a:p>
        </p:txBody>
      </p:sp>
      <p:sp>
        <p:nvSpPr>
          <p:cNvPr id="560" name="Card"/>
          <p:cNvSpPr/>
          <p:nvPr/>
        </p:nvSpPr>
        <p:spPr>
          <a:xfrm>
            <a:off x="2630424" y="760000"/>
            <a:ext cx="2218944" cy="170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61" name="Badge"/>
          <p:cNvSpPr/>
          <p:nvPr/>
        </p:nvSpPr>
        <p:spPr>
          <a:xfrm>
            <a:off x="2699004" y="828580"/>
            <a:ext cx="365760" cy="36576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562" name="TextBox"/>
          <p:cNvSpPr txBox="1"/>
          <p:nvPr/>
        </p:nvSpPr>
        <p:spPr>
          <a:xfrm>
            <a:off x="2630424" y="1217200"/>
            <a:ext cx="2218944" cy="64008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A7AC2"/>
                </a:solidFill>
                <a:latin typeface="Times New Roman"/>
                <a:cs typeface="Times New Roman"/>
              </a:rPr>
              <a:t>1775</a:t>
            </a:r>
          </a:p>
        </p:txBody>
      </p:sp>
      <p:sp>
        <p:nvSpPr>
          <p:cNvPr id="563" name="TextBox"/>
          <p:cNvSpPr txBox="1"/>
          <p:nvPr/>
        </p:nvSpPr>
        <p:spPr>
          <a:xfrm>
            <a:off x="2630424" y="1857280"/>
            <a:ext cx="2218944" cy="41148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талаба (жами қамров)</a:t>
            </a:r>
          </a:p>
        </p:txBody>
      </p:sp>
      <p:sp>
        <p:nvSpPr>
          <p:cNvPr id="564" name="Card"/>
          <p:cNvSpPr/>
          <p:nvPr/>
        </p:nvSpPr>
        <p:spPr>
          <a:xfrm>
            <a:off x="4986528" y="760000"/>
            <a:ext cx="2218944" cy="170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65" name="Badge"/>
          <p:cNvSpPr/>
          <p:nvPr/>
        </p:nvSpPr>
        <p:spPr>
          <a:xfrm>
            <a:off x="5055108" y="828580"/>
            <a:ext cx="365760" cy="36576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566" name="TextBox"/>
          <p:cNvSpPr txBox="1"/>
          <p:nvPr/>
        </p:nvSpPr>
        <p:spPr>
          <a:xfrm>
            <a:off x="4986528" y="1217200"/>
            <a:ext cx="2218944" cy="64008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7A4FA3"/>
                </a:solidFill>
                <a:latin typeface="Times New Roman"/>
                <a:cs typeface="Times New Roman"/>
              </a:rPr>
              <a:t>11 та</a:t>
            </a:r>
          </a:p>
        </p:txBody>
      </p:sp>
      <p:sp>
        <p:nvSpPr>
          <p:cNvPr id="567" name="TextBox"/>
          <p:cNvSpPr txBox="1"/>
          <p:nvPr/>
        </p:nvSpPr>
        <p:spPr>
          <a:xfrm>
            <a:off x="4986528" y="1857280"/>
            <a:ext cx="2218944" cy="41148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ривожлантириладиган лаборатория</a:t>
            </a:r>
          </a:p>
        </p:txBody>
      </p:sp>
      <p:sp>
        <p:nvSpPr>
          <p:cNvPr id="568" name="Card"/>
          <p:cNvSpPr/>
          <p:nvPr/>
        </p:nvSpPr>
        <p:spPr>
          <a:xfrm>
            <a:off x="7342632" y="760000"/>
            <a:ext cx="2218944" cy="170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69" name="Badge"/>
          <p:cNvSpPr/>
          <p:nvPr/>
        </p:nvSpPr>
        <p:spPr>
          <a:xfrm>
            <a:off x="7411212" y="828580"/>
            <a:ext cx="365760" cy="365760"/>
          </a:xfrm>
          <a:prstGeom prst="ellipse">
            <a:avLst/>
          </a:prstGeom>
          <a:solidFill>
            <a:srgbClr val="138A7A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570" name="TextBox"/>
          <p:cNvSpPr txBox="1"/>
          <p:nvPr/>
        </p:nvSpPr>
        <p:spPr>
          <a:xfrm>
            <a:off x="7342632" y="1217200"/>
            <a:ext cx="2218944" cy="64008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38A7A"/>
                </a:solidFill>
                <a:latin typeface="Times New Roman"/>
                <a:cs typeface="Times New Roman"/>
              </a:rPr>
              <a:t>$391 752</a:t>
            </a:r>
          </a:p>
        </p:txBody>
      </p:sp>
      <p:sp>
        <p:nvSpPr>
          <p:cNvPr id="571" name="TextBox"/>
          <p:cNvSpPr txBox="1"/>
          <p:nvPr/>
        </p:nvSpPr>
        <p:spPr>
          <a:xfrm>
            <a:off x="7342632" y="1857280"/>
            <a:ext cx="2218944" cy="41148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лаборатория жиҳозлари эҳтиёжи</a:t>
            </a:r>
          </a:p>
        </p:txBody>
      </p:sp>
      <p:sp>
        <p:nvSpPr>
          <p:cNvPr id="572" name="Card"/>
          <p:cNvSpPr/>
          <p:nvPr/>
        </p:nvSpPr>
        <p:spPr>
          <a:xfrm>
            <a:off x="9698736" y="760000"/>
            <a:ext cx="2218944" cy="170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73" name="Badge"/>
          <p:cNvSpPr/>
          <p:nvPr/>
        </p:nvSpPr>
        <p:spPr>
          <a:xfrm>
            <a:off x="9767316" y="828580"/>
            <a:ext cx="365760" cy="3657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5</a:t>
            </a:r>
          </a:p>
        </p:txBody>
      </p:sp>
      <p:sp>
        <p:nvSpPr>
          <p:cNvPr id="574" name="TextBox"/>
          <p:cNvSpPr txBox="1"/>
          <p:nvPr/>
        </p:nvSpPr>
        <p:spPr>
          <a:xfrm>
            <a:off x="9698736" y="1217200"/>
            <a:ext cx="2218944" cy="64008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Times New Roman"/>
                <a:cs typeface="Times New Roman"/>
              </a:rPr>
              <a:t>$11,5 млн</a:t>
            </a:r>
          </a:p>
        </p:txBody>
      </p:sp>
      <p:sp>
        <p:nvSpPr>
          <p:cNvPr id="575" name="TextBox"/>
          <p:cNvSpPr txBox="1"/>
          <p:nvPr/>
        </p:nvSpPr>
        <p:spPr>
          <a:xfrm>
            <a:off x="9698736" y="1857280"/>
            <a:ext cx="2218944" cy="41148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учувчилар тайёрлаш базаси</a:t>
            </a:r>
          </a:p>
        </p:txBody>
      </p:sp>
      <p:sp>
        <p:nvSpPr>
          <p:cNvPr id="576" name="Card"/>
          <p:cNvSpPr/>
          <p:nvPr/>
        </p:nvSpPr>
        <p:spPr>
          <a:xfrm>
            <a:off x="274320" y="2597160"/>
            <a:ext cx="2218944" cy="170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77" name="Badge"/>
          <p:cNvSpPr/>
          <p:nvPr/>
        </p:nvSpPr>
        <p:spPr>
          <a:xfrm>
            <a:off x="342900" y="2665740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6</a:t>
            </a:r>
          </a:p>
        </p:txBody>
      </p:sp>
      <p:sp>
        <p:nvSpPr>
          <p:cNvPr id="578" name="TextBox"/>
          <p:cNvSpPr txBox="1"/>
          <p:nvPr/>
        </p:nvSpPr>
        <p:spPr>
          <a:xfrm>
            <a:off x="274320" y="3054360"/>
            <a:ext cx="2218944" cy="64008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E87722"/>
                </a:solidFill>
                <a:latin typeface="Times New Roman"/>
                <a:cs typeface="Times New Roman"/>
              </a:rPr>
              <a:t>4 та</a:t>
            </a:r>
          </a:p>
        </p:txBody>
      </p:sp>
      <p:sp>
        <p:nvSpPr>
          <p:cNvPr id="579" name="TextBox"/>
          <p:cNvSpPr txBox="1"/>
          <p:nvPr/>
        </p:nvSpPr>
        <p:spPr>
          <a:xfrm>
            <a:off x="274320" y="3694440"/>
            <a:ext cx="2218944" cy="41148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қўшма таълим дастури</a:t>
            </a:r>
          </a:p>
        </p:txBody>
      </p:sp>
      <p:sp>
        <p:nvSpPr>
          <p:cNvPr id="580" name="Card"/>
          <p:cNvSpPr/>
          <p:nvPr/>
        </p:nvSpPr>
        <p:spPr>
          <a:xfrm>
            <a:off x="2630424" y="2597160"/>
            <a:ext cx="2218944" cy="170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81" name="Badge"/>
          <p:cNvSpPr/>
          <p:nvPr/>
        </p:nvSpPr>
        <p:spPr>
          <a:xfrm>
            <a:off x="2699004" y="2665740"/>
            <a:ext cx="365760" cy="365760"/>
          </a:xfrm>
          <a:prstGeom prst="ellipse">
            <a:avLst/>
          </a:prstGeom>
          <a:solidFill>
            <a:srgbClr val="1B2A6B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7</a:t>
            </a:r>
          </a:p>
        </p:txBody>
      </p:sp>
      <p:sp>
        <p:nvSpPr>
          <p:cNvPr id="582" name="TextBox"/>
          <p:cNvSpPr txBox="1"/>
          <p:nvPr/>
        </p:nvSpPr>
        <p:spPr>
          <a:xfrm>
            <a:off x="2630424" y="3054360"/>
            <a:ext cx="2218944" cy="64008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B2A6B"/>
                </a:solidFill>
                <a:latin typeface="Times New Roman"/>
                <a:cs typeface="Times New Roman"/>
              </a:rPr>
              <a:t>6 та</a:t>
            </a:r>
          </a:p>
        </p:txBody>
      </p:sp>
      <p:sp>
        <p:nvSpPr>
          <p:cNvPr id="583" name="TextBox"/>
          <p:cNvSpPr txBox="1"/>
          <p:nvPr/>
        </p:nvSpPr>
        <p:spPr>
          <a:xfrm>
            <a:off x="2630424" y="3694440"/>
            <a:ext cx="2218944" cy="41148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ҳамкор хорижий ОТМ</a:t>
            </a:r>
          </a:p>
        </p:txBody>
      </p:sp>
      <p:sp>
        <p:nvSpPr>
          <p:cNvPr id="584" name="Card"/>
          <p:cNvSpPr/>
          <p:nvPr/>
        </p:nvSpPr>
        <p:spPr>
          <a:xfrm>
            <a:off x="4986528" y="2597160"/>
            <a:ext cx="2218944" cy="170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85" name="Badge"/>
          <p:cNvSpPr/>
          <p:nvPr/>
        </p:nvSpPr>
        <p:spPr>
          <a:xfrm>
            <a:off x="5055108" y="2665740"/>
            <a:ext cx="365760" cy="36576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8</a:t>
            </a:r>
          </a:p>
        </p:txBody>
      </p:sp>
      <p:sp>
        <p:nvSpPr>
          <p:cNvPr id="586" name="TextBox"/>
          <p:cNvSpPr txBox="1"/>
          <p:nvPr/>
        </p:nvSpPr>
        <p:spPr>
          <a:xfrm>
            <a:off x="4986528" y="3054360"/>
            <a:ext cx="2218944" cy="64008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A7AC2"/>
                </a:solidFill>
                <a:latin typeface="Times New Roman"/>
                <a:cs typeface="Times New Roman"/>
              </a:rPr>
              <a:t>9 та</a:t>
            </a:r>
          </a:p>
        </p:txBody>
      </p:sp>
      <p:sp>
        <p:nvSpPr>
          <p:cNvPr id="587" name="TextBox"/>
          <p:cNvSpPr txBox="1"/>
          <p:nvPr/>
        </p:nvSpPr>
        <p:spPr>
          <a:xfrm>
            <a:off x="4986528" y="3694440"/>
            <a:ext cx="2218944" cy="41148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ҳамкор ташкилот</a:t>
            </a:r>
          </a:p>
        </p:txBody>
      </p:sp>
      <p:sp>
        <p:nvSpPr>
          <p:cNvPr id="588" name="Card"/>
          <p:cNvSpPr/>
          <p:nvPr/>
        </p:nvSpPr>
        <p:spPr>
          <a:xfrm>
            <a:off x="7342632" y="2597160"/>
            <a:ext cx="2218944" cy="170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89" name="Badge"/>
          <p:cNvSpPr/>
          <p:nvPr/>
        </p:nvSpPr>
        <p:spPr>
          <a:xfrm>
            <a:off x="7411212" y="2665740"/>
            <a:ext cx="365760" cy="365760"/>
          </a:xfrm>
          <a:prstGeom prst="ellipse">
            <a:avLst/>
          </a:prstGeom>
          <a:solidFill>
            <a:srgbClr val="239B45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9</a:t>
            </a:r>
          </a:p>
        </p:txBody>
      </p:sp>
      <p:sp>
        <p:nvSpPr>
          <p:cNvPr id="590" name="TextBox"/>
          <p:cNvSpPr txBox="1"/>
          <p:nvPr/>
        </p:nvSpPr>
        <p:spPr>
          <a:xfrm>
            <a:off x="7342632" y="3054360"/>
            <a:ext cx="2218944" cy="64008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39B45"/>
                </a:solidFill>
                <a:latin typeface="Times New Roman"/>
                <a:cs typeface="Times New Roman"/>
              </a:rPr>
              <a:t>21 нафар</a:t>
            </a:r>
          </a:p>
        </p:txBody>
      </p:sp>
      <p:sp>
        <p:nvSpPr>
          <p:cNvPr id="591" name="TextBox"/>
          <p:cNvSpPr txBox="1"/>
          <p:nvPr/>
        </p:nvSpPr>
        <p:spPr>
          <a:xfrm>
            <a:off x="7342632" y="3694440"/>
            <a:ext cx="2218944" cy="41148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янги ходим эҳтиёжи</a:t>
            </a:r>
          </a:p>
        </p:txBody>
      </p:sp>
      <p:sp>
        <p:nvSpPr>
          <p:cNvPr id="592" name="Card"/>
          <p:cNvSpPr/>
          <p:nvPr/>
        </p:nvSpPr>
        <p:spPr>
          <a:xfrm>
            <a:off x="9698736" y="2597160"/>
            <a:ext cx="2218944" cy="170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593" name="Badge"/>
          <p:cNvSpPr/>
          <p:nvPr/>
        </p:nvSpPr>
        <p:spPr>
          <a:xfrm>
            <a:off x="9767316" y="2665740"/>
            <a:ext cx="365760" cy="36576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10</a:t>
            </a:r>
          </a:p>
        </p:txBody>
      </p:sp>
      <p:sp>
        <p:nvSpPr>
          <p:cNvPr id="594" name="TextBox"/>
          <p:cNvSpPr txBox="1"/>
          <p:nvPr/>
        </p:nvSpPr>
        <p:spPr>
          <a:xfrm>
            <a:off x="9698736" y="3054360"/>
            <a:ext cx="2218944" cy="640080"/>
          </a:xfrm>
          <a:prstGeom prst="rect">
            <a:avLst/>
          </a:prstGeom>
          <a:noFill/>
        </p:spPr>
        <p:txBody>
          <a:bodyPr wrap="square" lIns="18288" tIns="0" rIns="18288" bIns="0" anchor="ctr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7A4FA3"/>
                </a:solidFill>
                <a:latin typeface="Times New Roman"/>
                <a:cs typeface="Times New Roman"/>
              </a:rPr>
              <a:t>12 та</a:t>
            </a:r>
          </a:p>
        </p:txBody>
      </p:sp>
      <p:sp>
        <p:nvSpPr>
          <p:cNvPr id="595" name="TextBox"/>
          <p:cNvSpPr txBox="1"/>
          <p:nvPr/>
        </p:nvSpPr>
        <p:spPr>
          <a:xfrm>
            <a:off x="9698736" y="3694440"/>
            <a:ext cx="2218944" cy="41148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00" b="1" i="0">
                <a:solidFill>
                  <a:srgbClr val="1A1F36"/>
                </a:solidFill>
                <a:latin typeface="Times New Roman"/>
                <a:cs typeface="Times New Roman"/>
              </a:rPr>
              <a:t>истиқболли режа</a:t>
            </a:r>
          </a:p>
        </p:txBody>
      </p:sp>
      <p:sp>
        <p:nvSpPr>
          <p:cNvPr id="596" name="Divider"/>
          <p:cNvSpPr/>
          <p:nvPr/>
        </p:nvSpPr>
        <p:spPr>
          <a:xfrm>
            <a:off x="274320" y="4388600"/>
            <a:ext cx="11643360" cy="0"/>
          </a:xfrm>
          <a:prstGeom prst="line">
            <a:avLst/>
          </a:prstGeom>
          <a:ln w="19050">
            <a:solidFill>
              <a:srgbClr val="9AA8BF"/>
            </a:solidFill>
            <a:prstDash val="sysDot"/>
          </a:ln>
        </p:spPr>
        <p:txBody>
          <a:bodyPr/>
          <a:lstStyle/>
          <a:p>
            <a:endParaRPr/>
          </a:p>
        </p:txBody>
      </p:sp>
      <p:sp>
        <p:nvSpPr>
          <p:cNvPr id="597" name="Pill"/>
          <p:cNvSpPr/>
          <p:nvPr/>
        </p:nvSpPr>
        <p:spPr>
          <a:xfrm>
            <a:off x="274320" y="4525760"/>
            <a:ext cx="4023360" cy="50292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МОНИТОРИНГ ВА ҲИСОБОТ ТИЗИМИ</a:t>
            </a:r>
          </a:p>
        </p:txBody>
      </p:sp>
      <p:sp>
        <p:nvSpPr>
          <p:cNvPr id="598" name="Chevron"/>
          <p:cNvSpPr/>
          <p:nvPr/>
        </p:nvSpPr>
        <p:spPr>
          <a:xfrm>
            <a:off x="274320" y="5165840"/>
            <a:ext cx="3048000" cy="548640"/>
          </a:xfrm>
          <a:prstGeom prst="homePlat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91440" tIns="18288" rIns="91440" bIns="18288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КАФЕДРА</a:t>
            </a:r>
          </a:p>
        </p:txBody>
      </p:sp>
      <p:sp>
        <p:nvSpPr>
          <p:cNvPr id="599" name="TextBox"/>
          <p:cNvSpPr txBox="1"/>
          <p:nvPr/>
        </p:nvSpPr>
        <p:spPr>
          <a:xfrm>
            <a:off x="274320" y="5760200"/>
            <a:ext cx="2910840" cy="45720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чораклик ҳисобот: жиҳозлар, таълим сифати</a:t>
            </a:r>
          </a:p>
        </p:txBody>
      </p:sp>
      <p:sp>
        <p:nvSpPr>
          <p:cNvPr id="600" name="Chevron"/>
          <p:cNvSpPr/>
          <p:nvPr/>
        </p:nvSpPr>
        <p:spPr>
          <a:xfrm>
            <a:off x="3185160" y="5165840"/>
            <a:ext cx="3048000" cy="548640"/>
          </a:xfrm>
          <a:prstGeom prst="chevron">
            <a:avLst/>
          </a:prstGeom>
          <a:solidFill>
            <a:srgbClr val="239B45"/>
          </a:solidFill>
          <a:ln>
            <a:noFill/>
          </a:ln>
          <a:effectLst/>
        </p:spPr>
        <p:txBody>
          <a:bodyPr wrap="square" lIns="91440" tIns="18288" rIns="91440" bIns="18288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 КЕНГАШИ</a:t>
            </a:r>
          </a:p>
        </p:txBody>
      </p:sp>
      <p:sp>
        <p:nvSpPr>
          <p:cNvPr id="601" name="TextBox"/>
          <p:cNvSpPr txBox="1"/>
          <p:nvPr/>
        </p:nvSpPr>
        <p:spPr>
          <a:xfrm>
            <a:off x="3185160" y="5760200"/>
            <a:ext cx="2910840" cy="45720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ярим йиллик таҳлил ва режага тузатишлар</a:t>
            </a:r>
          </a:p>
        </p:txBody>
      </p:sp>
      <p:sp>
        <p:nvSpPr>
          <p:cNvPr id="602" name="Chevron"/>
          <p:cNvSpPr/>
          <p:nvPr/>
        </p:nvSpPr>
        <p:spPr>
          <a:xfrm>
            <a:off x="6096000" y="5165840"/>
            <a:ext cx="3048000" cy="548640"/>
          </a:xfrm>
          <a:prstGeom prst="chevron">
            <a:avLst/>
          </a:prstGeom>
          <a:solidFill>
            <a:srgbClr val="E87722"/>
          </a:solidFill>
          <a:ln>
            <a:noFill/>
          </a:ln>
          <a:effectLst/>
        </p:spPr>
        <p:txBody>
          <a:bodyPr wrap="square" lIns="91440" tIns="18288" rIns="91440" bIns="18288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УНИВЕРСИТЕТ КЕНГАШИ</a:t>
            </a:r>
          </a:p>
        </p:txBody>
      </p:sp>
      <p:sp>
        <p:nvSpPr>
          <p:cNvPr id="603" name="TextBox"/>
          <p:cNvSpPr txBox="1"/>
          <p:nvPr/>
        </p:nvSpPr>
        <p:spPr>
          <a:xfrm>
            <a:off x="6096000" y="5760200"/>
            <a:ext cx="2910840" cy="45720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йиллик ҳисобот ва молиялаштириш</a:t>
            </a:r>
          </a:p>
        </p:txBody>
      </p:sp>
      <p:sp>
        <p:nvSpPr>
          <p:cNvPr id="604" name="Chevron"/>
          <p:cNvSpPr/>
          <p:nvPr/>
        </p:nvSpPr>
        <p:spPr>
          <a:xfrm>
            <a:off x="9006840" y="5165840"/>
            <a:ext cx="2910840" cy="54864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 lIns="91440" tIns="18288" rIns="91440" bIns="18288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ЯКУНИЙ БАҲОЛАШ</a:t>
            </a:r>
          </a:p>
        </p:txBody>
      </p:sp>
      <p:sp>
        <p:nvSpPr>
          <p:cNvPr id="605" name="TextBox"/>
          <p:cNvSpPr txBox="1"/>
          <p:nvPr/>
        </p:nvSpPr>
        <p:spPr>
          <a:xfrm>
            <a:off x="9006840" y="5760200"/>
            <a:ext cx="2910840" cy="457200"/>
          </a:xfrm>
          <a:prstGeom prst="rect">
            <a:avLst/>
          </a:prstGeom>
          <a:noFill/>
        </p:spPr>
        <p:txBody>
          <a:bodyPr wrap="square" lIns="54864" tIns="0" rIns="54864" bIns="0" anchor="t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мақсадларни қайта кўриб чиқиш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DTU kafedra">
  <a:themeElements>
    <a:clrScheme name="TDTU kafedra">
      <a:dk1>
        <a:srgbClr val="000000"/>
      </a:dk1>
      <a:lt1>
        <a:srgbClr val="FFFFFF"/>
      </a:lt1>
      <a:dk2>
        <a:srgbClr val="002060"/>
      </a:dk2>
      <a:lt2>
        <a:srgbClr val="EEF3FB"/>
      </a:lt2>
      <a:accent1>
        <a:srgbClr val="0255B3"/>
      </a:accent1>
      <a:accent2>
        <a:srgbClr val="28C8A0"/>
      </a:accent2>
      <a:accent3>
        <a:srgbClr val="14A1D6"/>
      </a:accent3>
      <a:accent4>
        <a:srgbClr val="F28C28"/>
      </a:accent4>
      <a:accent5>
        <a:srgbClr val="C00000"/>
      </a:accent5>
      <a:accent6>
        <a:srgbClr val="2A7AC2"/>
      </a:accent6>
      <a:hlink>
        <a:srgbClr val="0255B3"/>
      </a:hlink>
      <a:folHlink>
        <a:srgbClr val="2A7AC2"/>
      </a:folHlink>
    </a:clrScheme>
    <a:fontScheme name="TDTU kafedra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3023</Words>
  <Application>Microsoft Office PowerPoint</Application>
  <PresentationFormat>Широкоэкранный</PresentationFormat>
  <Paragraphs>498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21" baseType="lpstr">
      <vt:lpstr>Arial</vt:lpstr>
      <vt:lpstr>Bahnschrift Condensed</vt:lpstr>
      <vt:lpstr>Calibri</vt:lpstr>
      <vt:lpstr>Cambria</vt:lpstr>
      <vt:lpstr>Segoe UI</vt:lpstr>
      <vt:lpstr>Times New Roman</vt:lpstr>
      <vt:lpstr>Univers Condensed Light</vt:lpstr>
      <vt:lpstr>Wingdings</vt:lpstr>
      <vt:lpstr>TDTU kafedra</vt:lpstr>
      <vt:lpstr>«AVTOMOBIL YO‘LLARI MUHANDISLIGI» FAKULTETINING 2030-YILGACHA STRATEGIK RIVOJLANISH REJASI</vt:lpstr>
      <vt:lpstr>FAKULTET VA KAFEDRALARI</vt:lpstr>
      <vt:lpstr>Презентация PowerPoint</vt:lpstr>
      <vt:lpstr>SO‘NGGI 5 YILDA ERISHILGAN NATIJALAR (2021–2026)</vt:lpstr>
      <vt:lpstr>FAKULTET FAOLIYATINING SWOT TAHLILI</vt:lpstr>
      <vt:lpstr>STRATEGIK MAQSAD VA USTUVOR YO‘NALISHLAR</vt:lpstr>
      <vt:lpstr>KAFEDRALARNING USTUVOR ILMIY YO‘NALISHLARI</vt:lpstr>
      <vt:lpstr>I QISM. 2026–2027 O‘QUV YILI REJASI</vt:lpstr>
      <vt:lpstr>II QISM. 2027–2030-YILLAR YO‘L XARITASI</vt:lpstr>
      <vt:lpstr>REJALASHTIRILGAN TIJORATLASHTIRISH ISHLARI</vt:lpstr>
      <vt:lpstr>AKKREDITATSIYA VA MODDIY-TEXNIK BAZA</vt:lpstr>
      <vt:lpstr>2030-YIL MAQSADLI KO‘RSATKICHLARI VA MONITORING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Kafedraning 2030-yilgacha strategik rivojlanish konsepsiyasi</dc:title>
  <dc:subject>PptxGenJS Presentation</dc:subject>
  <dc:creator>Mamatkulov M.T.</dc:creator>
  <cp:lastModifiedBy>Acer</cp:lastModifiedBy>
  <cp:revision>28</cp:revision>
  <dcterms:created xsi:type="dcterms:W3CDTF">2026-10-12T12:39:15Z</dcterms:created>
  <dcterms:modified xsi:type="dcterms:W3CDTF">2026-10-13T05:32:11Z</dcterms:modified>
</cp:coreProperties>
</file>